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png"/><Relationship Id="rId4" Type="http://schemas.openxmlformats.org/officeDocument/2006/relationships/hyperlink" Target="about:blank" TargetMode="Externa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png"/><Relationship Id="rId4" Type="http://schemas.openxmlformats.org/officeDocument/2006/relationships/hyperlink" Target="about:blank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2022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3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3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V</a:t>
            </a:r>
            <a:endParaRPr b="1" sz="4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LAMBDA EXPRESSIONS</a:t>
            </a:r>
            <a:endParaRPr b="1" sz="4400">
              <a:solidFill>
                <a:srgbClr val="FF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228600" y="19050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Lambda Expressions: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 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Lambda Expression Fundamentals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Functional Interface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Programs 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ctrTitle"/>
          </p:nvPr>
        </p:nvSpPr>
        <p:spPr>
          <a:xfrm>
            <a:off x="0" y="304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228600" y="1371600"/>
            <a:ext cx="8915400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Java’s ongoing development and evolution, many features have been added since its original 1.0 release.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features which are important because they have profoundly reshaped the language, fundamentally changing the way that code is written.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was the addition of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generics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added by JDK 5. The second is the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expression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JDK 8.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0" y="304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457200" y="1371600"/>
            <a:ext cx="80772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Java’s implementation of lambda expressions involves  two constructs.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is the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expression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itself.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second is the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interface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ctrTitle"/>
          </p:nvPr>
        </p:nvSpPr>
        <p:spPr>
          <a:xfrm>
            <a:off x="0" y="304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228600" y="1143000"/>
            <a:ext cx="8305800" cy="6240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lambda expression is, essentially, an anonymous (that is, unnamed) method.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this method is not executed on its own.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Instead, it is used to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method defined by a functional interface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a lambda expression results in a form of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anonymous class.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t/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functional interface is an interface that contains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and only one abstract method.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functional interface also referred to as a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 type, where SAM stands for Single Abstract Method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LAMBDA EXPRESSION FUNDAMENTALS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457200" y="1371600"/>
            <a:ext cx="80772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expression consists of two parts.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left side specifies any parameters required by the lambda expression. (If no parameters are needed, an empty parameter list is used.)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right side is the lambda body, which specifies the actions of the lambda expression.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defines two types of lambda bodies – a single expression and a block of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LAMBDA EXPRESSION FUNDAMENTALS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mbda Expression In Java 8 | Programmerbay" id="137" name="Google Shape;1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2209800"/>
            <a:ext cx="7086600" cy="358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LAMBDA EXPRESSION FUNDAMENTALS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457200" y="1371600"/>
            <a:ext cx="8077200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() -&gt; 123.45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double myMeth()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return 123.45;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-&gt; Math.random() *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(n) -&gt; (n % 2)==0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FUNCTIONAL INTERFACE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0" y="1371600"/>
            <a:ext cx="8991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functional interface is an interface that specifies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one abstract method.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is an example of a functional interface: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interface MyNumber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double getValue();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FUNCTIONAL INTERFACE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0" y="1371600"/>
            <a:ext cx="89916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lambda expression is not executed on its own.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Rather, it forms the implementation of the abstract method defined by the functional interface that specifies its target type.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a lambda expression can be specified only in a context in which a target type is defined.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these contexts is created when a lambda expression is assigned to a functional interface reference.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target type contexts include variable initialization, return statements, and method arguments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FUNCTIONAL INTERFACE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0" y="1529492"/>
            <a:ext cx="8991600" cy="4947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that shows how a lambda expression can be used in an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context.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a reference to the functional interface MyNumber is declared:</a:t>
            </a:r>
            <a:endParaRPr/>
          </a:p>
          <a:p>
            <a:pPr indent="0" lvl="4" marL="18288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Create a reference to a MyNumber instance.</a:t>
            </a:r>
            <a:endParaRPr/>
          </a:p>
          <a:p>
            <a:pPr indent="0" lvl="4" marL="18288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MyNumber myNum;</a:t>
            </a:r>
            <a:endParaRPr/>
          </a:p>
          <a:p>
            <a:pPr indent="0" lvl="4" marL="18288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a lambda expression is assigned to that interface reference: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Use a lambda in an assignment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myNum = () -&gt; 123.45;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Call getValue(), which is implemented by the previously assigned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lambda expression.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System.out.println(myNum.getValue());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28600" y="866333"/>
            <a:ext cx="9144000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PROGRAMS</a:t>
            </a:r>
            <a:endParaRPr b="1" sz="3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457200" y="1447800"/>
            <a:ext cx="78867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Program1: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LamdaDemo.java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2: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LamdaDemo2.java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Program3: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BlockLambdaDemo.java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lgerian"/>
              <a:buNone/>
            </a:pPr>
            <a:r>
              <a:rPr b="1" lang="en-US" sz="6600">
                <a:latin typeface="Algerian"/>
                <a:ea typeface="Algerian"/>
                <a:cs typeface="Algerian"/>
                <a:sym typeface="Algerian"/>
              </a:rPr>
              <a:t>Thank You… </a:t>
            </a:r>
            <a:endParaRPr b="1" sz="6600"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571500" y="887984"/>
            <a:ext cx="826770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gerian"/>
              <a:buNone/>
            </a:pPr>
            <a:r>
              <a:rPr b="1" lang="en-US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Exception handling fundamentals</a:t>
            </a:r>
            <a:endParaRPr b="1" i="0" sz="36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457200" y="2438401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EXCEPTION HANDLING. - ppt video online download" id="185" name="Google Shape;1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76400"/>
            <a:ext cx="8001000" cy="54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/>
        </p:nvSpPr>
        <p:spPr>
          <a:xfrm>
            <a:off x="228600" y="887984"/>
            <a:ext cx="8915400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FUNDAMENTALS</a:t>
            </a:r>
            <a:endParaRPr b="1" i="0" sz="32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457200" y="2438401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Java try catch finally blocks - HowToDoInJava" id="193" name="Google Shape;1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0200"/>
            <a:ext cx="89154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TYPES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400050" y="1489293"/>
            <a:ext cx="828675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exception types are the derived classes of built-in class,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Throwable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two subclasses,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and Error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is used for exceptional conditions that user programs should catch.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inherit from this class to create our own custom exception types. </a:t>
            </a:r>
            <a:endParaRPr/>
          </a:p>
        </p:txBody>
      </p:sp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TYPES</a:t>
            </a:r>
            <a:endParaRPr b="1" sz="36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00050" y="1489293"/>
            <a:ext cx="828675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an important subclass of Exception, called </a:t>
            </a:r>
            <a:r>
              <a:rPr b="1"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RuntimeException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Exceptions of this type are automatically defined for the programs that we write and include things such as division by zero and invalid array indexing. </a:t>
            </a:r>
            <a:endParaRPr/>
          </a:p>
        </p:txBody>
      </p:sp>
      <p:pic>
        <p:nvPicPr>
          <p:cNvPr id="208" name="Google Shape;2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TYPES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400050" y="1489293"/>
            <a:ext cx="828675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defines exceptions that are not expected to be caught under normal circumstances by program.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Exceptions of type Error are used by the Java run-time system to indicate errors with the run-time environment.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overflow/ Out of Memory is an example of such an error. </a:t>
            </a:r>
            <a:endParaRPr/>
          </a:p>
        </p:txBody>
      </p:sp>
      <p:pic>
        <p:nvPicPr>
          <p:cNvPr id="215" name="Google Shape;2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gerian"/>
              <a:buNone/>
            </a:pPr>
            <a:r>
              <a:rPr lang="en-US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Exception class hierarchy</a:t>
            </a:r>
            <a:endParaRPr b="0" i="0" sz="36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ecked Vs Unchecked exceptions - LearnJava"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1828800"/>
            <a:ext cx="7186613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gerian"/>
              <a:buNone/>
            </a:pPr>
            <a:r>
              <a:rPr lang="en-US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Exception class hierarchy</a:t>
            </a:r>
            <a:endParaRPr b="0" i="0" sz="36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Exception Hierarchy in Java | Types of Exceptions - Scientech Easy" id="228" name="Google Shape;2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981200"/>
            <a:ext cx="702945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geria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Uncaught</a:t>
            </a:r>
            <a:r>
              <a:rPr b="0" i="0" lang="en-US" sz="3600" u="none" cap="none" strike="noStrik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 exceptions</a:t>
            </a:r>
            <a:endParaRPr b="0" i="0" sz="36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400050" y="1489293"/>
            <a:ext cx="8286750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Exc0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main(String[] args)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 d=0;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 a= 42/d;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“End of the Program”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42" name="Google Shape;242;p35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2022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5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35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1" name="Google Shape;251;p36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IV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&amp; MULTITHREADED PROGRAMMING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RECAP…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8" name="Google Shape;258;p37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 -Errors and Its Types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 -Exception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Fundamentals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Types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Uncaught Exceptions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Using try and catch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65" name="Google Shape;265;p38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Multiple Catch Clauses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Usage of keyword – </a:t>
            </a: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Usage of keyword – </a:t>
            </a: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MULTIPLE CATCH CLAUSES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72" name="Google Shape;272;p39"/>
          <p:cNvSpPr txBox="1"/>
          <p:nvPr/>
        </p:nvSpPr>
        <p:spPr>
          <a:xfrm>
            <a:off x="64294" y="1600200"/>
            <a:ext cx="9015413" cy="512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 can be followed by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catch blocks.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some programs, more than one exception could be raised by a single piece of code.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handle this type of situation, we can specify two or more catch clauses, each catching a different type of exception.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exception is thrown, each catch statement is inspected in order, and the first one whose type matches that of the exception is executed.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one catch statement executes, the others are bypassed, and execution continues after the try/catch block.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3" name="Google Shape;2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571500" y="1033378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MULTIPLE CATCH CLAUSES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64294" y="1962150"/>
            <a:ext cx="9015413" cy="512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using multiple catch blocks, we should give the exception types in a hierarchy of subclass to superclass.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Because, catch statement that uses a superclass will catch all exceptions of its own type plus all that of its subclasses.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the subclass exception given after superclass exception is never caught and is a unreachable code, that is an error in Java.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MULTIPLE CATCH CLAUSES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64294" y="1752600"/>
            <a:ext cx="9015413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catch(Exception 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catch(RuntimeException 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}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4724400" y="1952685"/>
            <a:ext cx="397668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try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catch(RuntimeException 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catch(Exception 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64294" y="1676400"/>
            <a:ext cx="9015413" cy="50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seen catching the exceptions that are thrown by the Java run-time system.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is possible for our own program to throw an exception explicitly, using the throw statement.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64294" y="1676400"/>
            <a:ext cx="9015413" cy="50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form of throw is shown here: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ThrowableInstance;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ThrowableInstance must be an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of type Throwable or a subclass of Throwable.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ways we can obtain a Throwable object: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using a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clause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 creating one with the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operator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08" name="Google Shape;308;p44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2022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44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44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IV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&amp; MULTITHREADED PROGRAMMING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18" name="Google Shape;3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RECAP…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Multiple Catch Clauses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Usage of keyword – </a:t>
            </a: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25" name="Google Shape;32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31" name="Google Shape;331;p47"/>
          <p:cNvSpPr txBox="1"/>
          <p:nvPr>
            <p:ph idx="1" type="subTitle"/>
          </p:nvPr>
        </p:nvSpPr>
        <p:spPr>
          <a:xfrm>
            <a:off x="0" y="20574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Usage of keyword – </a:t>
            </a: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Usage of keyword - </a:t>
            </a: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finally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32" name="Google Shape;3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THROWS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64294" y="1752600"/>
            <a:ext cx="90154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method is capable of causing an exception that it does not handle, it must specify this behavior so that callers of the method can guard themselves against that exception.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do this by including a throws clause in the method’s declaration.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throws clause lists the types of exceptions that a method might throw.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THROWS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45" name="Google Shape;345;p49"/>
          <p:cNvSpPr txBox="1"/>
          <p:nvPr/>
        </p:nvSpPr>
        <p:spPr>
          <a:xfrm>
            <a:off x="64294" y="1752600"/>
            <a:ext cx="90154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is necessary for all exceptions, except those of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Error or RuntimeException, or any of their subclasses.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other exceptions that a method can throw must be declared in the throws clause.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they are not, a compile-time error will result.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6" name="Google Shape;34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THROWS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52" name="Google Shape;352;p50"/>
          <p:cNvSpPr txBox="1"/>
          <p:nvPr/>
        </p:nvSpPr>
        <p:spPr>
          <a:xfrm>
            <a:off x="128587" y="1676400"/>
            <a:ext cx="90154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form of a method declaration that includes a throws clause: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method-name(parameter-list)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exception-list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body of method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Here, exception-list is a comma-separated list of the exceptions that a method can throw.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3" name="Google Shape;35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FINALLY</a:t>
            </a: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59" name="Google Shape;359;p51"/>
          <p:cNvSpPr txBox="1"/>
          <p:nvPr/>
        </p:nvSpPr>
        <p:spPr>
          <a:xfrm>
            <a:off x="128587" y="1676400"/>
            <a:ext cx="90154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“finally”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keyword used to create a block of code that follows a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or catch block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finally block contains all the crucial codes such as closing connections, stream, etc that is always executed whether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exception occurs within a try block or not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 exception is thrown but not handled by any catch block, finally block executes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block will be executed after a try/catch block has completed and before the code following the try/catch block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FINALLY</a:t>
            </a: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66" name="Google Shape;36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ally Block in Java | Use, Example - Scientech Easy" id="367" name="Google Shape;36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447800"/>
            <a:ext cx="80010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 txBox="1"/>
          <p:nvPr/>
        </p:nvSpPr>
        <p:spPr>
          <a:xfrm>
            <a:off x="571500" y="887984"/>
            <a:ext cx="7143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FINALLY</a:t>
            </a:r>
            <a:r>
              <a:rPr b="1" i="0" lang="en-US" sz="3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KEYWORD</a:t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73" name="Google Shape;373;p53"/>
          <p:cNvSpPr txBox="1"/>
          <p:nvPr/>
        </p:nvSpPr>
        <p:spPr>
          <a:xfrm>
            <a:off x="128587" y="1676400"/>
            <a:ext cx="90154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time a method is about to return to the caller from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a try/catch block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via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uncaught exception </a:t>
            </a:r>
            <a:endParaRPr/>
          </a:p>
          <a:p>
            <a:pPr indent="-177800" lvl="1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explicit return statement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clause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just before the method returns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80" name="Google Shape;380;p54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2022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81" name="Google Shape;38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2" name="Google Shape;382;p54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54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89" name="Google Shape;389;p55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IV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&amp; MULTITHREADED PROGRAMMING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90" name="Google Shape;39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6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96" name="Google Shape;396;p56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Multithreaded Programming: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Java Thread Model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Main Thread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97" name="Google Shape;3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03" name="Google Shape;40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7"/>
          <p:cNvSpPr txBox="1"/>
          <p:nvPr/>
        </p:nvSpPr>
        <p:spPr>
          <a:xfrm>
            <a:off x="0" y="1447800"/>
            <a:ext cx="8839200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provides built-in support for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multithreaded programming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multithreaded program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two or more parts that can run concurrently.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part of such a program is called a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each thread defines a separate path of execution.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multithreading is a specialized form of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multitasking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distinct types of multitasking: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process-based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thread-based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10" name="Google Shape;4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8"/>
          <p:cNvSpPr txBox="1"/>
          <p:nvPr/>
        </p:nvSpPr>
        <p:spPr>
          <a:xfrm>
            <a:off x="0" y="1371600"/>
            <a:ext cx="8915400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Process-based multitasking :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process is a program that is executing.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Process-based multitasking is the feature that allows your computer to run two or more program concurrently.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process-based multitasking enables you to run the Java compiler at the same time you are using a text editor.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17" name="Google Shape;4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9"/>
          <p:cNvSpPr txBox="1"/>
          <p:nvPr/>
        </p:nvSpPr>
        <p:spPr>
          <a:xfrm>
            <a:off x="0" y="1371600"/>
            <a:ext cx="89154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Process-based multitasking :  </a:t>
            </a:r>
            <a:endParaRPr/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process-based multitasking, a program is the smallest unit of code that can be dispatched by the scheduler.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Process-based multitasking requires more overhead.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to Process communication is expensive.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Processes are heavyweight tasks that require their own separate address spaces.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switching from one process to another is also costly.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0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24" name="Google Shape;42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0"/>
          <p:cNvSpPr txBox="1"/>
          <p:nvPr/>
        </p:nvSpPr>
        <p:spPr>
          <a:xfrm>
            <a:off x="0" y="1371600"/>
            <a:ext cx="8915400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Thread-based multitasking :  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thread-based multitasking environment, the thread is the smallest unit of dispatchable code.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means that a single program can perform two or more tasks simultaneously.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instance, a text editor can format text at the same time that it is printing, as long as these two actions are being performed by two separate threads.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1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31" name="Google Shape;43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1"/>
          <p:cNvSpPr txBox="1"/>
          <p:nvPr/>
        </p:nvSpPr>
        <p:spPr>
          <a:xfrm>
            <a:off x="0" y="1741706"/>
            <a:ext cx="8915400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Thread-based multitasking :  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Threads, on the other hand, are lightweight.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share the same address space and cooperatively share the same heavyweight process.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Interthread communication is inexpensive, and context switching from one thread to the next is low cost.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Multithreading enables you to write very efficient programs that make maximum use of the CPU,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38" name="Google Shape;43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828800"/>
            <a:ext cx="7620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3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JAVA THREAD MODEL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45" name="Google Shape;44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3"/>
          <p:cNvSpPr txBox="1"/>
          <p:nvPr/>
        </p:nvSpPr>
        <p:spPr>
          <a:xfrm>
            <a:off x="152400" y="2057400"/>
            <a:ext cx="8562340" cy="257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thread is 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98450" marR="0" rtl="0" algn="l">
              <a:lnSpc>
                <a:spcPct val="100000"/>
              </a:lnSpc>
              <a:spcBef>
                <a:spcPts val="2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Facility to allow multiple activities within a single process</a:t>
            </a:r>
            <a:endParaRPr/>
          </a:p>
          <a:p>
            <a:pPr indent="-285750" lvl="0" marL="29845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thread is a series of executed statements</a:t>
            </a:r>
            <a:endParaRPr/>
          </a:p>
          <a:p>
            <a:pPr indent="-285750" lvl="0" marL="29845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thread has its own program counter, stack and local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4"/>
          <p:cNvSpPr txBox="1"/>
          <p:nvPr/>
        </p:nvSpPr>
        <p:spPr>
          <a:xfrm>
            <a:off x="1143000" y="2654300"/>
            <a:ext cx="3383279" cy="275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30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Runnable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Non-Runnable(Blocked)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Terminated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64"/>
          <p:cNvSpPr txBox="1"/>
          <p:nvPr>
            <p:ph type="title"/>
          </p:nvPr>
        </p:nvSpPr>
        <p:spPr>
          <a:xfrm>
            <a:off x="304800" y="1635760"/>
            <a:ext cx="67805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STATES OF  THREADS IN JAVA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4"/>
          <p:cNvSpPr txBox="1"/>
          <p:nvPr/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JAVA THREAD MODEL</a:t>
            </a:r>
            <a:endParaRPr b="1" i="0" sz="32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5"/>
          <p:cNvSpPr/>
          <p:nvPr/>
        </p:nvSpPr>
        <p:spPr>
          <a:xfrm>
            <a:off x="2776538" y="1233487"/>
            <a:ext cx="2147887" cy="595313"/>
          </a:xfrm>
          <a:custGeom>
            <a:rect b="b" l="l" r="r" t="t"/>
            <a:pathLst>
              <a:path extrusionOk="0" h="375" w="1353">
                <a:moveTo>
                  <a:pt x="196" y="0"/>
                </a:moveTo>
                <a:lnTo>
                  <a:pt x="65" y="49"/>
                </a:lnTo>
                <a:lnTo>
                  <a:pt x="0" y="179"/>
                </a:lnTo>
                <a:lnTo>
                  <a:pt x="65" y="326"/>
                </a:lnTo>
                <a:lnTo>
                  <a:pt x="196" y="375"/>
                </a:lnTo>
                <a:lnTo>
                  <a:pt x="685" y="375"/>
                </a:lnTo>
                <a:lnTo>
                  <a:pt x="1158" y="375"/>
                </a:lnTo>
                <a:lnTo>
                  <a:pt x="1288" y="326"/>
                </a:lnTo>
                <a:lnTo>
                  <a:pt x="1353" y="179"/>
                </a:lnTo>
                <a:lnTo>
                  <a:pt x="1288" y="49"/>
                </a:lnTo>
                <a:lnTo>
                  <a:pt x="1158" y="0"/>
                </a:lnTo>
                <a:lnTo>
                  <a:pt x="685" y="0"/>
                </a:lnTo>
                <a:lnTo>
                  <a:pt x="19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5"/>
          <p:cNvSpPr/>
          <p:nvPr/>
        </p:nvSpPr>
        <p:spPr>
          <a:xfrm>
            <a:off x="3230563" y="1073150"/>
            <a:ext cx="1587" cy="25400"/>
          </a:xfrm>
          <a:custGeom>
            <a:rect b="b" l="l" r="r" t="t"/>
            <a:pathLst>
              <a:path extrusionOk="0" h="16" w="1587">
                <a:moveTo>
                  <a:pt x="0" y="16"/>
                </a:moveTo>
                <a:lnTo>
                  <a:pt x="0" y="16"/>
                </a:lnTo>
                <a:lnTo>
                  <a:pt x="0" y="0"/>
                </a:lnTo>
                <a:lnTo>
                  <a:pt x="0" y="1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65"/>
          <p:cNvSpPr/>
          <p:nvPr/>
        </p:nvSpPr>
        <p:spPr>
          <a:xfrm>
            <a:off x="3308350" y="1150938"/>
            <a:ext cx="108426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born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5"/>
          <p:cNvSpPr/>
          <p:nvPr/>
        </p:nvSpPr>
        <p:spPr>
          <a:xfrm>
            <a:off x="3178175" y="2314575"/>
            <a:ext cx="1588" cy="26988"/>
          </a:xfrm>
          <a:custGeom>
            <a:rect b="b" l="l" r="r" t="t"/>
            <a:pathLst>
              <a:path extrusionOk="0" h="17" w="1588">
                <a:moveTo>
                  <a:pt x="0" y="17"/>
                </a:moveTo>
                <a:lnTo>
                  <a:pt x="0" y="17"/>
                </a:lnTo>
                <a:lnTo>
                  <a:pt x="0" y="0"/>
                </a:lnTo>
                <a:lnTo>
                  <a:pt x="0" y="17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65"/>
          <p:cNvSpPr/>
          <p:nvPr/>
        </p:nvSpPr>
        <p:spPr>
          <a:xfrm>
            <a:off x="5637213" y="4773613"/>
            <a:ext cx="1587" cy="25400"/>
          </a:xfrm>
          <a:custGeom>
            <a:rect b="b" l="l" r="r" t="t"/>
            <a:pathLst>
              <a:path extrusionOk="0" h="16" w="1587">
                <a:moveTo>
                  <a:pt x="0" y="16"/>
                </a:moveTo>
                <a:lnTo>
                  <a:pt x="0" y="16"/>
                </a:lnTo>
                <a:lnTo>
                  <a:pt x="0" y="0"/>
                </a:lnTo>
                <a:lnTo>
                  <a:pt x="0" y="1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65"/>
          <p:cNvSpPr/>
          <p:nvPr/>
        </p:nvSpPr>
        <p:spPr>
          <a:xfrm>
            <a:off x="952500" y="4773613"/>
            <a:ext cx="1588" cy="25400"/>
          </a:xfrm>
          <a:custGeom>
            <a:rect b="b" l="l" r="r" t="t"/>
            <a:pathLst>
              <a:path extrusionOk="0" h="16" w="1588">
                <a:moveTo>
                  <a:pt x="0" y="16"/>
                </a:moveTo>
                <a:lnTo>
                  <a:pt x="0" y="16"/>
                </a:lnTo>
                <a:lnTo>
                  <a:pt x="0" y="0"/>
                </a:lnTo>
                <a:lnTo>
                  <a:pt x="0" y="1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5"/>
          <p:cNvSpPr/>
          <p:nvPr/>
        </p:nvSpPr>
        <p:spPr>
          <a:xfrm>
            <a:off x="3255963" y="3557588"/>
            <a:ext cx="1587" cy="25400"/>
          </a:xfrm>
          <a:custGeom>
            <a:rect b="b" l="l" r="r" t="t"/>
            <a:pathLst>
              <a:path extrusionOk="0" h="16" w="1587">
                <a:moveTo>
                  <a:pt x="0" y="16"/>
                </a:moveTo>
                <a:lnTo>
                  <a:pt x="0" y="16"/>
                </a:lnTo>
                <a:lnTo>
                  <a:pt x="0" y="0"/>
                </a:lnTo>
                <a:lnTo>
                  <a:pt x="0" y="1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65"/>
          <p:cNvSpPr/>
          <p:nvPr/>
        </p:nvSpPr>
        <p:spPr>
          <a:xfrm>
            <a:off x="5094288" y="3816350"/>
            <a:ext cx="25400" cy="25400"/>
          </a:xfrm>
          <a:custGeom>
            <a:rect b="b" l="l" r="r" t="t"/>
            <a:pathLst>
              <a:path extrusionOk="0" h="16" w="16">
                <a:moveTo>
                  <a:pt x="16" y="0"/>
                </a:moveTo>
                <a:lnTo>
                  <a:pt x="16" y="0"/>
                </a:lnTo>
                <a:lnTo>
                  <a:pt x="0" y="16"/>
                </a:lnTo>
                <a:lnTo>
                  <a:pt x="1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5"/>
          <p:cNvSpPr/>
          <p:nvPr/>
        </p:nvSpPr>
        <p:spPr>
          <a:xfrm>
            <a:off x="1751013" y="3027363"/>
            <a:ext cx="10588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/>
          </a:p>
        </p:txBody>
      </p:sp>
      <p:sp>
        <p:nvSpPr>
          <p:cNvPr id="468" name="Google Shape;468;p65"/>
          <p:cNvSpPr/>
          <p:nvPr/>
        </p:nvSpPr>
        <p:spPr>
          <a:xfrm>
            <a:off x="3308350" y="6015038"/>
            <a:ext cx="1588" cy="26987"/>
          </a:xfrm>
          <a:custGeom>
            <a:rect b="b" l="l" r="r" t="t"/>
            <a:pathLst>
              <a:path extrusionOk="0" h="17" w="1588">
                <a:moveTo>
                  <a:pt x="0" y="17"/>
                </a:moveTo>
                <a:lnTo>
                  <a:pt x="0" y="17"/>
                </a:lnTo>
                <a:lnTo>
                  <a:pt x="0" y="0"/>
                </a:lnTo>
                <a:lnTo>
                  <a:pt x="0" y="17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5"/>
          <p:cNvSpPr/>
          <p:nvPr/>
        </p:nvSpPr>
        <p:spPr>
          <a:xfrm>
            <a:off x="3921125" y="2047875"/>
            <a:ext cx="25400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5"/>
          <p:cNvSpPr/>
          <p:nvPr/>
        </p:nvSpPr>
        <p:spPr>
          <a:xfrm>
            <a:off x="4564063" y="2909888"/>
            <a:ext cx="25400" cy="15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5"/>
          <p:cNvSpPr/>
          <p:nvPr/>
        </p:nvSpPr>
        <p:spPr>
          <a:xfrm>
            <a:off x="3921125" y="3289300"/>
            <a:ext cx="25400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5"/>
          <p:cNvSpPr/>
          <p:nvPr/>
        </p:nvSpPr>
        <p:spPr>
          <a:xfrm>
            <a:off x="7021513" y="5368925"/>
            <a:ext cx="1587" cy="254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5"/>
          <p:cNvSpPr/>
          <p:nvPr/>
        </p:nvSpPr>
        <p:spPr>
          <a:xfrm>
            <a:off x="4464050" y="5981700"/>
            <a:ext cx="1588" cy="254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65"/>
          <p:cNvSpPr/>
          <p:nvPr/>
        </p:nvSpPr>
        <p:spPr>
          <a:xfrm>
            <a:off x="1219200" y="2909888"/>
            <a:ext cx="2200275" cy="595312"/>
          </a:xfrm>
          <a:prstGeom prst="octagon">
            <a:avLst>
              <a:gd fmla="val 2928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5"/>
          <p:cNvSpPr/>
          <p:nvPr/>
        </p:nvSpPr>
        <p:spPr>
          <a:xfrm>
            <a:off x="2828925" y="1073150"/>
            <a:ext cx="2200275" cy="595313"/>
          </a:xfrm>
          <a:prstGeom prst="octagon">
            <a:avLst>
              <a:gd fmla="val 2928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65"/>
          <p:cNvCxnSpPr/>
          <p:nvPr/>
        </p:nvCxnSpPr>
        <p:spPr>
          <a:xfrm>
            <a:off x="3886200" y="1676400"/>
            <a:ext cx="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65"/>
          <p:cNvSpPr/>
          <p:nvPr/>
        </p:nvSpPr>
        <p:spPr>
          <a:xfrm>
            <a:off x="3978275" y="1828800"/>
            <a:ext cx="7366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start(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5"/>
          <p:cNvSpPr/>
          <p:nvPr/>
        </p:nvSpPr>
        <p:spPr>
          <a:xfrm>
            <a:off x="3081338" y="5070475"/>
            <a:ext cx="10239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5"/>
          <p:cNvSpPr/>
          <p:nvPr/>
        </p:nvSpPr>
        <p:spPr>
          <a:xfrm>
            <a:off x="2590800" y="5043488"/>
            <a:ext cx="2200275" cy="595312"/>
          </a:xfrm>
          <a:prstGeom prst="octagon">
            <a:avLst>
              <a:gd fmla="val 2928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5"/>
          <p:cNvSpPr/>
          <p:nvPr/>
        </p:nvSpPr>
        <p:spPr>
          <a:xfrm>
            <a:off x="7685088" y="3013075"/>
            <a:ext cx="11541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5"/>
          <p:cNvSpPr/>
          <p:nvPr/>
        </p:nvSpPr>
        <p:spPr>
          <a:xfrm>
            <a:off x="7239000" y="2895600"/>
            <a:ext cx="1676400" cy="595313"/>
          </a:xfrm>
          <a:prstGeom prst="octagon">
            <a:avLst>
              <a:gd fmla="val 2928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5"/>
          <p:cNvSpPr/>
          <p:nvPr/>
        </p:nvSpPr>
        <p:spPr>
          <a:xfrm>
            <a:off x="4386263" y="3013075"/>
            <a:ext cx="11779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Runnable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5"/>
          <p:cNvSpPr/>
          <p:nvPr/>
        </p:nvSpPr>
        <p:spPr>
          <a:xfrm>
            <a:off x="3895725" y="2895600"/>
            <a:ext cx="2200275" cy="595313"/>
          </a:xfrm>
          <a:prstGeom prst="octagon">
            <a:avLst>
              <a:gd fmla="val 2928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5"/>
          <p:cNvSpPr/>
          <p:nvPr/>
        </p:nvSpPr>
        <p:spPr>
          <a:xfrm>
            <a:off x="762000" y="2286000"/>
            <a:ext cx="5638800" cy="182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65"/>
          <p:cNvCxnSpPr/>
          <p:nvPr/>
        </p:nvCxnSpPr>
        <p:spPr>
          <a:xfrm>
            <a:off x="5029200" y="1371600"/>
            <a:ext cx="274320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6" name="Google Shape;486;p65"/>
          <p:cNvCxnSpPr/>
          <p:nvPr/>
        </p:nvCxnSpPr>
        <p:spPr>
          <a:xfrm flipH="1" rot="10800000">
            <a:off x="4800600" y="3505200"/>
            <a:ext cx="3048000" cy="182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7" name="Google Shape;487;p65"/>
          <p:cNvSpPr/>
          <p:nvPr/>
        </p:nvSpPr>
        <p:spPr>
          <a:xfrm>
            <a:off x="6019800" y="1524000"/>
            <a:ext cx="7239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stop(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5"/>
          <p:cNvSpPr/>
          <p:nvPr/>
        </p:nvSpPr>
        <p:spPr>
          <a:xfrm>
            <a:off x="6019800" y="4648200"/>
            <a:ext cx="7239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stop(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65"/>
          <p:cNvSpPr/>
          <p:nvPr/>
        </p:nvSpPr>
        <p:spPr>
          <a:xfrm>
            <a:off x="6553200" y="3505200"/>
            <a:ext cx="7239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stop(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65"/>
          <p:cNvCxnSpPr/>
          <p:nvPr/>
        </p:nvCxnSpPr>
        <p:spPr>
          <a:xfrm>
            <a:off x="6477000" y="3160713"/>
            <a:ext cx="762000" cy="39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1" name="Google Shape;491;p65"/>
          <p:cNvCxnSpPr/>
          <p:nvPr/>
        </p:nvCxnSpPr>
        <p:spPr>
          <a:xfrm>
            <a:off x="3429000" y="41910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2" name="Google Shape;492;p65"/>
          <p:cNvCxnSpPr/>
          <p:nvPr/>
        </p:nvCxnSpPr>
        <p:spPr>
          <a:xfrm rot="10800000">
            <a:off x="4343400" y="41910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3" name="Google Shape;493;p65"/>
          <p:cNvSpPr/>
          <p:nvPr/>
        </p:nvSpPr>
        <p:spPr>
          <a:xfrm>
            <a:off x="2286000" y="4114800"/>
            <a:ext cx="1339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suspend( 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sleep(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wait(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5"/>
          <p:cNvSpPr/>
          <p:nvPr/>
        </p:nvSpPr>
        <p:spPr>
          <a:xfrm>
            <a:off x="4419600" y="4191000"/>
            <a:ext cx="1339850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resume( 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notify(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5"/>
          <p:cNvSpPr/>
          <p:nvPr/>
        </p:nvSpPr>
        <p:spPr>
          <a:xfrm>
            <a:off x="1409700" y="1216025"/>
            <a:ext cx="14859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New Thread 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5"/>
          <p:cNvSpPr/>
          <p:nvPr/>
        </p:nvSpPr>
        <p:spPr>
          <a:xfrm>
            <a:off x="76200" y="3276600"/>
            <a:ext cx="990600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Active Thread 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5"/>
          <p:cNvSpPr/>
          <p:nvPr/>
        </p:nvSpPr>
        <p:spPr>
          <a:xfrm>
            <a:off x="2743200" y="5715000"/>
            <a:ext cx="1600200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Idle Thread (Not Runnable) 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65"/>
          <p:cNvCxnSpPr/>
          <p:nvPr/>
        </p:nvCxnSpPr>
        <p:spPr>
          <a:xfrm>
            <a:off x="2362200" y="2743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9" name="Google Shape;499;p65"/>
          <p:cNvCxnSpPr/>
          <p:nvPr/>
        </p:nvCxnSpPr>
        <p:spPr>
          <a:xfrm>
            <a:off x="2362200" y="2743200"/>
            <a:ext cx="281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65"/>
          <p:cNvCxnSpPr/>
          <p:nvPr/>
        </p:nvCxnSpPr>
        <p:spPr>
          <a:xfrm>
            <a:off x="5181600" y="2743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65"/>
          <p:cNvCxnSpPr/>
          <p:nvPr/>
        </p:nvCxnSpPr>
        <p:spPr>
          <a:xfrm>
            <a:off x="2362200" y="3657600"/>
            <a:ext cx="281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65"/>
          <p:cNvCxnSpPr/>
          <p:nvPr/>
        </p:nvCxnSpPr>
        <p:spPr>
          <a:xfrm>
            <a:off x="2362200" y="3505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65"/>
          <p:cNvCxnSpPr/>
          <p:nvPr/>
        </p:nvCxnSpPr>
        <p:spPr>
          <a:xfrm rot="10800000">
            <a:off x="5181600" y="3505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4" name="Google Shape;504;p65"/>
          <p:cNvSpPr/>
          <p:nvPr/>
        </p:nvSpPr>
        <p:spPr>
          <a:xfrm>
            <a:off x="3302000" y="3654425"/>
            <a:ext cx="8080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yield( ) </a:t>
            </a:r>
            <a:endParaRPr sz="1800">
              <a:solidFill>
                <a:srgbClr val="CC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5"/>
          <p:cNvSpPr/>
          <p:nvPr/>
        </p:nvSpPr>
        <p:spPr>
          <a:xfrm>
            <a:off x="7924800" y="3498850"/>
            <a:ext cx="990600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Killed  Thread 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5"/>
          <p:cNvSpPr txBox="1"/>
          <p:nvPr/>
        </p:nvSpPr>
        <p:spPr>
          <a:xfrm>
            <a:off x="1066800" y="6396335"/>
            <a:ext cx="655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Fig:- State Transition diagram of a thread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7" name="Google Shape;507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5"/>
          <p:cNvSpPr txBox="1"/>
          <p:nvPr/>
        </p:nvSpPr>
        <p:spPr>
          <a:xfrm>
            <a:off x="0" y="4572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JAVA THREAD MODEL</a:t>
            </a:r>
            <a:endParaRPr b="1" i="0" sz="32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THE MAIN THREAD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14" name="Google Shape;5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66"/>
          <p:cNvSpPr txBox="1"/>
          <p:nvPr/>
        </p:nvSpPr>
        <p:spPr>
          <a:xfrm>
            <a:off x="152400" y="1524000"/>
            <a:ext cx="8562340" cy="5260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Java program starts, one thread begins running immediately.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usually called the main thread of the program, because it is the one that is executed when your program begins.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thread is important for two reasons: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It is the thread from which other “child” threads will be spawned.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 Often it must be the last thread to finish execution because it performs various shutdown actions.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7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THE MAIN THREAD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21" name="Google Shape;52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7"/>
          <p:cNvSpPr txBox="1"/>
          <p:nvPr/>
        </p:nvSpPr>
        <p:spPr>
          <a:xfrm>
            <a:off x="152400" y="1447800"/>
            <a:ext cx="8562340" cy="5247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the main thread is created automatically when your program is started, it can be controlled through a Thread object.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do so, you must obtain a reference to it by calling the method currentThread( ), which is a public static member of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general form is: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Thread currentThread( )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method returns a reference to the thread in which it is called.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you have a reference to the main thread,we can control it just like any other thread.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8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28" name="Google Shape;528;p68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2023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29" name="Google Shape;52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p68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68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9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37" name="Google Shape;537;p69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IV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&amp; MULTITHREADED PROGRAMMING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38" name="Google Shape;53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0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RECAP…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44" name="Google Shape;544;p70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Multithreaded Programming: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 to MultiThreading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Java Thread Model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Main Thread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45" name="Google Shape;54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1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51" name="Google Shape;551;p71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Multithreaded Programming: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Creating a Thread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Creating Multiple Threads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Using isAlive() and Join()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Thread Priorities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52" name="Google Shape;55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2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CREATING A THREAD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58" name="Google Shape;55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2"/>
          <p:cNvSpPr txBox="1"/>
          <p:nvPr/>
        </p:nvSpPr>
        <p:spPr>
          <a:xfrm>
            <a:off x="152400" y="2303557"/>
            <a:ext cx="8562340" cy="2649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create a thread by instantiating an object of type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defines two ways in which this can be accomplished: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69900" marR="0" rtl="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extend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class.</a:t>
            </a:r>
            <a:endParaRPr/>
          </a:p>
          <a:p>
            <a:pPr indent="-177800" lvl="1" marL="469900" marR="0" rtl="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implementing 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Runnable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3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EXTENDING THREAD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65" name="Google Shape;56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3"/>
          <p:cNvSpPr txBox="1"/>
          <p:nvPr/>
        </p:nvSpPr>
        <p:spPr>
          <a:xfrm>
            <a:off x="152400" y="1809294"/>
            <a:ext cx="8562340" cy="3967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thread is to create a new class that extends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 of that class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extending class must override the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run( 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method, which is the entry point for the new thread.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call to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start( 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begins execution of the new thread.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4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IMPLEMENTING RUNNABLE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72" name="Google Shape;57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4"/>
          <p:cNvSpPr txBox="1"/>
          <p:nvPr/>
        </p:nvSpPr>
        <p:spPr>
          <a:xfrm>
            <a:off x="152400" y="1458010"/>
            <a:ext cx="8562340" cy="5273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thread is to create a class that implements the Runnable interface.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Runnable, a class need only implement a single method called run( ), which is declared like this: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void run( )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run( ), define the code that constitutes the new thread.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run( ) can call other methods, use other classes, and declare variables, just like the main thread can.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5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IMPLEMENTING RUNNABLE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79" name="Google Shape;57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75"/>
          <p:cNvSpPr txBox="1"/>
          <p:nvPr/>
        </p:nvSpPr>
        <p:spPr>
          <a:xfrm>
            <a:off x="152400" y="1458010"/>
            <a:ext cx="8562340" cy="482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only difference is that run( ) establishes the entry point for another, concurrent thread of execution within program. This thread will end when run( ) returns.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class that implements Runnable, we will instantiate an object of type Thread from within that class.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defines several constructors. The one that we will use is shown here: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Thread(Runnable threadOb, String threadName)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6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IMPLEMENTING RUNNABLE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86" name="Google Shape;58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6"/>
          <p:cNvSpPr txBox="1"/>
          <p:nvPr/>
        </p:nvSpPr>
        <p:spPr>
          <a:xfrm>
            <a:off x="152400" y="1697360"/>
            <a:ext cx="8562340" cy="439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constructor, threadOb is an instance of a class that implements the Runnable interface.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defines where execution of the thread will begin.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name of the new thread is specified by threadName.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new thread is created, it will not start running until  we call its start( ) method, which is declared within Thread.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7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CREATING MULTIPLE THREADS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93" name="Google Shape;59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7"/>
          <p:cNvSpPr txBox="1"/>
          <p:nvPr/>
        </p:nvSpPr>
        <p:spPr>
          <a:xfrm>
            <a:off x="152400" y="2160578"/>
            <a:ext cx="8562340" cy="13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threads: the main thread and one child thread.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Program can spawn as many threads as required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8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USING ISALIVE( ) AND JOIN( )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00" name="Google Shape;60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8"/>
          <p:cNvSpPr txBox="1"/>
          <p:nvPr/>
        </p:nvSpPr>
        <p:spPr>
          <a:xfrm>
            <a:off x="152400" y="1600201"/>
            <a:ext cx="8562340" cy="3511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wants the main thread to finish last.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preceding examples, this is accomplished by calling sleep( ) within main( ), with a long enough delay to ensure that all child threads terminate prior to the main thread.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ways - To determine whether a thread has finished.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9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USING ISALIVE( ) AND JOIN( )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07" name="Google Shape;60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79"/>
          <p:cNvSpPr txBox="1"/>
          <p:nvPr/>
        </p:nvSpPr>
        <p:spPr>
          <a:xfrm>
            <a:off x="152400" y="1600201"/>
            <a:ext cx="8562340" cy="485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ways - To determine whether a thread has finished.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we can call isAlive( ) on the thread.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method is defined by Thread, and its general form is shown here: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boolean isAlive( )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isAlive( ) method returns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thread upon which it is called is still running. It returns false otherwise.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0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USING ISALIVE( ) AND JOIN( )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14" name="Google Shape;61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0"/>
          <p:cNvSpPr txBox="1"/>
          <p:nvPr/>
        </p:nvSpPr>
        <p:spPr>
          <a:xfrm>
            <a:off x="152400" y="1676400"/>
            <a:ext cx="8562340" cy="482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one used to wait for a thread to finish is called join( ):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void join( ) throws InterruptedException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method waits until the thread on which it is called terminates.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forms of join( ) allow us to specify a maximum amount of time that you want to wait for the specified thread to terminate.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1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21" name="Google Shape;621;p81"/>
          <p:cNvSpPr txBox="1"/>
          <p:nvPr>
            <p:ph idx="1" type="subTitle"/>
          </p:nvPr>
        </p:nvSpPr>
        <p:spPr>
          <a:xfrm>
            <a:off x="228600" y="2362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Name: Object Oriented Programming Course Code: CS34 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Credits: 3:0:0 </a:t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Term: </a:t>
            </a:r>
            <a:r>
              <a:rPr lang="en-US" sz="2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October – January 2023</a:t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22" name="Google Shape;62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" name="Google Shape;623;p81"/>
          <p:cNvCxnSpPr/>
          <p:nvPr/>
        </p:nvCxnSpPr>
        <p:spPr>
          <a:xfrm>
            <a:off x="0" y="49530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81"/>
          <p:cNvSpPr txBox="1"/>
          <p:nvPr/>
        </p:nvSpPr>
        <p:spPr>
          <a:xfrm>
            <a:off x="6553200" y="5540514"/>
            <a:ext cx="2286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Faculty: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Mamatha A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2"/>
          <p:cNvSpPr txBox="1"/>
          <p:nvPr>
            <p:ph type="ctrTitle"/>
          </p:nvPr>
        </p:nvSpPr>
        <p:spPr>
          <a:xfrm>
            <a:off x="0" y="301625"/>
            <a:ext cx="8915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Ramaiah Institute of Technology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 (Autonomous Institute, Affiliated to VTU) </a:t>
            </a:r>
            <a:b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b="1"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30" name="Google Shape;630;p82"/>
          <p:cNvSpPr txBox="1"/>
          <p:nvPr>
            <p:ph idx="1" type="subTitle"/>
          </p:nvPr>
        </p:nvSpPr>
        <p:spPr>
          <a:xfrm>
            <a:off x="228600" y="18288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UNIT IV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EXCEPTION HANDLING &amp; MULTITHREADED PROGRAMMING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31" name="Google Shape;63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3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RECAP….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37" name="Google Shape;637;p83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Multithreaded Programming: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Creating a Thread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Creating Multiple Threads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Using isAlive() and Join()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38" name="Google Shape;63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4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okman Old Style"/>
              <a:buNone/>
            </a:pPr>
            <a:r>
              <a:rPr b="1"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AGENDA</a:t>
            </a:r>
            <a:endParaRPr b="1"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44" name="Google Shape;644;p84"/>
          <p:cNvSpPr txBox="1"/>
          <p:nvPr>
            <p:ph idx="1" type="subTitle"/>
          </p:nvPr>
        </p:nvSpPr>
        <p:spPr>
          <a:xfrm>
            <a:off x="228600" y="1981200"/>
            <a:ext cx="8458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Multithreaded Programming: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Thread Priorities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Synchronization</a:t>
            </a:r>
            <a:endParaRPr/>
          </a:p>
          <a:p>
            <a:pPr indent="-1778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Suspending, Resuming And Stopping Threads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45" name="Google Shape;64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5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THREAD PRIORITIES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51" name="Google Shape;65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5"/>
          <p:cNvSpPr txBox="1"/>
          <p:nvPr/>
        </p:nvSpPr>
        <p:spPr>
          <a:xfrm>
            <a:off x="152400" y="1676400"/>
            <a:ext cx="8562340" cy="5260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priorities are used by the thread scheduler to decide when each thread should be allowed to run.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Higher-priority threads get more CPU time than lower-priority threads.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higher-priority thread can also preempt a lower-priority one.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instance, when a lower-priority thread is running and a higher-priority thread resumes (from sleeping or waiting on I/O, for example), it will preempt the lower-priority thread.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Threads of equal priority should get equal access to the CPU.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6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THREAD PRIORITIES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58" name="Google Shape;65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86"/>
          <p:cNvSpPr txBox="1"/>
          <p:nvPr/>
        </p:nvSpPr>
        <p:spPr>
          <a:xfrm>
            <a:off x="152400" y="1676400"/>
            <a:ext cx="8562340" cy="507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set a thread’s priority, use the setPriority( ) method, which is a member of Thread.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its general form: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final void setPriority(int level)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level specifies the new priority setting for the calling thread.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level must be within the range MIN_PRIORITY and MAX_PRIORITY.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Currently, these values are 1 and 10, respectively.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7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THREAD PRIORITIES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65" name="Google Shape;66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87"/>
          <p:cNvSpPr txBox="1"/>
          <p:nvPr/>
        </p:nvSpPr>
        <p:spPr>
          <a:xfrm>
            <a:off x="152400" y="1676400"/>
            <a:ext cx="8562340" cy="439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set a thread to default priority, specify NORM_PRIORITY, which is currently 5.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priorities are defined as static final variables within Thread.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 can obtain the current priority setting by calling the getPriority( ) method of Thread, shown here:</a:t>
            </a:r>
            <a:endParaRPr/>
          </a:p>
          <a:p>
            <a:pPr indent="0" lvl="3" marL="13843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int getPriority( )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8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SYNCHRONIZATION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72" name="Google Shape;672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88"/>
          <p:cNvSpPr txBox="1"/>
          <p:nvPr/>
        </p:nvSpPr>
        <p:spPr>
          <a:xfrm>
            <a:off x="152400" y="1676400"/>
            <a:ext cx="8562340" cy="482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two or more threads need access to a shared resource, they need some way to ensure that the resource will be used by only one thread at a time. The process by which this is achieved is called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synchronization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to synchronization is the concept of the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object that is used as a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mutually exclusive lock.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 one thread can own a monitor at a given time.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9"/>
          <p:cNvSpPr txBox="1"/>
          <p:nvPr>
            <p:ph type="ctrTitle"/>
          </p:nvPr>
        </p:nvSpPr>
        <p:spPr>
          <a:xfrm>
            <a:off x="0" y="609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SYNCHRONIZATION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79" name="Google Shape;67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89"/>
          <p:cNvSpPr txBox="1"/>
          <p:nvPr/>
        </p:nvSpPr>
        <p:spPr>
          <a:xfrm>
            <a:off x="152400" y="1676400"/>
            <a:ext cx="8562340" cy="528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thread acquires a lock, it is said to have entered the monitor.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threads attempting to enter the locked monitor will be suspended until the first thread exits the monitor.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other threads are said to be waiting for the monitor.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synchronize the code by using the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synchronized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 in two ways:</a:t>
            </a:r>
            <a:endParaRPr/>
          </a:p>
          <a:p>
            <a:pPr indent="-177800" lvl="1" marL="469900" marR="0" rtl="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Synchronized Methods</a:t>
            </a:r>
            <a:endParaRPr/>
          </a:p>
          <a:p>
            <a:pPr indent="-177800" lvl="1" marL="469900" marR="0" rtl="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Synchronized Statement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0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SYNCHRONIZED METHODS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86" name="Google Shape;68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90"/>
          <p:cNvSpPr txBox="1"/>
          <p:nvPr/>
        </p:nvSpPr>
        <p:spPr>
          <a:xfrm>
            <a:off x="152400" y="1219200"/>
            <a:ext cx="8562340" cy="55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objects have their own implicit monitor associated with them.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enter an object’s monitor, just call a method that has been modified with the synchronized keyword.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a thread is inside a synchronized method, all other threads that try to call it (or any other synchronized method) on the same instance have to wait.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exit the monitor and relinquish control of the object to the next waiting thread, the owner of the monitor must return from the synchronized method. 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Program  - Synch.java      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1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SYNCHRONIZED STATEMENT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93" name="Google Shape;69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1"/>
          <p:cNvSpPr txBox="1"/>
          <p:nvPr/>
        </p:nvSpPr>
        <p:spPr>
          <a:xfrm>
            <a:off x="152400" y="1596921"/>
            <a:ext cx="8562340" cy="480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synchronized methods within classes is an easy and effective means of achieving synchronization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Imagine that we want to synchronize access to objects of a class that was not designed for multithreaded access. That is, the class does not use synchronized methods.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Further, this class was not created by the programmer, but by a third party, and we do not have access to the source code. Thus, we can’t add synchronized to the appropriate methods within the class.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2"/>
          <p:cNvSpPr txBox="1"/>
          <p:nvPr>
            <p:ph type="ctrTitle"/>
          </p:nvPr>
        </p:nvSpPr>
        <p:spPr>
          <a:xfrm>
            <a:off x="0" y="5334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 sz="3200">
                <a:latin typeface="Bookman Old Style"/>
                <a:ea typeface="Bookman Old Style"/>
                <a:cs typeface="Bookman Old Style"/>
                <a:sym typeface="Bookman Old Style"/>
              </a:rPr>
              <a:t>SYNCHRONIZED STATEMENT</a:t>
            </a:r>
            <a:endParaRPr b="1" sz="3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700" name="Google Shape;70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92"/>
          <p:cNvSpPr txBox="1"/>
          <p:nvPr/>
        </p:nvSpPr>
        <p:spPr>
          <a:xfrm>
            <a:off x="152400" y="1616427"/>
            <a:ext cx="8562340" cy="571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access to an object of this class be synchronized? The solution to this problem is quite easy: Put calls to the methods defined by this class inside a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synchronized block.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general form of the synchronized statement:</a:t>
            </a:r>
            <a:endParaRPr/>
          </a:p>
          <a:p>
            <a:pPr indent="0" lvl="4" marL="18415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synchronized(objRef) </a:t>
            </a:r>
            <a:endParaRPr/>
          </a:p>
          <a:p>
            <a:pPr indent="0" lvl="4" marL="18415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4" marL="18415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statements to be synchronized</a:t>
            </a:r>
            <a:endParaRPr/>
          </a:p>
          <a:p>
            <a:pPr indent="0" lvl="4" marL="18415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objRef is a reference to the object being synchronized.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Program – Synch1.java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3"/>
          <p:cNvSpPr txBox="1"/>
          <p:nvPr>
            <p:ph type="ctrTitle"/>
          </p:nvPr>
        </p:nvSpPr>
        <p:spPr>
          <a:xfrm>
            <a:off x="0" y="6858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b="1"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SUSPENDING, RESUMING, AND STOPPING THREADS</a:t>
            </a:r>
            <a:endParaRPr b="1"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707" name="Google Shape;70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93"/>
          <p:cNvSpPr txBox="1"/>
          <p:nvPr/>
        </p:nvSpPr>
        <p:spPr>
          <a:xfrm>
            <a:off x="152400" y="1616427"/>
            <a:ext cx="8562340" cy="52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methods suspend( ), resume( ), and stop( ), which are methods defined by Thread, to pause, restart, and stop the execution of a thread.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thread must be designed so that the run( ) method periodically checks to determine whether that thread should suspend, resume, or stop its own execution.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this is accomplished by establishing a flag variable that indicates the execution state of the thread.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long as this flag is set to “running,” the run( ) method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continue to let the thread execute. 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this variable is set to “suspend,” the thread must pause.</a:t>
            </a:r>
            <a:endParaRPr/>
          </a:p>
          <a:p>
            <a:pPr indent="-17780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is set to “stop,” the thread must terminate.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575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9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lgerian"/>
              <a:buNone/>
            </a:pPr>
            <a:r>
              <a:rPr b="1" lang="en-US" sz="6600">
                <a:latin typeface="Algerian"/>
                <a:ea typeface="Algerian"/>
                <a:cs typeface="Algerian"/>
                <a:sym typeface="Algerian"/>
              </a:rPr>
              <a:t>Thank You… </a:t>
            </a:r>
            <a:endParaRPr b="1" sz="6600"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