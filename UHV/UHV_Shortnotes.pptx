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1781" r:id="rId4"/>
    <p:sldId id="1782" r:id="rId5"/>
    <p:sldId id="178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AEB53-5FDD-DF29-96A4-8FEBB21747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B495F3-A8EA-DCDD-4FBE-359A776030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7D02E8-750A-6C11-8DD3-F765B746C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2AC07-33A2-40B9-B491-578393701BA0}" type="datetimeFigureOut">
              <a:rPr lang="en-IN" smtClean="0"/>
              <a:t>27-02-2025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89965-142C-0ACF-9A3B-C858F787B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BA78F-F6FC-AC9B-0F56-2AE0CABB3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4202D-7EC0-45F6-A94E-3043049892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3933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DB70E-7551-46BF-1B73-C1ADCAAFD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0A924-E2F0-FBC1-1904-CEECA4E39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AA108-C8D6-D6A4-5513-2DD263C6E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2AC07-33A2-40B9-B491-578393701BA0}" type="datetimeFigureOut">
              <a:rPr lang="en-IN" smtClean="0"/>
              <a:t>27-02-2025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9E7A47-CDDC-0886-318D-848C52A6F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110D7C-ABCD-0F2F-0CEC-D539CDBAC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4202D-7EC0-45F6-A94E-3043049892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985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0E524-B3EC-314F-0C70-5798AA59E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6DF86C-13A7-478E-DAD8-129E8D82A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A5D10-03E4-483E-B4EB-3CB5291C2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2AC07-33A2-40B9-B491-578393701BA0}" type="datetimeFigureOut">
              <a:rPr lang="en-IN" smtClean="0"/>
              <a:t>27-02-2025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0E4B3F-C1C2-073E-CC75-79568A235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5ED6D-1092-95C2-BA7E-79C730925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4202D-7EC0-45F6-A94E-3043049892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8043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5B062-3927-1735-9093-F7F203CD0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CD797-C8B9-E018-80B9-48C8623CB8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8448AA-290D-B2A7-D4F4-FAFF8D562E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2E310B-2902-6D91-2287-D42B6E8F8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2AC07-33A2-40B9-B491-578393701BA0}" type="datetimeFigureOut">
              <a:rPr lang="en-IN" smtClean="0"/>
              <a:t>27-02-2025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5DFA1A-2ABD-2AC9-6A09-7B1B7A585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79532-E5FA-B5CF-693F-157C6CCE1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4202D-7EC0-45F6-A94E-3043049892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3734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D542D-77D9-DF52-3036-6DB08276F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6A33AC-9AB2-FD04-DC7C-5FD4331BB0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E81A7A-278E-30F8-8300-3AD3C67114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060E55-BA8E-EA18-0A41-5E2D5F47EB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AA0C0D-60B1-B02B-D252-B38730C1DA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90410C-1952-63BF-E137-07DEC668E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2AC07-33A2-40B9-B491-578393701BA0}" type="datetimeFigureOut">
              <a:rPr lang="en-IN" smtClean="0"/>
              <a:t>27-02-2025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0E9C58-988B-D567-9220-16A643BA9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CD4EC8-836C-1382-D89F-C58535C4A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4202D-7EC0-45F6-A94E-3043049892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9439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E54DB-6095-189C-A435-853019B6E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FDC8F5-AF40-BF88-B3D7-A4D1A8563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2AC07-33A2-40B9-B491-578393701BA0}" type="datetimeFigureOut">
              <a:rPr lang="en-IN" smtClean="0"/>
              <a:t>27-02-2025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C982D8-6A6A-9636-3974-112DD0344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DF2B05-C07A-0D80-9401-E54479280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4202D-7EC0-45F6-A94E-3043049892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5969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5D60BC-EFF6-DBD5-BE59-9C891CE4E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2AC07-33A2-40B9-B491-578393701BA0}" type="datetimeFigureOut">
              <a:rPr lang="en-IN" smtClean="0"/>
              <a:t>27-02-2025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CE67DB-F45B-EEBD-C8B6-A1C3B98F8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664443-CCBE-2F1F-AF8E-89BCE218A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4202D-7EC0-45F6-A94E-3043049892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8210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8DEF1-DF0E-F598-0832-A934D5745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9AF80-2DCE-FDA0-502D-41BDB037D4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598796-C437-6721-1E11-9CDD9FAF51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3A046F-E13B-72BF-B1FF-DDC2F73CC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2AC07-33A2-40B9-B491-578393701BA0}" type="datetimeFigureOut">
              <a:rPr lang="en-IN" smtClean="0"/>
              <a:t>27-02-2025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33B158-D8EA-E429-CBBE-C7A0E8BF4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837A0B-1E45-F79B-5332-8BEE8A9F0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4202D-7EC0-45F6-A94E-3043049892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9671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F6048-D5F6-DE55-554E-25C26EFD5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79AE97-4C06-73DE-7B7F-D7175661A6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2D821A-657B-A903-1C4F-83BF5AACE5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EADEC5-5C9E-1C5F-C571-07DBAAB30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2AC07-33A2-40B9-B491-578393701BA0}" type="datetimeFigureOut">
              <a:rPr lang="en-IN" smtClean="0"/>
              <a:t>27-02-2025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8611A9-59B0-340F-1B93-230AFA6B4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F5DB3-549F-400E-1E37-C18C3E341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4202D-7EC0-45F6-A94E-3043049892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1338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E19C9-C6CC-E438-256A-11E6A8BC4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2CF544-21E0-20A3-AAF7-E72F83BC1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0002D-AADF-92B6-8118-5BB5CFD3E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2AC07-33A2-40B9-B491-578393701BA0}" type="datetimeFigureOut">
              <a:rPr lang="en-IN" smtClean="0"/>
              <a:t>27-02-2025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E31B33-B628-4043-4ABB-4A994C2DD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BD22A-0347-20EC-AE41-20DA4C0B1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4202D-7EC0-45F6-A94E-3043049892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0008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BCC147-9AA1-1B6E-D782-22A63A27F2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C97A6B-2FB0-7210-371D-B0217CE48B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77F8B-ACC4-E4D0-1CCF-239217C1B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2AC07-33A2-40B9-B491-578393701BA0}" type="datetimeFigureOut">
              <a:rPr lang="en-IN" smtClean="0"/>
              <a:t>27-02-2025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D7769-E5E3-1B5E-3EBE-5E2AE2CBF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871D7-0C51-C6C6-70B4-49FCEA2B2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4202D-7EC0-45F6-A94E-3043049892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3953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69BFF2-7BFF-A0CD-2A5A-ED58443E4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EFC016-04A2-7CFB-8060-0FC03D2119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028986-FBF5-2716-EB27-B9C223B35B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A2AC07-33A2-40B9-B491-578393701BA0}" type="datetimeFigureOut">
              <a:rPr lang="en-IN" smtClean="0"/>
              <a:t>27-02-2025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91782-AC71-FE1A-7F77-EE914727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F12D9-B9D6-E40E-E5E1-F40FC29EF3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84202D-7EC0-45F6-A94E-3043049892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4268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ble">
            <a:extLst>
              <a:ext uri="{FF2B5EF4-FFF2-40B4-BE49-F238E27FC236}">
                <a16:creationId xmlns:a16="http://schemas.microsoft.com/office/drawing/2014/main" id="{3FFB22F8-5B22-2B45-5EB7-011A4C599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35" y="1814024"/>
            <a:ext cx="11729322" cy="4210091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9E4E8B6-825B-2E22-08D0-BD64DCADA890}"/>
              </a:ext>
            </a:extLst>
          </p:cNvPr>
          <p:cNvSpPr>
            <a:spLocks noGrp="1"/>
          </p:cNvSpPr>
          <p:nvPr/>
        </p:nvSpPr>
        <p:spPr>
          <a:xfrm>
            <a:off x="731655" y="833885"/>
            <a:ext cx="11180975" cy="7078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FF0000"/>
                </a:solidFill>
              </a:rPr>
              <a:t>TOPIC 1: UNDERSTANDING THE TWO REALITIES – Needs, Activities, and Response</a:t>
            </a:r>
            <a:br>
              <a:rPr lang="en-US" sz="2800" dirty="0"/>
            </a:br>
            <a:endParaRPr lang="en-IN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8771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A9BF8C5-F4CD-9C99-84F7-02793DA44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3172" y="1519698"/>
            <a:ext cx="3019720" cy="35433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89AAA-1692-2A7C-4CEC-3F370C0A75FC}"/>
              </a:ext>
            </a:extLst>
          </p:cNvPr>
          <p:cNvSpPr>
            <a:spLocks noGrp="1"/>
          </p:cNvSpPr>
          <p:nvPr/>
        </p:nvSpPr>
        <p:spPr>
          <a:xfrm>
            <a:off x="529091" y="1174271"/>
            <a:ext cx="8334081" cy="48830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800" b="1" dirty="0"/>
              <a:t>Needs of Human Beings:</a:t>
            </a:r>
            <a:endParaRPr lang="en-US" sz="1800" dirty="0"/>
          </a:p>
          <a:p>
            <a:pPr marL="342900" indent="-342900" algn="just">
              <a:lnSpc>
                <a:spcPct val="100000"/>
              </a:lnSpc>
              <a:buFont typeface="+mj-lt"/>
              <a:buAutoNum type="arabicPeriod"/>
            </a:pPr>
            <a:r>
              <a:rPr lang="en-US" sz="1800" dirty="0">
                <a:solidFill>
                  <a:srgbClr val="FFC000"/>
                </a:solidFill>
              </a:rPr>
              <a:t>Physiological Needs:</a:t>
            </a:r>
            <a:r>
              <a:rPr lang="en-US" sz="1800" dirty="0"/>
              <a:t> Breathing, Food, Clothing, Shelter, Sound Sleep, Mental Satisfaction </a:t>
            </a:r>
          </a:p>
          <a:p>
            <a:pPr marL="342900" indent="-342900" algn="just">
              <a:lnSpc>
                <a:spcPct val="100000"/>
              </a:lnSpc>
              <a:buFont typeface="+mj-lt"/>
              <a:buAutoNum type="arabicPeriod"/>
            </a:pPr>
            <a:r>
              <a:rPr lang="en-US" sz="1800" dirty="0">
                <a:solidFill>
                  <a:srgbClr val="92D050"/>
                </a:solidFill>
              </a:rPr>
              <a:t>Safety &amp; Security Needs: </a:t>
            </a:r>
            <a:r>
              <a:rPr lang="en-US" sz="1800" dirty="0"/>
              <a:t>Personal Security, Financial Security, Health &amp; Well-being, Accidents/illness, and their adverse impacts </a:t>
            </a:r>
          </a:p>
          <a:p>
            <a:pPr marL="342900" indent="-342900" algn="just">
              <a:lnSpc>
                <a:spcPct val="100000"/>
              </a:lnSpc>
              <a:buFont typeface="+mj-lt"/>
              <a:buAutoNum type="arabicPeriod"/>
            </a:pPr>
            <a:r>
              <a:rPr lang="en-US" sz="1800" dirty="0">
                <a:solidFill>
                  <a:srgbClr val="00B0F0"/>
                </a:solidFill>
              </a:rPr>
              <a:t>Love and belonging: </a:t>
            </a:r>
            <a:r>
              <a:rPr lang="en-US" sz="1800" dirty="0"/>
              <a:t>Friendship, Intimacy, Family (Good &amp; Supportive), and Sense of belonging among large social groups (clubs, office culture, religious groups, professional organizations) or small groups (family members, intimate partners, close colleagues)</a:t>
            </a:r>
          </a:p>
          <a:p>
            <a:pPr marL="342900" indent="-342900" algn="just">
              <a:lnSpc>
                <a:spcPct val="100000"/>
              </a:lnSpc>
              <a:buFont typeface="+mj-lt"/>
              <a:buAutoNum type="arabicPeriod"/>
            </a:pPr>
            <a:r>
              <a:rPr lang="en-US" sz="1800" dirty="0">
                <a:solidFill>
                  <a:srgbClr val="7030A0"/>
                </a:solidFill>
              </a:rPr>
              <a:t>Esteem: </a:t>
            </a:r>
            <a:r>
              <a:rPr lang="en-US" sz="1800" dirty="0"/>
              <a:t>Have self-esteem and self-respect, be accepted and valued by others, engage themselves to gain recognition, a sense of contribution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931490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4E8B6-825B-2E22-08D0-BD64DCADA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466850"/>
            <a:ext cx="11180975" cy="69719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TOPIC 6: PROGRAM TO ENSURE SANYAM AND SWASTHYA</a:t>
            </a:r>
            <a:br>
              <a:rPr lang="en-US" sz="2800" dirty="0"/>
            </a:br>
            <a:br>
              <a:rPr lang="en-US" sz="2800" dirty="0"/>
            </a:br>
            <a:endParaRPr lang="en-IN" sz="28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89AAA-1692-2A7C-4CEC-3F370C0A7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385" y="1536568"/>
            <a:ext cx="7677840" cy="532143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dirty="0">
                <a:solidFill>
                  <a:srgbClr val="00B0F0"/>
                </a:solidFill>
              </a:rPr>
              <a:t>SANYAM: </a:t>
            </a:r>
            <a:r>
              <a:rPr lang="en-US" sz="1800" dirty="0"/>
              <a:t>“I” take the responsibility of nurturing, protection, and right utilization of the body</a:t>
            </a:r>
          </a:p>
          <a:p>
            <a:pPr marL="342900" indent="-342900" algn="just">
              <a:lnSpc>
                <a:spcPct val="100000"/>
              </a:lnSpc>
              <a:buFont typeface="+mj-lt"/>
              <a:buAutoNum type="arabicPeriod"/>
            </a:pPr>
            <a:r>
              <a:rPr lang="en-US" sz="1800" dirty="0">
                <a:solidFill>
                  <a:srgbClr val="FF0000"/>
                </a:solidFill>
              </a:rPr>
              <a:t>Nurturing of the body (</a:t>
            </a:r>
            <a:r>
              <a:rPr lang="en-US" sz="1800" dirty="0" err="1">
                <a:solidFill>
                  <a:srgbClr val="FF0000"/>
                </a:solidFill>
              </a:rPr>
              <a:t>posan</a:t>
            </a:r>
            <a:r>
              <a:rPr lang="en-US" sz="1800" dirty="0">
                <a:solidFill>
                  <a:srgbClr val="FF0000"/>
                </a:solidFill>
              </a:rPr>
              <a:t>)</a:t>
            </a:r>
          </a:p>
          <a:p>
            <a:pPr algn="just">
              <a:lnSpc>
                <a:spcPct val="100000"/>
              </a:lnSpc>
            </a:pPr>
            <a:r>
              <a:rPr lang="en-US" sz="1800" dirty="0"/>
              <a:t>Ingestion (</a:t>
            </a:r>
            <a:r>
              <a:rPr lang="en-US" sz="1800" dirty="0" err="1"/>
              <a:t>grahan</a:t>
            </a:r>
            <a:r>
              <a:rPr lang="en-US" sz="1800" dirty="0"/>
              <a:t>)</a:t>
            </a:r>
          </a:p>
          <a:p>
            <a:pPr algn="just">
              <a:lnSpc>
                <a:spcPct val="100000"/>
              </a:lnSpc>
            </a:pPr>
            <a:r>
              <a:rPr lang="en-US" sz="1800" dirty="0"/>
              <a:t>Digestion (</a:t>
            </a:r>
            <a:r>
              <a:rPr lang="en-US" sz="1800" dirty="0" err="1"/>
              <a:t>pachan</a:t>
            </a:r>
            <a:r>
              <a:rPr lang="en-US" sz="1800" dirty="0"/>
              <a:t>)</a:t>
            </a:r>
          </a:p>
          <a:p>
            <a:pPr algn="just">
              <a:lnSpc>
                <a:spcPct val="100000"/>
              </a:lnSpc>
              <a:spcAft>
                <a:spcPts val="600"/>
              </a:spcAft>
            </a:pPr>
            <a:r>
              <a:rPr lang="en-US" sz="1800" dirty="0"/>
              <a:t>Excretion (</a:t>
            </a:r>
            <a:r>
              <a:rPr lang="en-US" sz="1800" dirty="0" err="1"/>
              <a:t>nishkasan</a:t>
            </a:r>
            <a:r>
              <a:rPr lang="en-US" sz="1800" dirty="0"/>
              <a:t>)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1800" dirty="0">
                <a:solidFill>
                  <a:srgbClr val="FF0000"/>
                </a:solidFill>
              </a:rPr>
              <a:t>2. Protection of the body (</a:t>
            </a:r>
            <a:r>
              <a:rPr lang="en-US" sz="1800" dirty="0" err="1">
                <a:solidFill>
                  <a:srgbClr val="FF0000"/>
                </a:solidFill>
              </a:rPr>
              <a:t>sanraksahan</a:t>
            </a:r>
            <a:r>
              <a:rPr lang="en-US" sz="1800" dirty="0">
                <a:solidFill>
                  <a:srgbClr val="FF0000"/>
                </a:solidFill>
              </a:rPr>
              <a:t>)</a:t>
            </a:r>
          </a:p>
          <a:p>
            <a:pPr algn="just">
              <a:lnSpc>
                <a:spcPct val="100000"/>
              </a:lnSpc>
            </a:pPr>
            <a:r>
              <a:rPr lang="en-US" sz="1800" dirty="0"/>
              <a:t>Proper upkeep (</a:t>
            </a:r>
            <a:r>
              <a:rPr lang="en-US" sz="1800" dirty="0" err="1"/>
              <a:t>vihar</a:t>
            </a:r>
            <a:r>
              <a:rPr lang="en-US" sz="1800" dirty="0"/>
              <a:t>) of the body</a:t>
            </a:r>
          </a:p>
          <a:p>
            <a:pPr algn="just">
              <a:lnSpc>
                <a:spcPct val="100000"/>
              </a:lnSpc>
            </a:pPr>
            <a:r>
              <a:rPr lang="en-US" sz="1800" dirty="0" err="1"/>
              <a:t>Labour</a:t>
            </a:r>
            <a:r>
              <a:rPr lang="en-US" sz="1800" dirty="0"/>
              <a:t> (</a:t>
            </a:r>
            <a:r>
              <a:rPr lang="en-US" sz="1800" dirty="0" err="1"/>
              <a:t>shram</a:t>
            </a:r>
            <a:r>
              <a:rPr lang="en-US" sz="1800" dirty="0"/>
              <a:t>)</a:t>
            </a:r>
          </a:p>
          <a:p>
            <a:pPr algn="just">
              <a:lnSpc>
                <a:spcPct val="100000"/>
              </a:lnSpc>
            </a:pPr>
            <a:r>
              <a:rPr lang="en-US" sz="1800" dirty="0"/>
              <a:t>Physical exercise (</a:t>
            </a:r>
            <a:r>
              <a:rPr lang="en-US" sz="1800" dirty="0" err="1"/>
              <a:t>Vvayam</a:t>
            </a:r>
            <a:r>
              <a:rPr lang="en-US" sz="1800" dirty="0"/>
              <a:t>)</a:t>
            </a:r>
          </a:p>
          <a:p>
            <a:pPr algn="just">
              <a:lnSpc>
                <a:spcPct val="100000"/>
              </a:lnSpc>
            </a:pPr>
            <a:r>
              <a:rPr lang="en-US" sz="1800" dirty="0"/>
              <a:t>Asan (pranayama)</a:t>
            </a:r>
          </a:p>
          <a:p>
            <a:pPr algn="just">
              <a:lnSpc>
                <a:spcPct val="100000"/>
              </a:lnSpc>
            </a:pPr>
            <a:r>
              <a:rPr lang="en-US" sz="1800" dirty="0"/>
              <a:t>Treatment (</a:t>
            </a:r>
            <a:r>
              <a:rPr lang="en-US" sz="1800" dirty="0" err="1"/>
              <a:t>upchar</a:t>
            </a:r>
            <a:r>
              <a:rPr lang="en-US" sz="1800" dirty="0"/>
              <a:t>) of the body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1800" dirty="0">
                <a:solidFill>
                  <a:srgbClr val="FF0000"/>
                </a:solidFill>
              </a:rPr>
              <a:t>3. Right utilization of the body (</a:t>
            </a:r>
            <a:r>
              <a:rPr lang="en-US" sz="1800" dirty="0" err="1">
                <a:solidFill>
                  <a:srgbClr val="FF0000"/>
                </a:solidFill>
              </a:rPr>
              <a:t>sadupyog</a:t>
            </a:r>
            <a:r>
              <a:rPr lang="en-US" sz="1800" dirty="0">
                <a:solidFill>
                  <a:srgbClr val="FF0000"/>
                </a:solidFill>
              </a:rPr>
              <a:t>)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sz="1800" dirty="0"/>
          </a:p>
          <a:p>
            <a:pPr algn="just">
              <a:lnSpc>
                <a:spcPct val="100000"/>
              </a:lnSpc>
            </a:pPr>
            <a:endParaRPr lang="en-IN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A7EEA3-0C90-C258-AA76-12B504A61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4659" y="0"/>
            <a:ext cx="2737341" cy="926672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48818EA-012D-D710-A14C-A7C06254A998}"/>
              </a:ext>
            </a:extLst>
          </p:cNvPr>
          <p:cNvSpPr txBox="1">
            <a:spLocks/>
          </p:cNvSpPr>
          <p:nvPr/>
        </p:nvSpPr>
        <p:spPr>
          <a:xfrm>
            <a:off x="5953125" y="2400300"/>
            <a:ext cx="5791200" cy="41814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00B0F0"/>
                </a:solidFill>
              </a:rPr>
              <a:t>SWASTHYA:</a:t>
            </a:r>
          </a:p>
          <a:p>
            <a:pPr marL="342900" indent="-342900" algn="just">
              <a:lnSpc>
                <a:spcPct val="100000"/>
              </a:lnSpc>
              <a:buFont typeface="+mj-lt"/>
              <a:buAutoNum type="arabicPeriod"/>
            </a:pPr>
            <a:r>
              <a:rPr lang="en-US" sz="1800" dirty="0"/>
              <a:t>The body is fit according to the self (I)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1800" dirty="0"/>
              <a:t>2.   There is harmony among the various parts of the body</a:t>
            </a:r>
          </a:p>
          <a:p>
            <a:pPr marL="0" indent="0" algn="just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sz="1800" dirty="0"/>
          </a:p>
          <a:p>
            <a:pPr algn="just">
              <a:lnSpc>
                <a:spcPct val="100000"/>
              </a:lnSpc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826931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8D3E46-1D7F-411C-94DD-AF99155B37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1520" y="318653"/>
            <a:ext cx="8668960" cy="622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075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3A3695-47F0-0D59-6744-392EC7996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02" y="213864"/>
            <a:ext cx="11431595" cy="643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152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251</Words>
  <Application>Microsoft Office PowerPoint</Application>
  <PresentationFormat>Widescreen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TOPIC 6: PROGRAM TO ENSURE SANYAM AND SWASTHYA 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skbanavalikar2105@gmail.com</dc:creator>
  <cp:lastModifiedBy>skbanavalikar2105@gmail.com</cp:lastModifiedBy>
  <cp:revision>6</cp:revision>
  <dcterms:created xsi:type="dcterms:W3CDTF">2025-02-25T12:00:25Z</dcterms:created>
  <dcterms:modified xsi:type="dcterms:W3CDTF">2025-02-27T17:15:54Z</dcterms:modified>
</cp:coreProperties>
</file>