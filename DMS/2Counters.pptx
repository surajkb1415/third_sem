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0" r:id="rId7"/>
    <p:sldId id="264" r:id="rId8"/>
    <p:sldId id="270" r:id="rId9"/>
    <p:sldId id="272" r:id="rId10"/>
    <p:sldId id="271" r:id="rId11"/>
    <p:sldId id="265" r:id="rId12"/>
    <p:sldId id="266" r:id="rId13"/>
    <p:sldId id="269" r:id="rId14"/>
    <p:sldId id="268" r:id="rId15"/>
    <p:sldId id="267" r:id="rId16"/>
    <p:sldId id="261"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724649-4262-FAD0-FF51-8B5D82329F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D093593-CCE0-CE8F-1792-880AC5A2A2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D0EB424E-B15F-B32A-3C31-5964016FE157}"/>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8476EAE9-94D2-77DD-7AF8-AF7DCBC2B9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56C5A8C-AC57-691B-00D9-2931B762D20C}"/>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14476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2B2201-F6A1-C1B5-C20B-3A4AECF270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DA9B970-735A-30B2-1BC4-98D0D82174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81B7D19-E1C9-1634-AB43-7BEC7FDFC860}"/>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CC90FEFD-BE6A-5474-2884-BE60C6648C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2991CF8-B7F8-3AD2-D4D5-995472BCA9FF}"/>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399096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1564BC-12FB-90B9-FF7C-1EC1AB7329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CFE0F54-C3D3-E576-3C9D-1EB65A17F8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2F92594-F83D-BA63-1F03-3D61D0497B70}"/>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BA7A0253-F40F-65E5-E4AF-AEE85FCD2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A55B5DB-76B6-89D1-3E7F-1B9427B7CAA6}"/>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2036668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EB2405-374A-AF1C-B21C-37508CB340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14A2B5B-2FFF-047F-79CE-9BA3B4D2A8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8DC8B70-CFE4-7D71-4339-24CB91C3D4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000B8594-D2BE-73C8-0570-519A3BEA0D3B}"/>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6" name="Footer Placeholder 5">
            <a:extLst>
              <a:ext uri="{FF2B5EF4-FFF2-40B4-BE49-F238E27FC236}">
                <a16:creationId xmlns="" xmlns:a16="http://schemas.microsoft.com/office/drawing/2014/main" id="{03BE8F47-E48D-9244-8627-D85E3AD334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14CD194-00DB-6DFE-36B9-EBB53D3C85BC}"/>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3982025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F4C252-7DE6-23E6-1E75-A26FCB51B0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0C3C165-A9EE-F4FF-984B-39B7A5E9D5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7550560-BC30-D95A-A5BD-B62393AD6C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9DF5C1C0-9E2A-818A-F8CE-411D707B25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3C5789B2-D565-7738-9EC8-652D3F9223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C4CB1E06-555C-4EA6-DA27-1D41FD7B5C43}"/>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8" name="Footer Placeholder 7">
            <a:extLst>
              <a:ext uri="{FF2B5EF4-FFF2-40B4-BE49-F238E27FC236}">
                <a16:creationId xmlns="" xmlns:a16="http://schemas.microsoft.com/office/drawing/2014/main" id="{0AC0BB8A-20F1-8CEE-337A-31535794BA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A33182F7-3686-B33E-B293-7ED9E794879F}"/>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2359635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C9EA60-B423-8B46-F0EB-C6E6F5F40C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6EE285B3-9F1B-FF70-D28C-D7A707D10085}"/>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4" name="Footer Placeholder 3">
            <a:extLst>
              <a:ext uri="{FF2B5EF4-FFF2-40B4-BE49-F238E27FC236}">
                <a16:creationId xmlns="" xmlns:a16="http://schemas.microsoft.com/office/drawing/2014/main" id="{D4F072CF-9892-E381-9185-4AC1F0232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7B22FCD4-7032-5660-DFB2-3D810F04B694}"/>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2268484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E3255C8-6F86-1A58-B914-567EE3630228}"/>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3" name="Footer Placeholder 2">
            <a:extLst>
              <a:ext uri="{FF2B5EF4-FFF2-40B4-BE49-F238E27FC236}">
                <a16:creationId xmlns="" xmlns:a16="http://schemas.microsoft.com/office/drawing/2014/main" id="{D841C48E-1ADE-BCE6-427D-AA597B5F62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06325BE7-E7FB-8968-0BF0-1215B47FC18B}"/>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231545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253B6-C98B-4796-1196-F50EF41620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3B076C2-FD68-DB01-684E-5058DCF599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D33778A-FDF5-E11F-B297-1F21787DFB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48307E7-F5A1-C28A-1465-96612BBDEF37}"/>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6" name="Footer Placeholder 5">
            <a:extLst>
              <a:ext uri="{FF2B5EF4-FFF2-40B4-BE49-F238E27FC236}">
                <a16:creationId xmlns="" xmlns:a16="http://schemas.microsoft.com/office/drawing/2014/main" id="{483B12A2-30D3-627A-174B-05628561CC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D7FAB50-498B-3848-4294-2ABD7B85BCBA}"/>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3142062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04E6FA-4E06-AF1B-7A20-DE05039EB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54D64D2E-3B90-89F1-EF91-8DD1173D2F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2DCF16E3-9A0B-D08E-7D33-69D5BE32DE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DFAE7B3-EE44-BCFB-3C2E-67DA2DCBB713}"/>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6" name="Footer Placeholder 5">
            <a:extLst>
              <a:ext uri="{FF2B5EF4-FFF2-40B4-BE49-F238E27FC236}">
                <a16:creationId xmlns="" xmlns:a16="http://schemas.microsoft.com/office/drawing/2014/main" id="{0621F826-236F-8612-FF64-3F6BFE7D16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D5D46D5-DC41-6CB1-F7BB-0CC0DA4F9B4C}"/>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391513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3F0BD8-1927-5947-9068-476CBC6B16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BC1E7C6-E694-45D1-172F-D93A6C2E06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FD3DC91-431B-E539-92E9-32499BD29937}"/>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4B47AE5F-49C2-13FB-96A8-2D028785B7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3E01F8B-D82B-8D6F-3248-81945FE95D21}"/>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31786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DFA9FF2-C42D-91DF-B4FD-4F1820A5F3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21035D2-40F1-06B3-1949-F566B8953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9AE59A9-2D7B-80EF-C8DE-9ACB5C88ADC3}"/>
              </a:ext>
            </a:extLst>
          </p:cNvPr>
          <p:cNvSpPr>
            <a:spLocks noGrp="1"/>
          </p:cNvSpPr>
          <p:nvPr>
            <p:ph type="dt" sz="half" idx="10"/>
          </p:nvPr>
        </p:nvSpPr>
        <p:spPr/>
        <p:txBody>
          <a:body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48086195-BD5D-9CE9-8632-8509EA4035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60C717B-A166-F2A7-A970-633B9DBA00AC}"/>
              </a:ext>
            </a:extLst>
          </p:cNvPr>
          <p:cNvSpPr>
            <a:spLocks noGrp="1"/>
          </p:cNvSpPr>
          <p:nvPr>
            <p:ph type="sldNum" sz="quarter" idx="12"/>
          </p:nvPr>
        </p:nvSpPr>
        <p:spPr/>
        <p:txBody>
          <a:bodyPr/>
          <a:lstStyle/>
          <a:p>
            <a:fld id="{12CC357D-1A64-4B7C-8868-4E318938C2D2}" type="slidenum">
              <a:rPr lang="en-IN" smtClean="0"/>
              <a:t>‹#›</a:t>
            </a:fld>
            <a:endParaRPr lang="en-IN"/>
          </a:p>
        </p:txBody>
      </p:sp>
    </p:spTree>
    <p:extLst>
      <p:ext uri="{BB962C8B-B14F-4D97-AF65-F5344CB8AC3E}">
        <p14:creationId xmlns:p14="http://schemas.microsoft.com/office/powerpoint/2010/main" val="286800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29CF54B-9168-31AB-C1C7-6C74BD9CA9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198C3AA-6CBC-91F4-DA05-E387185580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AEB522C-3549-6F66-66F1-90C4CA3B57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764EFE-0B96-47A6-B413-14CD88E97D9C}" type="datetimeFigureOut">
              <a:rPr lang="en-IN" smtClean="0"/>
              <a:t>08-11-2024</a:t>
            </a:fld>
            <a:endParaRPr lang="en-IN"/>
          </a:p>
        </p:txBody>
      </p:sp>
      <p:sp>
        <p:nvSpPr>
          <p:cNvPr id="5" name="Footer Placeholder 4">
            <a:extLst>
              <a:ext uri="{FF2B5EF4-FFF2-40B4-BE49-F238E27FC236}">
                <a16:creationId xmlns="" xmlns:a16="http://schemas.microsoft.com/office/drawing/2014/main" id="{5CEF9077-31A0-6DC3-AECC-7C15E58BE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E9381EE3-439C-8C58-AFA9-168BA379C7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CC357D-1A64-4B7C-8868-4E318938C2D2}" type="slidenum">
              <a:rPr lang="en-IN" smtClean="0"/>
              <a:t>‹#›</a:t>
            </a:fld>
            <a:endParaRPr lang="en-IN"/>
          </a:p>
        </p:txBody>
      </p:sp>
    </p:spTree>
    <p:extLst>
      <p:ext uri="{BB962C8B-B14F-4D97-AF65-F5344CB8AC3E}">
        <p14:creationId xmlns:p14="http://schemas.microsoft.com/office/powerpoint/2010/main" val="304525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electronics-tutorials.ws/sequential/seq_2.htm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flip-flop-types-their-conversion-and-applications/" TargetMode="External"/><Relationship Id="rId2" Type="http://schemas.openxmlformats.org/officeDocument/2006/relationships/hyperlink" Target="https://www.geeksforgeeks.org/introduction-of-sequential-circuit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B2BB94-D737-7B20-B91A-58C12441FCB8}"/>
              </a:ext>
            </a:extLst>
          </p:cNvPr>
          <p:cNvSpPr>
            <a:spLocks noGrp="1"/>
          </p:cNvSpPr>
          <p:nvPr>
            <p:ph type="ctrTitle"/>
          </p:nvPr>
        </p:nvSpPr>
        <p:spPr/>
        <p:txBody>
          <a:bodyPr/>
          <a:lstStyle/>
          <a:p>
            <a:r>
              <a:rPr lang="en-US" dirty="0"/>
              <a:t>Counters</a:t>
            </a:r>
            <a:br>
              <a:rPr lang="en-US" dirty="0"/>
            </a:br>
            <a:endParaRPr lang="en-IN" dirty="0"/>
          </a:p>
        </p:txBody>
      </p:sp>
      <p:sp>
        <p:nvSpPr>
          <p:cNvPr id="3" name="Subtitle 2">
            <a:extLst>
              <a:ext uri="{FF2B5EF4-FFF2-40B4-BE49-F238E27FC236}">
                <a16:creationId xmlns="" xmlns:a16="http://schemas.microsoft.com/office/drawing/2014/main" id="{1771718D-2196-E1F3-CE42-917AFF2F21C4}"/>
              </a:ext>
            </a:extLst>
          </p:cNvPr>
          <p:cNvSpPr>
            <a:spLocks noGrp="1"/>
          </p:cNvSpPr>
          <p:nvPr>
            <p:ph type="subTitle" idx="1"/>
          </p:nvPr>
        </p:nvSpPr>
        <p:spPr>
          <a:xfrm>
            <a:off x="1524000" y="2870200"/>
            <a:ext cx="10083282" cy="2387600"/>
          </a:xfrm>
        </p:spPr>
        <p:txBody>
          <a:bodyPr>
            <a:normAutofit fontScale="92500"/>
          </a:bodyPr>
          <a:lstStyle/>
          <a:p>
            <a:pPr algn="just"/>
            <a:r>
              <a:rPr lang="en-US" b="0" i="0" dirty="0">
                <a:solidFill>
                  <a:srgbClr val="000000"/>
                </a:solidFill>
                <a:effectLst/>
                <a:latin typeface="Verdana" panose="020B0604030504040204" pitchFamily="34" charset="0"/>
              </a:rPr>
              <a:t>Counter is a sequential circuit. A digital circuit which is used for a counting pulses is known counter. Counter is the widest application of flip-flops. It is a group of flip-flops with a clock signal applied. </a:t>
            </a:r>
          </a:p>
          <a:p>
            <a:pPr algn="just"/>
            <a:r>
              <a:rPr lang="en-US" b="0" i="0" dirty="0">
                <a:solidFill>
                  <a:srgbClr val="000000"/>
                </a:solidFill>
                <a:effectLst/>
                <a:latin typeface="Verdana" panose="020B0604030504040204" pitchFamily="34" charset="0"/>
              </a:rPr>
              <a:t>Counters are of two types.</a:t>
            </a:r>
          </a:p>
          <a:p>
            <a:pPr algn="just">
              <a:buFont typeface="Arial" panose="020B0604020202020204" pitchFamily="34" charset="0"/>
              <a:buChar char="•"/>
            </a:pPr>
            <a:r>
              <a:rPr lang="en-US" b="0" i="0" dirty="0">
                <a:solidFill>
                  <a:srgbClr val="000000"/>
                </a:solidFill>
                <a:effectLst/>
                <a:latin typeface="Verdana" panose="020B0604030504040204" pitchFamily="34" charset="0"/>
              </a:rPr>
              <a:t>Asynchronous or ripple counters.</a:t>
            </a:r>
          </a:p>
          <a:p>
            <a:pPr algn="just">
              <a:buFont typeface="Arial" panose="020B0604020202020204" pitchFamily="34" charset="0"/>
              <a:buChar char="•"/>
            </a:pPr>
            <a:r>
              <a:rPr lang="en-US" b="0" i="0" dirty="0">
                <a:solidFill>
                  <a:srgbClr val="000000"/>
                </a:solidFill>
                <a:effectLst/>
                <a:latin typeface="Verdana" panose="020B0604030504040204" pitchFamily="34" charset="0"/>
              </a:rPr>
              <a:t>Synchronous counters.</a:t>
            </a:r>
          </a:p>
          <a:p>
            <a:pPr algn="just"/>
            <a:endParaRPr lang="en-IN" dirty="0"/>
          </a:p>
        </p:txBody>
      </p:sp>
    </p:spTree>
    <p:extLst>
      <p:ext uri="{BB962C8B-B14F-4D97-AF65-F5344CB8AC3E}">
        <p14:creationId xmlns:p14="http://schemas.microsoft.com/office/powerpoint/2010/main" val="31324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F044AA05-64C4-826B-B4E9-DB10E18899AA}"/>
              </a:ext>
            </a:extLst>
          </p:cNvPr>
          <p:cNvPicPr>
            <a:picLocks noGrp="1" noChangeAspect="1"/>
          </p:cNvPicPr>
          <p:nvPr>
            <p:ph idx="1"/>
          </p:nvPr>
        </p:nvPicPr>
        <p:blipFill>
          <a:blip r:embed="rId2"/>
          <a:stretch>
            <a:fillRect/>
          </a:stretch>
        </p:blipFill>
        <p:spPr>
          <a:xfrm>
            <a:off x="998376" y="1935465"/>
            <a:ext cx="8037193" cy="4922535"/>
          </a:xfrm>
        </p:spPr>
      </p:pic>
      <p:sp>
        <p:nvSpPr>
          <p:cNvPr id="7" name="TextBox 6">
            <a:extLst>
              <a:ext uri="{FF2B5EF4-FFF2-40B4-BE49-F238E27FC236}">
                <a16:creationId xmlns="" xmlns:a16="http://schemas.microsoft.com/office/drawing/2014/main" id="{17A6EB87-68CA-25CA-8C57-175BEF60998E}"/>
              </a:ext>
            </a:extLst>
          </p:cNvPr>
          <p:cNvSpPr txBox="1"/>
          <p:nvPr/>
        </p:nvSpPr>
        <p:spPr>
          <a:xfrm>
            <a:off x="893406" y="292369"/>
            <a:ext cx="10508602" cy="1477328"/>
          </a:xfrm>
          <a:prstGeom prst="rect">
            <a:avLst/>
          </a:prstGeom>
          <a:noFill/>
        </p:spPr>
        <p:txBody>
          <a:bodyPr wrap="square">
            <a:spAutoFit/>
          </a:bodyPr>
          <a:lstStyle/>
          <a:p>
            <a:pPr algn="l" fontAlgn="base"/>
            <a:r>
              <a:rPr lang="en-US" b="0" i="0" dirty="0">
                <a:solidFill>
                  <a:srgbClr val="273239"/>
                </a:solidFill>
                <a:effectLst/>
                <a:latin typeface="Nunito" pitchFamily="2" charset="0"/>
              </a:rPr>
              <a:t>Asynchronous Counter:</a:t>
            </a:r>
          </a:p>
          <a:p>
            <a:pPr algn="l" fontAlgn="base"/>
            <a:r>
              <a:rPr lang="en-US" sz="2400" b="0" i="0" dirty="0">
                <a:solidFill>
                  <a:srgbClr val="273239"/>
                </a:solidFill>
                <a:effectLst/>
                <a:latin typeface="Nunito" pitchFamily="2" charset="0"/>
              </a:rPr>
              <a:t>These are the counters in which we do not use universal clock, main clock is only applied to the first flip flop and then for rest of flip flops the output of previous flip flop is taken as a clock.</a:t>
            </a:r>
          </a:p>
        </p:txBody>
      </p:sp>
    </p:spTree>
    <p:extLst>
      <p:ext uri="{BB962C8B-B14F-4D97-AF65-F5344CB8AC3E}">
        <p14:creationId xmlns:p14="http://schemas.microsoft.com/office/powerpoint/2010/main" val="2523293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ABCD3B5-0A90-AE0E-87B3-CCF27DA92295}"/>
              </a:ext>
            </a:extLst>
          </p:cNvPr>
          <p:cNvSpPr txBox="1"/>
          <p:nvPr/>
        </p:nvSpPr>
        <p:spPr>
          <a:xfrm>
            <a:off x="464199" y="465080"/>
            <a:ext cx="6097554" cy="646331"/>
          </a:xfrm>
          <a:prstGeom prst="rect">
            <a:avLst/>
          </a:prstGeom>
          <a:noFill/>
        </p:spPr>
        <p:txBody>
          <a:bodyPr wrap="square">
            <a:spAutoFit/>
          </a:bodyPr>
          <a:lstStyle/>
          <a:p>
            <a:r>
              <a:rPr lang="en-US" b="1" i="0" dirty="0">
                <a:solidFill>
                  <a:srgbClr val="000000"/>
                </a:solidFill>
                <a:effectLst/>
                <a:latin typeface="Verdana" panose="020B0604030504040204" pitchFamily="34" charset="0"/>
              </a:rPr>
              <a:t>Initially let both the FFs be in the </a:t>
            </a:r>
          </a:p>
          <a:p>
            <a:r>
              <a:rPr lang="en-US" b="1" i="0" dirty="0">
                <a:solidFill>
                  <a:srgbClr val="000000"/>
                </a:solidFill>
                <a:effectLst/>
                <a:latin typeface="Verdana" panose="020B0604030504040204" pitchFamily="34" charset="0"/>
              </a:rPr>
              <a:t>reset state</a:t>
            </a:r>
            <a:endParaRPr lang="en-IN" dirty="0"/>
          </a:p>
        </p:txBody>
      </p:sp>
      <p:sp>
        <p:nvSpPr>
          <p:cNvPr id="5" name="TextBox 4">
            <a:extLst>
              <a:ext uri="{FF2B5EF4-FFF2-40B4-BE49-F238E27FC236}">
                <a16:creationId xmlns="" xmlns:a16="http://schemas.microsoft.com/office/drawing/2014/main" id="{394DF51E-DAEC-0BDD-51DF-FC050C617A62}"/>
              </a:ext>
            </a:extLst>
          </p:cNvPr>
          <p:cNvSpPr txBox="1"/>
          <p:nvPr/>
        </p:nvSpPr>
        <p:spPr>
          <a:xfrm>
            <a:off x="6561753" y="551856"/>
            <a:ext cx="6097554" cy="369332"/>
          </a:xfrm>
          <a:prstGeom prst="rect">
            <a:avLst/>
          </a:prstGeom>
          <a:noFill/>
        </p:spPr>
        <p:txBody>
          <a:bodyPr wrap="square">
            <a:spAutoFit/>
          </a:bodyPr>
          <a:lstStyle/>
          <a:p>
            <a:r>
              <a:rPr lang="en-IN" b="0" i="0" dirty="0">
                <a:solidFill>
                  <a:srgbClr val="000000"/>
                </a:solidFill>
                <a:effectLst/>
                <a:latin typeface="Verdana" panose="020B0604030504040204" pitchFamily="34" charset="0"/>
              </a:rPr>
              <a:t>Q</a:t>
            </a:r>
            <a:r>
              <a:rPr lang="en-IN" b="0" i="0" baseline="-25000" dirty="0">
                <a:solidFill>
                  <a:srgbClr val="000000"/>
                </a:solidFill>
                <a:effectLst/>
                <a:latin typeface="Verdana" panose="020B0604030504040204" pitchFamily="34" charset="0"/>
              </a:rPr>
              <a:t>B</a:t>
            </a:r>
            <a:r>
              <a:rPr lang="en-IN" b="0" i="0" dirty="0">
                <a:solidFill>
                  <a:srgbClr val="000000"/>
                </a:solidFill>
                <a:effectLst/>
                <a:latin typeface="Verdana" panose="020B0604030504040204" pitchFamily="34" charset="0"/>
              </a:rPr>
              <a:t>Q</a:t>
            </a:r>
            <a:r>
              <a:rPr lang="en-IN" b="0" i="0" baseline="-25000" dirty="0">
                <a:solidFill>
                  <a:srgbClr val="000000"/>
                </a:solidFill>
                <a:effectLst/>
                <a:latin typeface="Verdana" panose="020B0604030504040204" pitchFamily="34" charset="0"/>
              </a:rPr>
              <a:t>A</a:t>
            </a:r>
            <a:r>
              <a:rPr lang="en-IN" b="0" i="0" dirty="0">
                <a:solidFill>
                  <a:srgbClr val="000000"/>
                </a:solidFill>
                <a:effectLst/>
                <a:latin typeface="Verdana" panose="020B0604030504040204" pitchFamily="34" charset="0"/>
              </a:rPr>
              <a:t> = 00 initially</a:t>
            </a:r>
            <a:endParaRPr lang="en-IN" dirty="0"/>
          </a:p>
        </p:txBody>
      </p:sp>
      <p:sp>
        <p:nvSpPr>
          <p:cNvPr id="7" name="TextBox 6">
            <a:extLst>
              <a:ext uri="{FF2B5EF4-FFF2-40B4-BE49-F238E27FC236}">
                <a16:creationId xmlns="" xmlns:a16="http://schemas.microsoft.com/office/drawing/2014/main" id="{AF200F83-4329-33A1-F09B-1896F4ACDE6E}"/>
              </a:ext>
            </a:extLst>
          </p:cNvPr>
          <p:cNvSpPr txBox="1"/>
          <p:nvPr/>
        </p:nvSpPr>
        <p:spPr>
          <a:xfrm>
            <a:off x="5215035" y="1198187"/>
            <a:ext cx="6330820" cy="1384995"/>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As soon as the first negative clock edge is applied, FF-A will toggle and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will be equal to 1.</a:t>
            </a:r>
          </a:p>
          <a:p>
            <a:pPr algn="l"/>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is connected to clock input of FF-B. Since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has changed from 0 to 1, it is treated as the positive clock edge by FF-B. There is no change in 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 because FF-B is a negative edge triggered FF.</a:t>
            </a:r>
          </a:p>
          <a:p>
            <a:pPr algn="l"/>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 01 after the first clock pulse.</a:t>
            </a:r>
          </a:p>
        </p:txBody>
      </p:sp>
      <p:sp>
        <p:nvSpPr>
          <p:cNvPr id="9" name="TextBox 8">
            <a:extLst>
              <a:ext uri="{FF2B5EF4-FFF2-40B4-BE49-F238E27FC236}">
                <a16:creationId xmlns="" xmlns:a16="http://schemas.microsoft.com/office/drawing/2014/main" id="{813A4C3F-D61A-7952-E2D7-0C245A74C816}"/>
              </a:ext>
            </a:extLst>
          </p:cNvPr>
          <p:cNvSpPr txBox="1"/>
          <p:nvPr/>
        </p:nvSpPr>
        <p:spPr>
          <a:xfrm>
            <a:off x="562170" y="1618755"/>
            <a:ext cx="6330820"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After 1st negative clock edge</a:t>
            </a:r>
            <a:endParaRPr lang="en-IN" dirty="0"/>
          </a:p>
        </p:txBody>
      </p:sp>
      <p:sp>
        <p:nvSpPr>
          <p:cNvPr id="11" name="TextBox 10">
            <a:extLst>
              <a:ext uri="{FF2B5EF4-FFF2-40B4-BE49-F238E27FC236}">
                <a16:creationId xmlns="" xmlns:a16="http://schemas.microsoft.com/office/drawing/2014/main" id="{EAB4D60F-4A54-2134-4049-B063534C6235}"/>
              </a:ext>
            </a:extLst>
          </p:cNvPr>
          <p:cNvSpPr txBox="1"/>
          <p:nvPr/>
        </p:nvSpPr>
        <p:spPr>
          <a:xfrm>
            <a:off x="562170" y="2593954"/>
            <a:ext cx="6330820"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After 2nd negative clock edge</a:t>
            </a:r>
            <a:endParaRPr lang="en-IN" dirty="0"/>
          </a:p>
        </p:txBody>
      </p:sp>
      <p:sp>
        <p:nvSpPr>
          <p:cNvPr id="13" name="TextBox 12">
            <a:extLst>
              <a:ext uri="{FF2B5EF4-FFF2-40B4-BE49-F238E27FC236}">
                <a16:creationId xmlns="" xmlns:a16="http://schemas.microsoft.com/office/drawing/2014/main" id="{F417BEA8-6344-6A1F-63E0-201A3259A235}"/>
              </a:ext>
            </a:extLst>
          </p:cNvPr>
          <p:cNvSpPr txBox="1"/>
          <p:nvPr/>
        </p:nvSpPr>
        <p:spPr>
          <a:xfrm>
            <a:off x="5215035" y="2695929"/>
            <a:ext cx="6330820" cy="1169551"/>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On the arrival of second negative clock edge, FF-A toggles again and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 0.</a:t>
            </a:r>
          </a:p>
          <a:p>
            <a:pPr algn="l"/>
            <a:r>
              <a:rPr lang="en-US" sz="1400" b="0" i="0" dirty="0">
                <a:solidFill>
                  <a:srgbClr val="000000"/>
                </a:solidFill>
                <a:effectLst/>
                <a:latin typeface="Verdana" panose="020B0604030504040204" pitchFamily="34" charset="0"/>
              </a:rPr>
              <a:t>The change in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acts as a negative clock edge for FF-B. So it will also toggle, and 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 will be 1.</a:t>
            </a:r>
          </a:p>
          <a:p>
            <a:pPr algn="l"/>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 10 after the second clock pulse.</a:t>
            </a:r>
          </a:p>
        </p:txBody>
      </p:sp>
      <p:sp>
        <p:nvSpPr>
          <p:cNvPr id="15" name="TextBox 14">
            <a:extLst>
              <a:ext uri="{FF2B5EF4-FFF2-40B4-BE49-F238E27FC236}">
                <a16:creationId xmlns="" xmlns:a16="http://schemas.microsoft.com/office/drawing/2014/main" id="{45F09DF3-5891-23C4-F8B5-943ED39BEFAA}"/>
              </a:ext>
            </a:extLst>
          </p:cNvPr>
          <p:cNvSpPr txBox="1"/>
          <p:nvPr/>
        </p:nvSpPr>
        <p:spPr>
          <a:xfrm>
            <a:off x="562170" y="3865480"/>
            <a:ext cx="6330820" cy="2031325"/>
          </a:xfrm>
          <a:prstGeom prst="rect">
            <a:avLst/>
          </a:prstGeom>
          <a:noFill/>
        </p:spPr>
        <p:txBody>
          <a:bodyPr wrap="square">
            <a:spAutoFit/>
          </a:bodyPr>
          <a:lstStyle/>
          <a:p>
            <a:r>
              <a:rPr lang="en-US" b="1" i="0" dirty="0">
                <a:solidFill>
                  <a:srgbClr val="000000"/>
                </a:solidFill>
                <a:effectLst/>
                <a:latin typeface="Verdana" panose="020B0604030504040204" pitchFamily="34" charset="0"/>
              </a:rPr>
              <a:t>After 3rd negative clock edge</a:t>
            </a:r>
          </a:p>
          <a:p>
            <a:endParaRPr lang="en-US" b="1" dirty="0">
              <a:solidFill>
                <a:srgbClr val="000000"/>
              </a:solidFill>
              <a:latin typeface="Verdana" panose="020B0604030504040204" pitchFamily="34" charset="0"/>
            </a:endParaRPr>
          </a:p>
          <a:p>
            <a:endParaRPr lang="en-US" b="1" i="0" dirty="0">
              <a:solidFill>
                <a:srgbClr val="000000"/>
              </a:solidFill>
              <a:effectLst/>
              <a:latin typeface="Verdana" panose="020B0604030504040204" pitchFamily="34" charset="0"/>
            </a:endParaRPr>
          </a:p>
          <a:p>
            <a:endParaRPr lang="en-US" b="1" dirty="0">
              <a:solidFill>
                <a:srgbClr val="000000"/>
              </a:solidFill>
              <a:latin typeface="Verdana" panose="020B0604030504040204" pitchFamily="34" charset="0"/>
            </a:endParaRPr>
          </a:p>
          <a:p>
            <a:endParaRPr lang="en-US" b="1" i="0" dirty="0">
              <a:solidFill>
                <a:srgbClr val="000000"/>
              </a:solidFill>
              <a:effectLst/>
              <a:latin typeface="Verdana" panose="020B0604030504040204" pitchFamily="34" charset="0"/>
            </a:endParaRPr>
          </a:p>
          <a:p>
            <a:endParaRPr lang="en-US" b="1" dirty="0">
              <a:solidFill>
                <a:srgbClr val="000000"/>
              </a:solidFill>
              <a:latin typeface="Verdana" panose="020B0604030504040204" pitchFamily="34" charset="0"/>
            </a:endParaRPr>
          </a:p>
          <a:p>
            <a:r>
              <a:rPr lang="en-US" b="1" i="0" dirty="0">
                <a:solidFill>
                  <a:srgbClr val="000000"/>
                </a:solidFill>
                <a:effectLst/>
                <a:latin typeface="Verdana" panose="020B0604030504040204" pitchFamily="34" charset="0"/>
              </a:rPr>
              <a:t>After 3rd negative clock edge</a:t>
            </a:r>
            <a:endParaRPr lang="en-IN" dirty="0"/>
          </a:p>
        </p:txBody>
      </p:sp>
      <p:sp>
        <p:nvSpPr>
          <p:cNvPr id="17" name="TextBox 16">
            <a:extLst>
              <a:ext uri="{FF2B5EF4-FFF2-40B4-BE49-F238E27FC236}">
                <a16:creationId xmlns="" xmlns:a16="http://schemas.microsoft.com/office/drawing/2014/main" id="{22BBA607-35EB-0640-D5F5-80ADDA1CDC33}"/>
              </a:ext>
            </a:extLst>
          </p:cNvPr>
          <p:cNvSpPr txBox="1"/>
          <p:nvPr/>
        </p:nvSpPr>
        <p:spPr>
          <a:xfrm>
            <a:off x="5215035" y="3967455"/>
            <a:ext cx="6330820" cy="1446550"/>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On the arrival of 3rd negative clock edge, FF-A toggles again and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become 1 from 0.</a:t>
            </a:r>
          </a:p>
          <a:p>
            <a:pPr algn="l"/>
            <a:r>
              <a:rPr lang="en-US" sz="1400" b="0" i="0" dirty="0">
                <a:solidFill>
                  <a:srgbClr val="000000"/>
                </a:solidFill>
                <a:effectLst/>
                <a:latin typeface="Verdana" panose="020B0604030504040204" pitchFamily="34" charset="0"/>
              </a:rPr>
              <a:t>Since this is a positive going change, FF-B does not respond to it and remains inactive. So 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 does not change and continues to be equal to 1.</a:t>
            </a:r>
          </a:p>
          <a:p>
            <a:pPr algn="l"/>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 11 after the third clock pulse</a:t>
            </a:r>
            <a:r>
              <a:rPr lang="en-US" b="0" i="0" dirty="0">
                <a:solidFill>
                  <a:srgbClr val="000000"/>
                </a:solidFill>
                <a:effectLst/>
                <a:latin typeface="Verdana" panose="020B0604030504040204" pitchFamily="34" charset="0"/>
              </a:rPr>
              <a:t>.</a:t>
            </a:r>
          </a:p>
        </p:txBody>
      </p:sp>
      <p:sp>
        <p:nvSpPr>
          <p:cNvPr id="19" name="TextBox 18">
            <a:extLst>
              <a:ext uri="{FF2B5EF4-FFF2-40B4-BE49-F238E27FC236}">
                <a16:creationId xmlns="" xmlns:a16="http://schemas.microsoft.com/office/drawing/2014/main" id="{DBDFB880-3056-F0B2-5E65-1FD1BF2C3367}"/>
              </a:ext>
            </a:extLst>
          </p:cNvPr>
          <p:cNvSpPr txBox="1"/>
          <p:nvPr/>
        </p:nvSpPr>
        <p:spPr>
          <a:xfrm>
            <a:off x="5215035" y="5414004"/>
            <a:ext cx="6330820" cy="1169551"/>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On the arrival of 4th negative clock edge, FF-A toggles again and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becomes 1 from 0.</a:t>
            </a:r>
          </a:p>
          <a:p>
            <a:pPr algn="l"/>
            <a:r>
              <a:rPr lang="en-US" sz="1400" b="0" i="0" dirty="0">
                <a:solidFill>
                  <a:srgbClr val="000000"/>
                </a:solidFill>
                <a:effectLst/>
                <a:latin typeface="Verdana" panose="020B0604030504040204" pitchFamily="34" charset="0"/>
              </a:rPr>
              <a:t>This negative change in 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acts as clock pulse for FF-B. Hence it toggles to change 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 from 1 to 0.</a:t>
            </a:r>
          </a:p>
          <a:p>
            <a:pPr algn="l"/>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B</a:t>
            </a:r>
            <a:r>
              <a:rPr lang="en-US" sz="1400" b="0" i="0" dirty="0">
                <a:solidFill>
                  <a:srgbClr val="000000"/>
                </a:solidFill>
                <a:effectLst/>
                <a:latin typeface="Verdana" panose="020B0604030504040204" pitchFamily="34" charset="0"/>
              </a:rPr>
              <a:t>Q</a:t>
            </a:r>
            <a:r>
              <a:rPr lang="en-US" sz="1400" b="0" i="0" baseline="-25000" dirty="0">
                <a:solidFill>
                  <a:srgbClr val="000000"/>
                </a:solidFill>
                <a:effectLst/>
                <a:latin typeface="Verdana" panose="020B0604030504040204" pitchFamily="34" charset="0"/>
              </a:rPr>
              <a:t>A</a:t>
            </a:r>
            <a:r>
              <a:rPr lang="en-US" sz="1400" b="0" i="0" dirty="0">
                <a:solidFill>
                  <a:srgbClr val="000000"/>
                </a:solidFill>
                <a:effectLst/>
                <a:latin typeface="Verdana" panose="020B0604030504040204" pitchFamily="34" charset="0"/>
              </a:rPr>
              <a:t> = 00 after the fourth clock pulse.</a:t>
            </a:r>
          </a:p>
        </p:txBody>
      </p:sp>
    </p:spTree>
    <p:extLst>
      <p:ext uri="{BB962C8B-B14F-4D97-AF65-F5344CB8AC3E}">
        <p14:creationId xmlns:p14="http://schemas.microsoft.com/office/powerpoint/2010/main" val="870323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44A8479-B6D2-DEA2-89A0-F0DF666E5AAC}"/>
              </a:ext>
            </a:extLst>
          </p:cNvPr>
          <p:cNvPicPr>
            <a:picLocks noChangeAspect="1"/>
          </p:cNvPicPr>
          <p:nvPr/>
        </p:nvPicPr>
        <p:blipFill>
          <a:blip r:embed="rId2"/>
          <a:stretch>
            <a:fillRect/>
          </a:stretch>
        </p:blipFill>
        <p:spPr>
          <a:xfrm>
            <a:off x="1446245" y="2407791"/>
            <a:ext cx="7269162" cy="4117423"/>
          </a:xfrm>
          <a:prstGeom prst="rect">
            <a:avLst/>
          </a:prstGeom>
        </p:spPr>
      </p:pic>
    </p:spTree>
    <p:extLst>
      <p:ext uri="{BB962C8B-B14F-4D97-AF65-F5344CB8AC3E}">
        <p14:creationId xmlns:p14="http://schemas.microsoft.com/office/powerpoint/2010/main" val="383754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BEDE53-4106-F51B-350D-EABE200116A1}"/>
              </a:ext>
            </a:extLst>
          </p:cNvPr>
          <p:cNvSpPr>
            <a:spLocks noGrp="1"/>
          </p:cNvSpPr>
          <p:nvPr>
            <p:ph type="title"/>
          </p:nvPr>
        </p:nvSpPr>
        <p:spPr/>
        <p:txBody>
          <a:bodyPr>
            <a:normAutofit fontScale="90000"/>
          </a:bodyPr>
          <a:lstStyle/>
          <a:p>
            <a:pPr algn="l"/>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
            </a:r>
            <a:br>
              <a:rPr lang="en-US" b="0" i="0" dirty="0">
                <a:solidFill>
                  <a:srgbClr val="000000"/>
                </a:solidFill>
                <a:effectLst/>
                <a:latin typeface="var(--ff-lato)"/>
              </a:rPr>
            </a:br>
            <a:r>
              <a:rPr lang="en-US" b="0" i="0" dirty="0">
                <a:solidFill>
                  <a:srgbClr val="000000"/>
                </a:solidFill>
                <a:effectLst/>
                <a:latin typeface="var(--ff-lato)"/>
              </a:rPr>
              <a:t>Synchronous counters:</a:t>
            </a:r>
            <a:br>
              <a:rPr lang="en-US" b="0" i="0" dirty="0">
                <a:solidFill>
                  <a:srgbClr val="000000"/>
                </a:solidFill>
                <a:effectLst/>
                <a:latin typeface="var(--ff-lato)"/>
              </a:rPr>
            </a:br>
            <a:r>
              <a:rPr lang="en-US" sz="3100" b="0" i="0" dirty="0">
                <a:solidFill>
                  <a:srgbClr val="000000"/>
                </a:solidFill>
                <a:effectLst/>
                <a:latin typeface="Verdana" panose="020B0604030504040204" pitchFamily="34" charset="0"/>
              </a:rPr>
              <a:t>If the "clock" pulses are applied to all the flip-flops in a counter simultaneously, then such a counter is called as synchronous counter.</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2200" b="1" i="0" dirty="0">
                <a:solidFill>
                  <a:srgbClr val="000000"/>
                </a:solidFill>
                <a:effectLst/>
                <a:latin typeface="var(--ff-lato)"/>
              </a:rPr>
              <a:t>Classification of counters</a:t>
            </a:r>
            <a:r>
              <a:rPr lang="en-US" sz="2200" b="0" i="0" dirty="0">
                <a:solidFill>
                  <a:srgbClr val="000000"/>
                </a:solidFill>
                <a:effectLst/>
                <a:latin typeface="var(--ff-lato)"/>
              </a:rPr>
              <a:t/>
            </a:r>
            <a:br>
              <a:rPr lang="en-US" sz="2200" b="0" i="0" dirty="0">
                <a:solidFill>
                  <a:srgbClr val="000000"/>
                </a:solidFill>
                <a:effectLst/>
                <a:latin typeface="var(--ff-lato)"/>
              </a:rPr>
            </a:br>
            <a:r>
              <a:rPr lang="en-US" sz="2200" b="0" i="0" dirty="0">
                <a:solidFill>
                  <a:srgbClr val="000000"/>
                </a:solidFill>
                <a:effectLst/>
                <a:latin typeface="Verdana" panose="020B0604030504040204" pitchFamily="34" charset="0"/>
              </a:rPr>
              <a:t>Depending on the way in which the counting progresses, the synchronous or asynchronous counters are classified as follows −</a:t>
            </a:r>
            <a:br>
              <a:rPr lang="en-US" sz="2200" b="0" i="0" dirty="0">
                <a:solidFill>
                  <a:srgbClr val="000000"/>
                </a:solidFill>
                <a:effectLst/>
                <a:latin typeface="Verdana" panose="020B0604030504040204" pitchFamily="34" charset="0"/>
              </a:rPr>
            </a:br>
            <a:r>
              <a:rPr lang="en-US" sz="2200" b="0" i="0" dirty="0">
                <a:solidFill>
                  <a:srgbClr val="000000"/>
                </a:solidFill>
                <a:effectLst/>
                <a:latin typeface="Verdana" panose="020B0604030504040204" pitchFamily="34" charset="0"/>
              </a:rPr>
              <a:t>1. Up counters</a:t>
            </a:r>
            <a:br>
              <a:rPr lang="en-US" sz="2200" b="0" i="0" dirty="0">
                <a:solidFill>
                  <a:srgbClr val="000000"/>
                </a:solidFill>
                <a:effectLst/>
                <a:latin typeface="Verdana" panose="020B0604030504040204" pitchFamily="34" charset="0"/>
              </a:rPr>
            </a:br>
            <a:r>
              <a:rPr lang="en-US" sz="2200" b="0" i="0" dirty="0">
                <a:solidFill>
                  <a:srgbClr val="000000"/>
                </a:solidFill>
                <a:effectLst/>
                <a:latin typeface="Verdana" panose="020B0604030504040204" pitchFamily="34" charset="0"/>
              </a:rPr>
              <a:t>2. Down counters</a:t>
            </a:r>
            <a:br>
              <a:rPr lang="en-US" sz="2200" b="0" i="0" dirty="0">
                <a:solidFill>
                  <a:srgbClr val="000000"/>
                </a:solidFill>
                <a:effectLst/>
                <a:latin typeface="Verdana" panose="020B0604030504040204" pitchFamily="34" charset="0"/>
              </a:rPr>
            </a:br>
            <a:r>
              <a:rPr lang="en-US" sz="2200" b="0" i="0" dirty="0">
                <a:solidFill>
                  <a:srgbClr val="000000"/>
                </a:solidFill>
                <a:effectLst/>
                <a:latin typeface="Verdana" panose="020B0604030504040204" pitchFamily="34" charset="0"/>
              </a:rPr>
              <a:t>3. Up/Down counters</a:t>
            </a:r>
            <a:br>
              <a:rPr lang="en-US" sz="2200" b="0" i="0" dirty="0">
                <a:solidFill>
                  <a:srgbClr val="000000"/>
                </a:solidFill>
                <a:effectLst/>
                <a:latin typeface="Verdana" panose="020B0604030504040204" pitchFamily="34" charset="0"/>
              </a:rPr>
            </a:br>
            <a:r>
              <a:rPr lang="en-US" sz="2200" b="0" i="0" dirty="0">
                <a:solidFill>
                  <a:srgbClr val="000000"/>
                </a:solidFill>
                <a:effectLst/>
                <a:latin typeface="Verdana" panose="020B0604030504040204" pitchFamily="34" charset="0"/>
              </a:rPr>
              <a:t/>
            </a:r>
            <a:br>
              <a:rPr lang="en-US" sz="22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r>
              <a:rPr lang="en-US" sz="3100" b="0" i="0" dirty="0">
                <a:solidFill>
                  <a:srgbClr val="000000"/>
                </a:solidFill>
                <a:effectLst/>
                <a:latin typeface="Verdana" panose="020B0604030504040204" pitchFamily="34" charset="0"/>
              </a:rPr>
              <a:t/>
            </a:r>
            <a:br>
              <a:rPr lang="en-US" sz="3100" b="0" i="0" dirty="0">
                <a:solidFill>
                  <a:srgbClr val="000000"/>
                </a:solidFill>
                <a:effectLst/>
                <a:latin typeface="Verdana" panose="020B0604030504040204" pitchFamily="34" charset="0"/>
              </a:rPr>
            </a:br>
            <a:endParaRPr lang="en-IN" sz="3100" dirty="0"/>
          </a:p>
        </p:txBody>
      </p:sp>
      <p:pic>
        <p:nvPicPr>
          <p:cNvPr id="14" name="Picture 13">
            <a:extLst>
              <a:ext uri="{FF2B5EF4-FFF2-40B4-BE49-F238E27FC236}">
                <a16:creationId xmlns="" xmlns:a16="http://schemas.microsoft.com/office/drawing/2014/main" id="{11469A53-1A3E-4D9F-C367-67697CC8D790}"/>
              </a:ext>
            </a:extLst>
          </p:cNvPr>
          <p:cNvPicPr>
            <a:picLocks noChangeAspect="1"/>
          </p:cNvPicPr>
          <p:nvPr/>
        </p:nvPicPr>
        <p:blipFill>
          <a:blip r:embed="rId2"/>
          <a:stretch>
            <a:fillRect/>
          </a:stretch>
        </p:blipFill>
        <p:spPr>
          <a:xfrm>
            <a:off x="3919279" y="2329672"/>
            <a:ext cx="4633362" cy="2385267"/>
          </a:xfrm>
          <a:prstGeom prst="rect">
            <a:avLst/>
          </a:prstGeom>
        </p:spPr>
      </p:pic>
    </p:spTree>
    <p:extLst>
      <p:ext uri="{BB962C8B-B14F-4D97-AF65-F5344CB8AC3E}">
        <p14:creationId xmlns:p14="http://schemas.microsoft.com/office/powerpoint/2010/main" val="2502391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D49927E-0887-2D94-5C11-A948C87CA903}"/>
              </a:ext>
            </a:extLst>
          </p:cNvPr>
          <p:cNvSpPr txBox="1"/>
          <p:nvPr/>
        </p:nvSpPr>
        <p:spPr>
          <a:xfrm>
            <a:off x="867746" y="363894"/>
            <a:ext cx="10748865" cy="3724096"/>
          </a:xfrm>
          <a:prstGeom prst="rect">
            <a:avLst/>
          </a:prstGeom>
          <a:noFill/>
        </p:spPr>
        <p:txBody>
          <a:bodyPr wrap="square">
            <a:spAutoFit/>
          </a:bodyPr>
          <a:lstStyle/>
          <a:p>
            <a:pPr algn="l"/>
            <a:r>
              <a:rPr lang="en-US" b="1" i="0" dirty="0">
                <a:solidFill>
                  <a:srgbClr val="000000"/>
                </a:solidFill>
                <a:effectLst/>
                <a:latin typeface="var(--ff-lato)"/>
              </a:rPr>
              <a:t>Modulus Counter (MOD-N Counter)</a:t>
            </a:r>
          </a:p>
          <a:p>
            <a:pPr algn="l"/>
            <a:r>
              <a:rPr lang="en-US" sz="2000" b="0" i="0" dirty="0">
                <a:solidFill>
                  <a:srgbClr val="000000"/>
                </a:solidFill>
                <a:effectLst/>
                <a:latin typeface="Verdana" panose="020B0604030504040204" pitchFamily="34" charset="0"/>
              </a:rPr>
              <a:t>The 2-bit ripple counter is called as MOD-4 counter and 3-bit ripple counter is called as MOD-8 counter. So in general, an n-bit ripple counter is called as modulo-N counter. Where, MOD number = 2</a:t>
            </a:r>
            <a:r>
              <a:rPr lang="en-US" sz="2000" b="0" i="0" baseline="30000" dirty="0">
                <a:solidFill>
                  <a:srgbClr val="000000"/>
                </a:solidFill>
                <a:effectLst/>
                <a:latin typeface="Verdana" panose="020B0604030504040204" pitchFamily="34" charset="0"/>
              </a:rPr>
              <a:t>n</a:t>
            </a:r>
            <a:r>
              <a:rPr lang="en-US" sz="2000" b="0" i="0" dirty="0">
                <a:solidFill>
                  <a:srgbClr val="000000"/>
                </a:solidFill>
                <a:effectLst/>
                <a:latin typeface="Verdana" panose="020B0604030504040204" pitchFamily="34" charset="0"/>
              </a:rPr>
              <a:t>.</a:t>
            </a:r>
          </a:p>
          <a:p>
            <a:pPr algn="l"/>
            <a:endParaRPr lang="en-US" sz="2000" b="0" i="0" dirty="0">
              <a:effectLst/>
              <a:latin typeface="Verdana" panose="020B0604030504040204" pitchFamily="34" charset="0"/>
            </a:endParaRPr>
          </a:p>
          <a:p>
            <a:pPr algn="l"/>
            <a:r>
              <a:rPr lang="en-US" sz="2000" b="0" i="0" dirty="0">
                <a:effectLst/>
                <a:latin typeface="Verdana" panose="020B0604030504040204" pitchFamily="34" charset="0"/>
              </a:rPr>
              <a:t>Type of modulus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2-bit up or down (MOD-4)</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3-bit up or down (MOD-8)</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4-bit up or down (MOD-16)</a:t>
            </a:r>
          </a:p>
          <a:p>
            <a:pPr algn="l">
              <a:buFont typeface="Arial" panose="020B0604020202020204" pitchFamily="34" charset="0"/>
              <a:buChar char="•"/>
            </a:pPr>
            <a:endParaRPr lang="en-US" sz="2000" dirty="0">
              <a:solidFill>
                <a:srgbClr val="000000"/>
              </a:solidFill>
              <a:latin typeface="Verdana" panose="020B0604030504040204" pitchFamily="34" charset="0"/>
            </a:endParaRPr>
          </a:p>
          <a:p>
            <a:pPr algn="l">
              <a:buFont typeface="Arial" panose="020B0604020202020204" pitchFamily="34" charset="0"/>
              <a:buChar char="•"/>
            </a:pPr>
            <a:endParaRPr lang="en-US" sz="2000" b="0" i="0" dirty="0">
              <a:solidFill>
                <a:srgbClr val="000000"/>
              </a:solidFill>
              <a:effectLst/>
              <a:latin typeface="Verdana" panose="020B0604030504040204" pitchFamily="34" charset="0"/>
            </a:endParaRPr>
          </a:p>
          <a:p>
            <a:pPr algn="l"/>
            <a:endParaRPr lang="en-US" b="0" i="0" dirty="0">
              <a:solidFill>
                <a:srgbClr val="000000"/>
              </a:solidFill>
              <a:effectLst/>
              <a:latin typeface="Verdana" panose="020B0604030504040204" pitchFamily="34" charset="0"/>
            </a:endParaRPr>
          </a:p>
        </p:txBody>
      </p:sp>
      <p:sp>
        <p:nvSpPr>
          <p:cNvPr id="5" name="TextBox 4">
            <a:extLst>
              <a:ext uri="{FF2B5EF4-FFF2-40B4-BE49-F238E27FC236}">
                <a16:creationId xmlns="" xmlns:a16="http://schemas.microsoft.com/office/drawing/2014/main" id="{692B0B0A-B0F0-3DF7-A812-DE2E21D8F7F7}"/>
              </a:ext>
            </a:extLst>
          </p:cNvPr>
          <p:cNvSpPr txBox="1"/>
          <p:nvPr/>
        </p:nvSpPr>
        <p:spPr>
          <a:xfrm>
            <a:off x="867746" y="3618102"/>
            <a:ext cx="8304246" cy="2215991"/>
          </a:xfrm>
          <a:prstGeom prst="rect">
            <a:avLst/>
          </a:prstGeom>
          <a:noFill/>
        </p:spPr>
        <p:txBody>
          <a:bodyPr wrap="square">
            <a:spAutoFit/>
          </a:bodyPr>
          <a:lstStyle/>
          <a:p>
            <a:pPr algn="l"/>
            <a:r>
              <a:rPr lang="en-US" b="1" i="0" dirty="0">
                <a:solidFill>
                  <a:srgbClr val="000000"/>
                </a:solidFill>
                <a:effectLst/>
                <a:latin typeface="var(--ff-lato)"/>
              </a:rPr>
              <a:t>Application of counters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Frequency counters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Digital clock</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Time measurement</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A to D converter</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Frequency divider circuits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Digital triangular wave generator</a:t>
            </a:r>
            <a:r>
              <a:rPr lang="en-US" b="0" i="0" dirty="0">
                <a:solidFill>
                  <a:srgbClr val="000000"/>
                </a:solidFill>
                <a:effectLst/>
                <a:latin typeface="Verdana" panose="020B0604030504040204" pitchFamily="34" charset="0"/>
              </a:rPr>
              <a:t>.</a:t>
            </a:r>
          </a:p>
        </p:txBody>
      </p:sp>
    </p:spTree>
    <p:extLst>
      <p:ext uri="{BB962C8B-B14F-4D97-AF65-F5344CB8AC3E}">
        <p14:creationId xmlns:p14="http://schemas.microsoft.com/office/powerpoint/2010/main" val="163574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6E2CC96-2520-119D-BE27-6BF5CB9D38DE}"/>
              </a:ext>
            </a:extLst>
          </p:cNvPr>
          <p:cNvPicPr>
            <a:picLocks noChangeAspect="1"/>
          </p:cNvPicPr>
          <p:nvPr/>
        </p:nvPicPr>
        <p:blipFill>
          <a:blip r:embed="rId2"/>
          <a:stretch>
            <a:fillRect/>
          </a:stretch>
        </p:blipFill>
        <p:spPr>
          <a:xfrm>
            <a:off x="1175657" y="544580"/>
            <a:ext cx="8509674" cy="6838454"/>
          </a:xfrm>
          <a:prstGeom prst="rect">
            <a:avLst/>
          </a:prstGeom>
        </p:spPr>
      </p:pic>
    </p:spTree>
    <p:extLst>
      <p:ext uri="{BB962C8B-B14F-4D97-AF65-F5344CB8AC3E}">
        <p14:creationId xmlns:p14="http://schemas.microsoft.com/office/powerpoint/2010/main" val="171243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3742" y="247001"/>
            <a:ext cx="7776882" cy="923330"/>
          </a:xfrm>
          <a:prstGeom prst="rect">
            <a:avLst/>
          </a:prstGeom>
        </p:spPr>
        <p:txBody>
          <a:bodyPr wrap="square">
            <a:spAutoFit/>
          </a:bodyPr>
          <a:lstStyle/>
          <a:p>
            <a:r>
              <a:rPr lang="en-US" dirty="0">
                <a:solidFill>
                  <a:srgbClr val="000000"/>
                </a:solidFill>
                <a:latin typeface="Lato"/>
              </a:rPr>
              <a:t>Synchronous Counters are </a:t>
            </a:r>
            <a:r>
              <a:rPr lang="en-US" dirty="0" smtClean="0">
                <a:solidFill>
                  <a:srgbClr val="000000"/>
                </a:solidFill>
                <a:latin typeface="Lato"/>
              </a:rPr>
              <a:t>circuits where the </a:t>
            </a:r>
            <a:r>
              <a:rPr lang="en-US" dirty="0">
                <a:solidFill>
                  <a:srgbClr val="000000"/>
                </a:solidFill>
                <a:latin typeface="Lato"/>
              </a:rPr>
              <a:t>clock input of all the individual flip-flops within the counter are all clocked together at the same time by the same clock signal</a:t>
            </a:r>
            <a:endParaRPr lang="en-IN" dirty="0"/>
          </a:p>
        </p:txBody>
      </p:sp>
      <p:pic>
        <p:nvPicPr>
          <p:cNvPr id="3" name="Picture 2"/>
          <p:cNvPicPr>
            <a:picLocks noChangeAspect="1"/>
          </p:cNvPicPr>
          <p:nvPr/>
        </p:nvPicPr>
        <p:blipFill>
          <a:blip r:embed="rId2"/>
          <a:stretch>
            <a:fillRect/>
          </a:stretch>
        </p:blipFill>
        <p:spPr>
          <a:xfrm>
            <a:off x="1052792" y="1966633"/>
            <a:ext cx="9005608" cy="3777428"/>
          </a:xfrm>
          <a:prstGeom prst="rect">
            <a:avLst/>
          </a:prstGeom>
        </p:spPr>
      </p:pic>
    </p:spTree>
    <p:extLst>
      <p:ext uri="{BB962C8B-B14F-4D97-AF65-F5344CB8AC3E}">
        <p14:creationId xmlns:p14="http://schemas.microsoft.com/office/powerpoint/2010/main" val="3066269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3070" y="684162"/>
            <a:ext cx="11120717" cy="5078313"/>
          </a:xfrm>
          <a:prstGeom prst="rect">
            <a:avLst/>
          </a:prstGeom>
        </p:spPr>
        <p:txBody>
          <a:bodyPr wrap="square">
            <a:spAutoFit/>
          </a:bodyPr>
          <a:lstStyle/>
          <a:p>
            <a:r>
              <a:rPr lang="en-US" b="1" dirty="0" smtClean="0">
                <a:solidFill>
                  <a:srgbClr val="414042"/>
                </a:solidFill>
                <a:latin typeface="Lato"/>
              </a:rPr>
              <a:t>The </a:t>
            </a:r>
            <a:r>
              <a:rPr lang="en-US" b="1" dirty="0">
                <a:solidFill>
                  <a:srgbClr val="414042"/>
                </a:solidFill>
                <a:latin typeface="Lato"/>
              </a:rPr>
              <a:t>external clock pulses (pulses to be counted) are fed directly to each of the </a:t>
            </a:r>
            <a:r>
              <a:rPr lang="en-US" b="1" dirty="0">
                <a:solidFill>
                  <a:srgbClr val="414042"/>
                </a:solidFill>
                <a:latin typeface="Lato"/>
                <a:hlinkClick r:id="rId2"/>
              </a:rPr>
              <a:t>J-K flip-flops</a:t>
            </a:r>
            <a:r>
              <a:rPr lang="en-US" b="1" dirty="0">
                <a:solidFill>
                  <a:srgbClr val="414042"/>
                </a:solidFill>
                <a:latin typeface="Lato"/>
              </a:rPr>
              <a:t> in the counter chain and that both the </a:t>
            </a:r>
            <a:r>
              <a:rPr lang="en-US" b="1" dirty="0">
                <a:solidFill>
                  <a:srgbClr val="414143"/>
                </a:solidFill>
                <a:latin typeface="Lato"/>
              </a:rPr>
              <a:t>J</a:t>
            </a:r>
            <a:r>
              <a:rPr lang="en-US" b="1" dirty="0">
                <a:solidFill>
                  <a:srgbClr val="414042"/>
                </a:solidFill>
                <a:latin typeface="Lato"/>
              </a:rPr>
              <a:t> and </a:t>
            </a:r>
            <a:r>
              <a:rPr lang="en-US" b="1" dirty="0">
                <a:solidFill>
                  <a:srgbClr val="414143"/>
                </a:solidFill>
                <a:latin typeface="Lato"/>
              </a:rPr>
              <a:t>K</a:t>
            </a:r>
            <a:r>
              <a:rPr lang="en-US" b="1" dirty="0">
                <a:solidFill>
                  <a:srgbClr val="414042"/>
                </a:solidFill>
                <a:latin typeface="Lato"/>
              </a:rPr>
              <a:t> inputs are all tied together in toggle mode, but only in the first flip-flop, flip-flop </a:t>
            </a:r>
            <a:r>
              <a:rPr lang="en-US" b="1" dirty="0">
                <a:solidFill>
                  <a:srgbClr val="414143"/>
                </a:solidFill>
                <a:latin typeface="Lato"/>
              </a:rPr>
              <a:t>FFA</a:t>
            </a:r>
            <a:r>
              <a:rPr lang="en-US" b="1" dirty="0">
                <a:solidFill>
                  <a:srgbClr val="414042"/>
                </a:solidFill>
                <a:latin typeface="Lato"/>
              </a:rPr>
              <a:t> (LSB) are they connected HIGH, logic “1” allowing the flip-flop to toggle on every clock pulse. Then the synchronous counter follows a predetermined sequence of states in response to the common clock signal, advancing one state for each pulse</a:t>
            </a:r>
            <a:r>
              <a:rPr lang="en-US" b="1" dirty="0" smtClean="0">
                <a:solidFill>
                  <a:srgbClr val="414042"/>
                </a:solidFill>
                <a:latin typeface="Lato"/>
              </a:rPr>
              <a:t>.</a:t>
            </a:r>
          </a:p>
          <a:p>
            <a:endParaRPr lang="en-US" b="1" dirty="0">
              <a:solidFill>
                <a:srgbClr val="414042"/>
              </a:solidFill>
              <a:latin typeface="Lato"/>
            </a:endParaRPr>
          </a:p>
          <a:p>
            <a:r>
              <a:rPr lang="en-US" b="1" dirty="0">
                <a:solidFill>
                  <a:srgbClr val="414042"/>
                </a:solidFill>
                <a:latin typeface="Lato"/>
              </a:rPr>
              <a:t>The </a:t>
            </a:r>
            <a:r>
              <a:rPr lang="en-US" b="1" dirty="0">
                <a:solidFill>
                  <a:srgbClr val="414143"/>
                </a:solidFill>
                <a:latin typeface="Lato"/>
              </a:rPr>
              <a:t>J</a:t>
            </a:r>
            <a:r>
              <a:rPr lang="en-US" b="1" dirty="0">
                <a:solidFill>
                  <a:srgbClr val="414042"/>
                </a:solidFill>
                <a:latin typeface="Lato"/>
              </a:rPr>
              <a:t> and </a:t>
            </a:r>
            <a:r>
              <a:rPr lang="en-US" b="1" dirty="0">
                <a:solidFill>
                  <a:srgbClr val="414143"/>
                </a:solidFill>
                <a:latin typeface="Lato"/>
              </a:rPr>
              <a:t>K</a:t>
            </a:r>
            <a:r>
              <a:rPr lang="en-US" b="1" dirty="0">
                <a:solidFill>
                  <a:srgbClr val="414042"/>
                </a:solidFill>
                <a:latin typeface="Lato"/>
              </a:rPr>
              <a:t> inputs of flip-flop </a:t>
            </a:r>
            <a:r>
              <a:rPr lang="en-US" b="1" dirty="0">
                <a:solidFill>
                  <a:srgbClr val="414143"/>
                </a:solidFill>
                <a:latin typeface="Lato"/>
              </a:rPr>
              <a:t>FFB</a:t>
            </a:r>
            <a:r>
              <a:rPr lang="en-US" b="1" dirty="0">
                <a:solidFill>
                  <a:srgbClr val="414042"/>
                </a:solidFill>
                <a:latin typeface="Lato"/>
              </a:rPr>
              <a:t> are connected directly to the output </a:t>
            </a:r>
            <a:r>
              <a:rPr lang="en-US" b="1" dirty="0">
                <a:solidFill>
                  <a:srgbClr val="414143"/>
                </a:solidFill>
                <a:latin typeface="Lato"/>
              </a:rPr>
              <a:t>Q</a:t>
            </a:r>
            <a:r>
              <a:rPr lang="en-US" b="1" baseline="-25000" dirty="0">
                <a:solidFill>
                  <a:srgbClr val="414143"/>
                </a:solidFill>
                <a:latin typeface="Lato"/>
              </a:rPr>
              <a:t>A</a:t>
            </a:r>
            <a:r>
              <a:rPr lang="en-US" b="1" dirty="0">
                <a:solidFill>
                  <a:srgbClr val="414042"/>
                </a:solidFill>
                <a:latin typeface="Lato"/>
              </a:rPr>
              <a:t> of flip-flop </a:t>
            </a:r>
            <a:r>
              <a:rPr lang="en-US" b="1" dirty="0">
                <a:solidFill>
                  <a:srgbClr val="414143"/>
                </a:solidFill>
                <a:latin typeface="Lato"/>
              </a:rPr>
              <a:t>FFA</a:t>
            </a:r>
            <a:r>
              <a:rPr lang="en-US" b="1" dirty="0">
                <a:solidFill>
                  <a:srgbClr val="414042"/>
                </a:solidFill>
                <a:latin typeface="Lato"/>
              </a:rPr>
              <a:t>, but the </a:t>
            </a:r>
            <a:r>
              <a:rPr lang="en-US" b="1" dirty="0">
                <a:solidFill>
                  <a:srgbClr val="414143"/>
                </a:solidFill>
                <a:latin typeface="Lato"/>
              </a:rPr>
              <a:t>J</a:t>
            </a:r>
            <a:r>
              <a:rPr lang="en-US" b="1" dirty="0">
                <a:solidFill>
                  <a:srgbClr val="414042"/>
                </a:solidFill>
                <a:latin typeface="Lato"/>
              </a:rPr>
              <a:t> and </a:t>
            </a:r>
            <a:r>
              <a:rPr lang="en-US" b="1" dirty="0">
                <a:solidFill>
                  <a:srgbClr val="414143"/>
                </a:solidFill>
                <a:latin typeface="Lato"/>
              </a:rPr>
              <a:t>K</a:t>
            </a:r>
            <a:r>
              <a:rPr lang="en-US" b="1" dirty="0">
                <a:solidFill>
                  <a:srgbClr val="414042"/>
                </a:solidFill>
                <a:latin typeface="Lato"/>
              </a:rPr>
              <a:t> inputs of flip-flops </a:t>
            </a:r>
            <a:r>
              <a:rPr lang="en-US" b="1" dirty="0">
                <a:solidFill>
                  <a:srgbClr val="414143"/>
                </a:solidFill>
                <a:latin typeface="Lato"/>
              </a:rPr>
              <a:t>FFC</a:t>
            </a:r>
            <a:r>
              <a:rPr lang="en-US" b="1" dirty="0">
                <a:solidFill>
                  <a:srgbClr val="414042"/>
                </a:solidFill>
                <a:latin typeface="Lato"/>
              </a:rPr>
              <a:t> and </a:t>
            </a:r>
            <a:r>
              <a:rPr lang="en-US" b="1" dirty="0">
                <a:solidFill>
                  <a:srgbClr val="414143"/>
                </a:solidFill>
                <a:latin typeface="Lato"/>
              </a:rPr>
              <a:t>FFD</a:t>
            </a:r>
            <a:r>
              <a:rPr lang="en-US" b="1" dirty="0">
                <a:solidFill>
                  <a:srgbClr val="414042"/>
                </a:solidFill>
                <a:latin typeface="Lato"/>
              </a:rPr>
              <a:t> are driven from separate </a:t>
            </a:r>
            <a:r>
              <a:rPr lang="en-US" b="1" dirty="0">
                <a:solidFill>
                  <a:srgbClr val="414143"/>
                </a:solidFill>
                <a:latin typeface="Lato"/>
              </a:rPr>
              <a:t>AND</a:t>
            </a:r>
            <a:r>
              <a:rPr lang="en-US" b="1" dirty="0">
                <a:solidFill>
                  <a:srgbClr val="414042"/>
                </a:solidFill>
                <a:latin typeface="Lato"/>
              </a:rPr>
              <a:t> gates which are also supplied with signals from the input and output of the previous stage. These additional </a:t>
            </a:r>
            <a:r>
              <a:rPr lang="en-US" b="1" dirty="0">
                <a:solidFill>
                  <a:srgbClr val="414143"/>
                </a:solidFill>
                <a:latin typeface="Lato"/>
              </a:rPr>
              <a:t>AND</a:t>
            </a:r>
            <a:r>
              <a:rPr lang="en-US" b="1" dirty="0">
                <a:solidFill>
                  <a:srgbClr val="414042"/>
                </a:solidFill>
                <a:latin typeface="Lato"/>
              </a:rPr>
              <a:t> gates generate the required logic for the JK inputs of the next stage</a:t>
            </a:r>
            <a:r>
              <a:rPr lang="en-US" b="1" dirty="0" smtClean="0">
                <a:solidFill>
                  <a:srgbClr val="414042"/>
                </a:solidFill>
                <a:latin typeface="Lato"/>
              </a:rPr>
              <a:t>.</a:t>
            </a:r>
          </a:p>
          <a:p>
            <a:endParaRPr lang="en-US" b="1" dirty="0">
              <a:solidFill>
                <a:srgbClr val="414042"/>
              </a:solidFill>
              <a:latin typeface="Lato"/>
            </a:endParaRPr>
          </a:p>
          <a:p>
            <a:r>
              <a:rPr lang="en-US" b="1" dirty="0">
                <a:solidFill>
                  <a:srgbClr val="414042"/>
                </a:solidFill>
                <a:latin typeface="Lato"/>
              </a:rPr>
              <a:t>If we enable each JK flip-flop to toggle based on whether or not all preceding flip-flop outputs (</a:t>
            </a:r>
            <a:r>
              <a:rPr lang="en-US" b="1" dirty="0">
                <a:solidFill>
                  <a:srgbClr val="414143"/>
                </a:solidFill>
                <a:latin typeface="Lato"/>
              </a:rPr>
              <a:t>Q</a:t>
            </a:r>
            <a:r>
              <a:rPr lang="en-US" b="1" dirty="0">
                <a:solidFill>
                  <a:srgbClr val="414042"/>
                </a:solidFill>
                <a:latin typeface="Lato"/>
              </a:rPr>
              <a:t>) are “HIGH” we can obtain the same counting sequence as with the asynchronous circuit but without the ripple effect, since each flip-flop in this circuit will be clocked at exactly the same time</a:t>
            </a:r>
            <a:r>
              <a:rPr lang="en-US" b="1" dirty="0" smtClean="0">
                <a:solidFill>
                  <a:srgbClr val="414042"/>
                </a:solidFill>
                <a:latin typeface="Lato"/>
              </a:rPr>
              <a:t>.</a:t>
            </a:r>
          </a:p>
          <a:p>
            <a:endParaRPr lang="en-US" b="1" dirty="0">
              <a:solidFill>
                <a:srgbClr val="414042"/>
              </a:solidFill>
              <a:latin typeface="Lato"/>
            </a:endParaRPr>
          </a:p>
          <a:p>
            <a:r>
              <a:rPr lang="en-US" b="1" dirty="0">
                <a:solidFill>
                  <a:srgbClr val="414042"/>
                </a:solidFill>
                <a:latin typeface="Lato"/>
              </a:rPr>
              <a:t>Then as there is no inherent propagation delay in synchronous counters, because all the counter stages are triggered in parallel at the same time, the maximum operating frequency of this type of frequency counter is much higher than that for a similar asynchronous counter circuit.</a:t>
            </a:r>
            <a:endParaRPr lang="en-US" b="1" i="0" dirty="0">
              <a:solidFill>
                <a:srgbClr val="414042"/>
              </a:solidFill>
              <a:effectLst/>
              <a:latin typeface="Lato"/>
            </a:endParaRPr>
          </a:p>
        </p:txBody>
      </p:sp>
    </p:spTree>
    <p:extLst>
      <p:ext uri="{BB962C8B-B14F-4D97-AF65-F5344CB8AC3E}">
        <p14:creationId xmlns:p14="http://schemas.microsoft.com/office/powerpoint/2010/main" val="2913263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4060" y="1624012"/>
            <a:ext cx="8531878" cy="4652636"/>
          </a:xfrm>
          <a:prstGeom prst="rect">
            <a:avLst/>
          </a:prstGeom>
        </p:spPr>
      </p:pic>
    </p:spTree>
    <p:extLst>
      <p:ext uri="{BB962C8B-B14F-4D97-AF65-F5344CB8AC3E}">
        <p14:creationId xmlns:p14="http://schemas.microsoft.com/office/powerpoint/2010/main" val="2146663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6468" y="391560"/>
            <a:ext cx="9586174" cy="369332"/>
          </a:xfrm>
          <a:prstGeom prst="rect">
            <a:avLst/>
          </a:prstGeom>
        </p:spPr>
        <p:txBody>
          <a:bodyPr wrap="square">
            <a:spAutoFit/>
          </a:bodyPr>
          <a:lstStyle/>
          <a:p>
            <a:r>
              <a:rPr lang="en-US" dirty="0">
                <a:solidFill>
                  <a:srgbClr val="273239"/>
                </a:solidFill>
                <a:latin typeface="Nunito"/>
              </a:rPr>
              <a:t>Flip-flop </a:t>
            </a:r>
            <a:r>
              <a:rPr lang="en-US" dirty="0" smtClean="0">
                <a:solidFill>
                  <a:srgbClr val="273239"/>
                </a:solidFill>
                <a:latin typeface="Nunito"/>
              </a:rPr>
              <a:t>is </a:t>
            </a:r>
            <a:r>
              <a:rPr lang="en-US" dirty="0">
                <a:solidFill>
                  <a:srgbClr val="273239"/>
                </a:solidFill>
                <a:latin typeface="Nunito"/>
              </a:rPr>
              <a:t>an electronic component that is used to store one single bit of information.</a:t>
            </a:r>
            <a:endParaRPr lang="en-IN" dirty="0"/>
          </a:p>
        </p:txBody>
      </p:sp>
      <p:sp>
        <p:nvSpPr>
          <p:cNvPr id="3" name="Rectangle 1"/>
          <p:cNvSpPr>
            <a:spLocks noChangeArrowheads="1"/>
          </p:cNvSpPr>
          <p:nvPr/>
        </p:nvSpPr>
        <p:spPr bwMode="auto">
          <a:xfrm>
            <a:off x="0" y="-856759"/>
            <a:ext cx="92974" cy="21707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1424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273239"/>
                </a:solidFill>
                <a:effectLst/>
                <a:latin typeface="Nunito"/>
              </a:rPr>
              <a:t>  </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5700" b="0" i="0" u="none" strike="noStrike" cap="none" normalizeH="0" baseline="0" dirty="0" smtClean="0">
                <a:ln>
                  <a:noFill/>
                </a:ln>
                <a:solidFill>
                  <a:srgbClr val="273239"/>
                </a:solidFill>
                <a:effectLst/>
                <a:latin typeface="Nunito"/>
              </a:rPr>
              <a:t/>
            </a:r>
            <a:br>
              <a:rPr kumimoji="0" lang="en-US" sz="5700" b="0" i="0" u="none" strike="noStrike" cap="none" normalizeH="0" baseline="0" dirty="0" smtClean="0">
                <a:ln>
                  <a:noFill/>
                </a:ln>
                <a:solidFill>
                  <a:srgbClr val="273239"/>
                </a:solidFill>
                <a:effectLst/>
                <a:latin typeface="Nunito"/>
              </a:rPr>
            </a:br>
            <a:endParaRPr kumimoji="0" lang="en-US" sz="5700" b="0" i="0" u="none" strike="noStrike" cap="none" normalizeH="0" baseline="0" dirty="0" smtClean="0">
              <a:ln>
                <a:noFill/>
              </a:ln>
              <a:solidFill>
                <a:srgbClr val="273239"/>
              </a:solidFill>
              <a:effectLst/>
              <a:latin typeface="Nunito"/>
            </a:endParaRPr>
          </a:p>
        </p:txBody>
      </p:sp>
      <p:pic>
        <p:nvPicPr>
          <p:cNvPr id="1026" name="Picture 2" descr="T_flipfl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775" y="3398882"/>
            <a:ext cx="3009900" cy="9144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91165" y="1202724"/>
            <a:ext cx="11118761" cy="1754326"/>
          </a:xfrm>
          <a:prstGeom prst="rect">
            <a:avLst/>
          </a:prstGeom>
        </p:spPr>
        <p:txBody>
          <a:bodyPr wrap="square">
            <a:spAutoFit/>
          </a:bodyPr>
          <a:lstStyle/>
          <a:p>
            <a:pPr lvl="0" eaLnBrk="0" fontAlgn="base" hangingPunct="0">
              <a:spcBef>
                <a:spcPct val="0"/>
              </a:spcBef>
              <a:spcAft>
                <a:spcPct val="0"/>
              </a:spcAft>
            </a:pPr>
            <a:r>
              <a:rPr lang="en-US" b="1" dirty="0">
                <a:solidFill>
                  <a:srgbClr val="273239"/>
                </a:solidFill>
                <a:latin typeface="Nunito"/>
              </a:rPr>
              <a:t>Diagrammatic Representation of Flip Flop</a:t>
            </a:r>
          </a:p>
          <a:p>
            <a:pPr lvl="0" eaLnBrk="0" fontAlgn="base" hangingPunct="0">
              <a:spcBef>
                <a:spcPct val="0"/>
              </a:spcBef>
              <a:spcAft>
                <a:spcPct val="0"/>
              </a:spcAft>
              <a:buFontTx/>
              <a:buChar char="•"/>
            </a:pPr>
            <a:r>
              <a:rPr lang="en-US" dirty="0">
                <a:solidFill>
                  <a:srgbClr val="273239"/>
                </a:solidFill>
                <a:latin typeface="Nunito"/>
              </a:rPr>
              <a:t>Since Flip Flop is a sequential circuit its input is based upon two parameters, one is the current input and the other is the output from the previous state.</a:t>
            </a:r>
          </a:p>
          <a:p>
            <a:pPr lvl="0" eaLnBrk="0" fontAlgn="base" hangingPunct="0">
              <a:spcBef>
                <a:spcPct val="0"/>
              </a:spcBef>
              <a:spcAft>
                <a:spcPct val="0"/>
              </a:spcAft>
              <a:buFontTx/>
              <a:buChar char="•"/>
            </a:pPr>
            <a:r>
              <a:rPr lang="en-US" dirty="0">
                <a:solidFill>
                  <a:srgbClr val="273239"/>
                </a:solidFill>
                <a:latin typeface="Nunito"/>
              </a:rPr>
              <a:t>It has two outputs, both are complements of each other.</a:t>
            </a:r>
          </a:p>
          <a:p>
            <a:pPr lvl="0" eaLnBrk="0" fontAlgn="base" hangingPunct="0">
              <a:spcBef>
                <a:spcPct val="0"/>
              </a:spcBef>
              <a:spcAft>
                <a:spcPct val="0"/>
              </a:spcAft>
              <a:buFontTx/>
              <a:buChar char="•"/>
            </a:pPr>
            <a:r>
              <a:rPr lang="en-US" dirty="0">
                <a:solidFill>
                  <a:srgbClr val="273239"/>
                </a:solidFill>
                <a:latin typeface="Nunito"/>
              </a:rPr>
              <a:t>It may be in one of two stable states, either 0 or 1.</a:t>
            </a:r>
          </a:p>
          <a:p>
            <a:pPr lvl="0" eaLnBrk="0" fontAlgn="base" hangingPunct="0">
              <a:spcBef>
                <a:spcPct val="0"/>
              </a:spcBef>
              <a:spcAft>
                <a:spcPct val="0"/>
              </a:spcAft>
            </a:pPr>
            <a:r>
              <a:rPr lang="en-US" dirty="0">
                <a:solidFill>
                  <a:srgbClr val="273239"/>
                </a:solidFill>
                <a:latin typeface="Nunito"/>
              </a:rPr>
              <a:t>  </a:t>
            </a:r>
            <a:endParaRPr lang="en-US" sz="1400" dirty="0"/>
          </a:p>
        </p:txBody>
      </p:sp>
    </p:spTree>
    <p:extLst>
      <p:ext uri="{BB962C8B-B14F-4D97-AF65-F5344CB8AC3E}">
        <p14:creationId xmlns:p14="http://schemas.microsoft.com/office/powerpoint/2010/main" val="814326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2224" y="281782"/>
            <a:ext cx="9676327" cy="1754326"/>
          </a:xfrm>
          <a:prstGeom prst="rect">
            <a:avLst/>
          </a:prstGeom>
        </p:spPr>
        <p:txBody>
          <a:bodyPr wrap="square">
            <a:spAutoFit/>
          </a:bodyPr>
          <a:lstStyle/>
          <a:p>
            <a:pPr fontAlgn="base"/>
            <a:r>
              <a:rPr lang="en-US" b="1" dirty="0" smtClean="0">
                <a:solidFill>
                  <a:srgbClr val="273239"/>
                </a:solidFill>
                <a:latin typeface="Nunito"/>
              </a:rPr>
              <a:t>T </a:t>
            </a:r>
            <a:r>
              <a:rPr lang="en-US" b="1" dirty="0">
                <a:solidFill>
                  <a:srgbClr val="273239"/>
                </a:solidFill>
                <a:latin typeface="Nunito"/>
              </a:rPr>
              <a:t>Flip </a:t>
            </a:r>
            <a:r>
              <a:rPr lang="en-US" b="1" dirty="0" smtClean="0">
                <a:solidFill>
                  <a:srgbClr val="273239"/>
                </a:solidFill>
                <a:latin typeface="Nunito"/>
              </a:rPr>
              <a:t>Flop</a:t>
            </a:r>
            <a:endParaRPr lang="en-US" b="1"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T flip flop or to be precise is known as Toggle Flip Flop because it can able to toggle its output depending upon on the input.</a:t>
            </a:r>
          </a:p>
          <a:p>
            <a:pPr fontAlgn="base">
              <a:buFont typeface="Arial" panose="020B0604020202020204" pitchFamily="34" charset="0"/>
              <a:buChar char="•"/>
            </a:pPr>
            <a:r>
              <a:rPr lang="en-US" b="1" dirty="0">
                <a:solidFill>
                  <a:srgbClr val="273239"/>
                </a:solidFill>
                <a:latin typeface="Nunito"/>
              </a:rPr>
              <a:t>T</a:t>
            </a:r>
            <a:r>
              <a:rPr lang="en-US" dirty="0">
                <a:solidFill>
                  <a:srgbClr val="273239"/>
                </a:solidFill>
                <a:latin typeface="Nunito"/>
              </a:rPr>
              <a:t> here stands for </a:t>
            </a:r>
            <a:r>
              <a:rPr lang="en-US" b="1" dirty="0">
                <a:solidFill>
                  <a:srgbClr val="273239"/>
                </a:solidFill>
                <a:latin typeface="Nunito"/>
              </a:rPr>
              <a:t>Toggle</a:t>
            </a:r>
            <a:r>
              <a:rPr lang="en-US" dirty="0">
                <a:solidFill>
                  <a:srgbClr val="273239"/>
                </a:solidFill>
                <a:latin typeface="Nunito"/>
              </a:rPr>
              <a:t>.</a:t>
            </a:r>
          </a:p>
          <a:p>
            <a:pPr fontAlgn="base">
              <a:buFont typeface="Arial" panose="020B0604020202020204" pitchFamily="34" charset="0"/>
              <a:buChar char="•"/>
            </a:pPr>
            <a:r>
              <a:rPr lang="en-US" dirty="0">
                <a:solidFill>
                  <a:srgbClr val="273239"/>
                </a:solidFill>
                <a:latin typeface="Nunito"/>
              </a:rPr>
              <a:t>Toggle basically indicates that the bit will be flipped i.e., either from 1 to 0 or from 0 to 1.</a:t>
            </a:r>
          </a:p>
          <a:p>
            <a:pPr fontAlgn="base">
              <a:buFont typeface="Arial" panose="020B0604020202020204" pitchFamily="34" charset="0"/>
              <a:buChar char="•"/>
            </a:pPr>
            <a:r>
              <a:rPr lang="en-US" dirty="0">
                <a:solidFill>
                  <a:srgbClr val="273239"/>
                </a:solidFill>
                <a:latin typeface="Nunito"/>
              </a:rPr>
              <a:t>Here, a clock pulse is supplied to operate this flop, hence it is a clocked flip-flop.</a:t>
            </a:r>
            <a:endParaRPr lang="en-US" b="0" i="0" dirty="0">
              <a:solidFill>
                <a:srgbClr val="273239"/>
              </a:solidFill>
              <a:effectLst/>
              <a:latin typeface="Nunito"/>
            </a:endParaRPr>
          </a:p>
        </p:txBody>
      </p:sp>
      <p:pic>
        <p:nvPicPr>
          <p:cNvPr id="3" name="Picture 2"/>
          <p:cNvPicPr>
            <a:picLocks noChangeAspect="1"/>
          </p:cNvPicPr>
          <p:nvPr/>
        </p:nvPicPr>
        <p:blipFill>
          <a:blip r:embed="rId2"/>
          <a:stretch>
            <a:fillRect/>
          </a:stretch>
        </p:blipFill>
        <p:spPr>
          <a:xfrm>
            <a:off x="1722482" y="2787940"/>
            <a:ext cx="5553075" cy="2466975"/>
          </a:xfrm>
          <a:prstGeom prst="rect">
            <a:avLst/>
          </a:prstGeom>
        </p:spPr>
      </p:pic>
    </p:spTree>
    <p:extLst>
      <p:ext uri="{BB962C8B-B14F-4D97-AF65-F5344CB8AC3E}">
        <p14:creationId xmlns:p14="http://schemas.microsoft.com/office/powerpoint/2010/main" val="1109905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885" y="253151"/>
            <a:ext cx="5543200" cy="2824900"/>
          </a:xfrm>
          <a:prstGeom prst="rect">
            <a:avLst/>
          </a:prstGeom>
        </p:spPr>
      </p:pic>
      <p:sp>
        <p:nvSpPr>
          <p:cNvPr id="3" name="Rectangle 2"/>
          <p:cNvSpPr/>
          <p:nvPr/>
        </p:nvSpPr>
        <p:spPr>
          <a:xfrm>
            <a:off x="5314682" y="1764407"/>
            <a:ext cx="6521003" cy="4247317"/>
          </a:xfrm>
          <a:prstGeom prst="rect">
            <a:avLst/>
          </a:prstGeom>
        </p:spPr>
        <p:txBody>
          <a:bodyPr wrap="square">
            <a:spAutoFit/>
          </a:bodyPr>
          <a:lstStyle/>
          <a:p>
            <a:pPr algn="just" fontAlgn="base"/>
            <a:r>
              <a:rPr lang="en-US" b="1" dirty="0">
                <a:solidFill>
                  <a:srgbClr val="273239"/>
                </a:solidFill>
                <a:latin typeface="Nunito"/>
              </a:rPr>
              <a:t>Case 1</a:t>
            </a:r>
            <a:r>
              <a:rPr lang="en-US" dirty="0">
                <a:solidFill>
                  <a:srgbClr val="273239"/>
                </a:solidFill>
                <a:latin typeface="Nunito"/>
              </a:rPr>
              <a:t>: Let’s say, </a:t>
            </a:r>
            <a:r>
              <a:rPr lang="en-US" b="1" dirty="0">
                <a:solidFill>
                  <a:srgbClr val="273239"/>
                </a:solidFill>
                <a:latin typeface="Nunito"/>
              </a:rPr>
              <a:t>T = 0</a:t>
            </a:r>
            <a:r>
              <a:rPr lang="en-US" dirty="0">
                <a:solidFill>
                  <a:srgbClr val="273239"/>
                </a:solidFill>
                <a:latin typeface="Nunito"/>
              </a:rPr>
              <a:t> and clock pulse is </a:t>
            </a:r>
            <a:r>
              <a:rPr lang="en-US" b="1" dirty="0">
                <a:solidFill>
                  <a:srgbClr val="273239"/>
                </a:solidFill>
                <a:latin typeface="Nunito"/>
              </a:rPr>
              <a:t>high</a:t>
            </a:r>
            <a:r>
              <a:rPr lang="en-US" dirty="0">
                <a:solidFill>
                  <a:srgbClr val="273239"/>
                </a:solidFill>
                <a:latin typeface="Nunito"/>
              </a:rPr>
              <a:t> </a:t>
            </a:r>
            <a:r>
              <a:rPr lang="en-US" dirty="0" err="1">
                <a:solidFill>
                  <a:srgbClr val="273239"/>
                </a:solidFill>
                <a:latin typeface="Nunito"/>
              </a:rPr>
              <a:t>i.e</a:t>
            </a:r>
            <a:r>
              <a:rPr lang="en-US" dirty="0">
                <a:solidFill>
                  <a:srgbClr val="273239"/>
                </a:solidFill>
                <a:latin typeface="Nunito"/>
              </a:rPr>
              <a:t>, 1, then output of both, AND gate 1, AND gate 2 will be </a:t>
            </a:r>
            <a:r>
              <a:rPr lang="en-US" b="1" dirty="0">
                <a:solidFill>
                  <a:srgbClr val="273239"/>
                </a:solidFill>
                <a:latin typeface="Nunito"/>
              </a:rPr>
              <a:t>0</a:t>
            </a:r>
            <a:r>
              <a:rPr lang="en-US" dirty="0">
                <a:solidFill>
                  <a:srgbClr val="273239"/>
                </a:solidFill>
                <a:latin typeface="Nunito"/>
              </a:rPr>
              <a:t>, </a:t>
            </a:r>
            <a:r>
              <a:rPr lang="en-US" b="1" dirty="0">
                <a:solidFill>
                  <a:srgbClr val="273239"/>
                </a:solidFill>
                <a:latin typeface="Nunito"/>
              </a:rPr>
              <a:t>gate 3</a:t>
            </a:r>
            <a:r>
              <a:rPr lang="en-US" dirty="0">
                <a:solidFill>
                  <a:srgbClr val="273239"/>
                </a:solidFill>
                <a:latin typeface="Nunito"/>
              </a:rPr>
              <a:t> output will be </a:t>
            </a:r>
            <a:r>
              <a:rPr lang="en-US" b="1" dirty="0">
                <a:solidFill>
                  <a:srgbClr val="273239"/>
                </a:solidFill>
                <a:latin typeface="Nunito"/>
              </a:rPr>
              <a:t>Q</a:t>
            </a:r>
            <a:r>
              <a:rPr lang="en-US" dirty="0">
                <a:solidFill>
                  <a:srgbClr val="273239"/>
                </a:solidFill>
                <a:latin typeface="Nunito"/>
              </a:rPr>
              <a:t> and similarly </a:t>
            </a:r>
            <a:r>
              <a:rPr lang="en-US" b="1" dirty="0">
                <a:solidFill>
                  <a:srgbClr val="273239"/>
                </a:solidFill>
                <a:latin typeface="Nunito"/>
              </a:rPr>
              <a:t>gate 4</a:t>
            </a:r>
            <a:r>
              <a:rPr lang="en-US" dirty="0">
                <a:solidFill>
                  <a:srgbClr val="273239"/>
                </a:solidFill>
                <a:latin typeface="Nunito"/>
              </a:rPr>
              <a:t> output will be </a:t>
            </a:r>
            <a:r>
              <a:rPr lang="en-US" b="1" dirty="0">
                <a:solidFill>
                  <a:srgbClr val="273239"/>
                </a:solidFill>
                <a:latin typeface="Nunito"/>
              </a:rPr>
              <a:t>Q’</a:t>
            </a:r>
            <a:r>
              <a:rPr lang="en-US" dirty="0">
                <a:solidFill>
                  <a:srgbClr val="273239"/>
                </a:solidFill>
                <a:latin typeface="Nunito"/>
              </a:rPr>
              <a:t> so both the values of Q and Q’ are same as their previous value, which means </a:t>
            </a:r>
            <a:r>
              <a:rPr lang="en-US" b="1" dirty="0">
                <a:solidFill>
                  <a:srgbClr val="273239"/>
                </a:solidFill>
                <a:latin typeface="Nunito"/>
              </a:rPr>
              <a:t>Hold state</a:t>
            </a:r>
            <a:r>
              <a:rPr lang="en-US" dirty="0">
                <a:solidFill>
                  <a:srgbClr val="273239"/>
                </a:solidFill>
                <a:latin typeface="Nunito"/>
              </a:rPr>
              <a:t>.</a:t>
            </a:r>
            <a:br>
              <a:rPr lang="en-US" dirty="0">
                <a:solidFill>
                  <a:srgbClr val="273239"/>
                </a:solidFill>
                <a:latin typeface="Nunito"/>
              </a:rPr>
            </a:br>
            <a:r>
              <a:rPr lang="en-US" dirty="0">
                <a:solidFill>
                  <a:srgbClr val="273239"/>
                </a:solidFill>
                <a:latin typeface="Nunito"/>
              </a:rPr>
              <a:t> </a:t>
            </a:r>
          </a:p>
          <a:p>
            <a:pPr algn="just" fontAlgn="base"/>
            <a:r>
              <a:rPr lang="en-US" b="1" dirty="0">
                <a:solidFill>
                  <a:srgbClr val="273239"/>
                </a:solidFill>
                <a:latin typeface="Nunito"/>
              </a:rPr>
              <a:t>Case 2</a:t>
            </a:r>
            <a:r>
              <a:rPr lang="en-US" dirty="0">
                <a:solidFill>
                  <a:srgbClr val="273239"/>
                </a:solidFill>
                <a:latin typeface="Nunito"/>
              </a:rPr>
              <a:t>: Let’s say, </a:t>
            </a:r>
            <a:r>
              <a:rPr lang="en-US" b="1" dirty="0">
                <a:solidFill>
                  <a:srgbClr val="273239"/>
                </a:solidFill>
                <a:latin typeface="Nunito"/>
              </a:rPr>
              <a:t>T=1</a:t>
            </a:r>
            <a:r>
              <a:rPr lang="en-US" dirty="0">
                <a:solidFill>
                  <a:srgbClr val="273239"/>
                </a:solidFill>
                <a:latin typeface="Nunito"/>
              </a:rPr>
              <a:t>,</a:t>
            </a:r>
            <a:r>
              <a:rPr lang="en-US" b="1" dirty="0">
                <a:solidFill>
                  <a:srgbClr val="273239"/>
                </a:solidFill>
                <a:latin typeface="Nunito"/>
              </a:rPr>
              <a:t> </a:t>
            </a:r>
            <a:r>
              <a:rPr lang="en-US" dirty="0">
                <a:solidFill>
                  <a:srgbClr val="273239"/>
                </a:solidFill>
                <a:latin typeface="Nunito"/>
              </a:rPr>
              <a:t>then output of both AND gate 1 will be </a:t>
            </a:r>
            <a:r>
              <a:rPr lang="en-US" b="1" dirty="0">
                <a:solidFill>
                  <a:srgbClr val="273239"/>
                </a:solidFill>
                <a:latin typeface="Nunito"/>
              </a:rPr>
              <a:t>(T * clock * Q)</a:t>
            </a:r>
            <a:r>
              <a:rPr lang="en-US" dirty="0">
                <a:solidFill>
                  <a:srgbClr val="273239"/>
                </a:solidFill>
                <a:latin typeface="Nunito"/>
              </a:rPr>
              <a:t>, and since T and clock both are 1, then the output of AND gate 1 will be </a:t>
            </a:r>
            <a:r>
              <a:rPr lang="en-US" b="1" dirty="0">
                <a:solidFill>
                  <a:srgbClr val="273239"/>
                </a:solidFill>
                <a:latin typeface="Nunito"/>
              </a:rPr>
              <a:t>Q</a:t>
            </a:r>
            <a:r>
              <a:rPr lang="en-US" dirty="0">
                <a:solidFill>
                  <a:srgbClr val="273239"/>
                </a:solidFill>
                <a:latin typeface="Nunito"/>
              </a:rPr>
              <a:t>, and similarly output of AND gate 2 will be </a:t>
            </a:r>
            <a:r>
              <a:rPr lang="en-US" b="1" dirty="0">
                <a:solidFill>
                  <a:srgbClr val="273239"/>
                </a:solidFill>
                <a:latin typeface="Nunito"/>
              </a:rPr>
              <a:t>(T * clock * Q’)</a:t>
            </a:r>
            <a:r>
              <a:rPr lang="en-US" dirty="0">
                <a:solidFill>
                  <a:srgbClr val="273239"/>
                </a:solidFill>
                <a:latin typeface="Nunito"/>
              </a:rPr>
              <a:t> </a:t>
            </a:r>
            <a:r>
              <a:rPr lang="en-US" dirty="0" err="1">
                <a:solidFill>
                  <a:srgbClr val="273239"/>
                </a:solidFill>
                <a:latin typeface="Nunito"/>
              </a:rPr>
              <a:t>i.e</a:t>
            </a:r>
            <a:r>
              <a:rPr lang="en-US" dirty="0">
                <a:solidFill>
                  <a:srgbClr val="273239"/>
                </a:solidFill>
                <a:latin typeface="Nunito"/>
              </a:rPr>
              <a:t>, </a:t>
            </a:r>
            <a:r>
              <a:rPr lang="en-US" b="1" dirty="0">
                <a:solidFill>
                  <a:srgbClr val="273239"/>
                </a:solidFill>
                <a:latin typeface="Nunito"/>
              </a:rPr>
              <a:t>Q’</a:t>
            </a:r>
            <a:r>
              <a:rPr lang="en-US" dirty="0">
                <a:solidFill>
                  <a:srgbClr val="273239"/>
                </a:solidFill>
                <a:latin typeface="Nunito"/>
              </a:rPr>
              <a:t>. Now, gate 3 output will be </a:t>
            </a:r>
            <a:r>
              <a:rPr lang="en-US" b="1" dirty="0">
                <a:solidFill>
                  <a:srgbClr val="273239"/>
                </a:solidFill>
                <a:latin typeface="Nunito"/>
              </a:rPr>
              <a:t>(Q’+Q)’</a:t>
            </a:r>
            <a:r>
              <a:rPr lang="en-US" dirty="0">
                <a:solidFill>
                  <a:srgbClr val="273239"/>
                </a:solidFill>
                <a:latin typeface="Nunito"/>
              </a:rPr>
              <a:t> and let’s say Q’ is zero, then gate 3 output will be </a:t>
            </a:r>
            <a:r>
              <a:rPr lang="en-US" b="1" dirty="0">
                <a:solidFill>
                  <a:srgbClr val="273239"/>
                </a:solidFill>
                <a:latin typeface="Nunito"/>
              </a:rPr>
              <a:t>(0+Q)’</a:t>
            </a:r>
            <a:r>
              <a:rPr lang="en-US" dirty="0">
                <a:solidFill>
                  <a:srgbClr val="273239"/>
                </a:solidFill>
                <a:latin typeface="Nunito"/>
              </a:rPr>
              <a:t> which means</a:t>
            </a:r>
            <a:r>
              <a:rPr lang="en-US" b="1" dirty="0">
                <a:solidFill>
                  <a:srgbClr val="273239"/>
                </a:solidFill>
                <a:latin typeface="Nunito"/>
              </a:rPr>
              <a:t> Q’</a:t>
            </a:r>
            <a:r>
              <a:rPr lang="en-US" dirty="0">
                <a:solidFill>
                  <a:srgbClr val="273239"/>
                </a:solidFill>
                <a:latin typeface="Nunito"/>
              </a:rPr>
              <a:t> and similarly gate 4 output will be </a:t>
            </a:r>
            <a:r>
              <a:rPr lang="en-US" b="1" dirty="0">
                <a:solidFill>
                  <a:srgbClr val="273239"/>
                </a:solidFill>
                <a:latin typeface="Nunito"/>
              </a:rPr>
              <a:t>(Q+Q’)’</a:t>
            </a:r>
            <a:r>
              <a:rPr lang="en-US" dirty="0">
                <a:solidFill>
                  <a:srgbClr val="273239"/>
                </a:solidFill>
                <a:latin typeface="Nunito"/>
              </a:rPr>
              <a:t> and since Q’ is zero, so gate 4 output will be Q’ which means </a:t>
            </a:r>
            <a:r>
              <a:rPr lang="en-US" b="1" dirty="0">
                <a:solidFill>
                  <a:srgbClr val="273239"/>
                </a:solidFill>
                <a:latin typeface="Nunito"/>
              </a:rPr>
              <a:t>0 </a:t>
            </a:r>
            <a:r>
              <a:rPr lang="en-US" dirty="0">
                <a:solidFill>
                  <a:srgbClr val="273239"/>
                </a:solidFill>
                <a:latin typeface="Nunito"/>
              </a:rPr>
              <a:t>as Q’ is zero. Hence in this case we can say that the output toggles, because </a:t>
            </a:r>
            <a:r>
              <a:rPr lang="en-US" b="1" dirty="0">
                <a:solidFill>
                  <a:srgbClr val="273239"/>
                </a:solidFill>
                <a:latin typeface="Nunito"/>
              </a:rPr>
              <a:t>T=1</a:t>
            </a:r>
            <a:r>
              <a:rPr lang="en-US" dirty="0">
                <a:solidFill>
                  <a:srgbClr val="273239"/>
                </a:solidFill>
                <a:latin typeface="Nunito"/>
              </a:rPr>
              <a:t>.</a:t>
            </a:r>
            <a:endParaRPr lang="en-US" b="0" i="0" dirty="0">
              <a:solidFill>
                <a:srgbClr val="273239"/>
              </a:solidFill>
              <a:effectLst/>
              <a:latin typeface="Nunito"/>
            </a:endParaRPr>
          </a:p>
        </p:txBody>
      </p:sp>
    </p:spTree>
    <p:extLst>
      <p:ext uri="{BB962C8B-B14F-4D97-AF65-F5344CB8AC3E}">
        <p14:creationId xmlns:p14="http://schemas.microsoft.com/office/powerpoint/2010/main" val="2191059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36" y="1334148"/>
            <a:ext cx="2295525" cy="19145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04823" y="1334148"/>
            <a:ext cx="6096000" cy="2031325"/>
          </a:xfrm>
          <a:prstGeom prst="rect">
            <a:avLst/>
          </a:prstGeom>
        </p:spPr>
        <p:txBody>
          <a:bodyPr>
            <a:spAutoFit/>
          </a:bodyPr>
          <a:lstStyle/>
          <a:p>
            <a:pPr fontAlgn="base">
              <a:buFont typeface="Arial" panose="020B0604020202020204" pitchFamily="34" charset="0"/>
              <a:buChar char="•"/>
            </a:pPr>
            <a:r>
              <a:rPr lang="en-US" dirty="0">
                <a:solidFill>
                  <a:srgbClr val="273239"/>
                </a:solidFill>
                <a:latin typeface="Nunito"/>
              </a:rPr>
              <a:t>Here, T is the Toggle input, Q is present state input, Qt+1 is the next state output.</a:t>
            </a:r>
          </a:p>
          <a:p>
            <a:pPr fontAlgn="base">
              <a:buFont typeface="Arial" panose="020B0604020202020204" pitchFamily="34" charset="0"/>
              <a:buChar char="•"/>
            </a:pPr>
            <a:r>
              <a:rPr lang="en-US" dirty="0">
                <a:solidFill>
                  <a:srgbClr val="273239"/>
                </a:solidFill>
                <a:latin typeface="Nunito"/>
              </a:rPr>
              <a:t>From here we can see that, whenever Toggle (T) is 0, next state output (Qt+1) is same as current state input (Q).</a:t>
            </a:r>
          </a:p>
          <a:p>
            <a:pPr fontAlgn="base">
              <a:buFont typeface="Arial" panose="020B0604020202020204" pitchFamily="34" charset="0"/>
              <a:buChar char="•"/>
            </a:pPr>
            <a:r>
              <a:rPr lang="en-US" dirty="0">
                <a:solidFill>
                  <a:srgbClr val="273239"/>
                </a:solidFill>
                <a:latin typeface="Nunito"/>
              </a:rPr>
              <a:t>Whenever Toggle (T) is 1, next state output (Qt+1) will be complement of current state input (Q) which means it gets toggled.</a:t>
            </a:r>
            <a:endParaRPr lang="en-US" b="0" i="0" dirty="0">
              <a:solidFill>
                <a:srgbClr val="273239"/>
              </a:solidFill>
              <a:effectLst/>
              <a:latin typeface="Nunito"/>
            </a:endParaRPr>
          </a:p>
        </p:txBody>
      </p:sp>
    </p:spTree>
    <p:extLst>
      <p:ext uri="{BB962C8B-B14F-4D97-AF65-F5344CB8AC3E}">
        <p14:creationId xmlns:p14="http://schemas.microsoft.com/office/powerpoint/2010/main" val="35575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2732" y="1596979"/>
            <a:ext cx="11088710" cy="3970318"/>
          </a:xfrm>
          <a:prstGeom prst="rect">
            <a:avLst/>
          </a:prstGeom>
        </p:spPr>
        <p:txBody>
          <a:bodyPr wrap="square">
            <a:spAutoFit/>
          </a:bodyPr>
          <a:lstStyle/>
          <a:p>
            <a:pPr fontAlgn="base"/>
            <a:r>
              <a:rPr lang="en-US" b="1" dirty="0" smtClean="0">
                <a:solidFill>
                  <a:srgbClr val="273239"/>
                </a:solidFill>
                <a:latin typeface="Nunito"/>
              </a:rPr>
              <a:t>Applications:</a:t>
            </a:r>
          </a:p>
          <a:p>
            <a:pPr fontAlgn="base">
              <a:buFont typeface="Arial" panose="020B0604020202020204" pitchFamily="34" charset="0"/>
              <a:buChar char="•"/>
            </a:pPr>
            <a:endParaRPr lang="en-US" b="1" dirty="0">
              <a:solidFill>
                <a:srgbClr val="273239"/>
              </a:solidFill>
              <a:latin typeface="Nunito"/>
            </a:endParaRPr>
          </a:p>
          <a:p>
            <a:pPr fontAlgn="base">
              <a:buFont typeface="Arial" panose="020B0604020202020204" pitchFamily="34" charset="0"/>
              <a:buChar char="•"/>
            </a:pPr>
            <a:r>
              <a:rPr lang="en-US" b="1" dirty="0" smtClean="0">
                <a:solidFill>
                  <a:srgbClr val="273239"/>
                </a:solidFill>
                <a:latin typeface="Nunito"/>
              </a:rPr>
              <a:t>Counters</a:t>
            </a:r>
            <a:r>
              <a:rPr lang="en-US" dirty="0">
                <a:solidFill>
                  <a:srgbClr val="273239"/>
                </a:solidFill>
                <a:latin typeface="Nunito"/>
              </a:rPr>
              <a:t>: T Flip Flops used in counters. Counters counts the number of events that occurs in a digital system.</a:t>
            </a:r>
          </a:p>
          <a:p>
            <a:pPr fontAlgn="base">
              <a:buFont typeface="Arial" panose="020B0604020202020204" pitchFamily="34" charset="0"/>
              <a:buChar char="•"/>
            </a:pPr>
            <a:r>
              <a:rPr lang="en-US" b="1" dirty="0">
                <a:solidFill>
                  <a:srgbClr val="273239"/>
                </a:solidFill>
                <a:latin typeface="Nunito"/>
              </a:rPr>
              <a:t>Data Storage</a:t>
            </a:r>
            <a:r>
              <a:rPr lang="en-US" dirty="0">
                <a:solidFill>
                  <a:srgbClr val="273239"/>
                </a:solidFill>
                <a:latin typeface="Nunito"/>
              </a:rPr>
              <a:t>: T Flip Flops used to create memory which are used to store data, when the power is turned off.</a:t>
            </a:r>
          </a:p>
          <a:p>
            <a:pPr fontAlgn="base">
              <a:buFont typeface="Arial" panose="020B0604020202020204" pitchFamily="34" charset="0"/>
              <a:buChar char="•"/>
            </a:pPr>
            <a:r>
              <a:rPr lang="en-US" b="1" dirty="0">
                <a:solidFill>
                  <a:srgbClr val="273239"/>
                </a:solidFill>
                <a:latin typeface="Nunito"/>
              </a:rPr>
              <a:t>Synchronous logic circuits</a:t>
            </a:r>
            <a:r>
              <a:rPr lang="en-US" dirty="0">
                <a:solidFill>
                  <a:srgbClr val="273239"/>
                </a:solidFill>
                <a:latin typeface="Nunito"/>
              </a:rPr>
              <a:t>: T flip-flops can be used to implement synchronous logic circuits, which are circuits that perform operations on binary data based on a clock signal. By synchronizing the logic circuit’s operations to the clock signal using T flip-flops, the circuit’s behavior can be made predictable and reliable.</a:t>
            </a:r>
          </a:p>
          <a:p>
            <a:pPr fontAlgn="base">
              <a:buFont typeface="Arial" panose="020B0604020202020204" pitchFamily="34" charset="0"/>
              <a:buChar char="•"/>
            </a:pPr>
            <a:r>
              <a:rPr lang="en-US" b="1" dirty="0">
                <a:solidFill>
                  <a:srgbClr val="273239"/>
                </a:solidFill>
                <a:latin typeface="Nunito"/>
              </a:rPr>
              <a:t>Frequency division</a:t>
            </a:r>
            <a:r>
              <a:rPr lang="en-US" dirty="0">
                <a:solidFill>
                  <a:srgbClr val="273239"/>
                </a:solidFill>
                <a:latin typeface="Nunito"/>
              </a:rPr>
              <a:t>: It is used to divide the frequency of a clock signal by 2. Flip-flop will toggle its output every time the clock signal transitions from high to low or low to high, hence dividing the clock frequency by 2.</a:t>
            </a:r>
          </a:p>
          <a:p>
            <a:pPr fontAlgn="base">
              <a:buFont typeface="Arial" panose="020B0604020202020204" pitchFamily="34" charset="0"/>
              <a:buChar char="•"/>
            </a:pPr>
            <a:r>
              <a:rPr lang="en-US" b="1" dirty="0">
                <a:solidFill>
                  <a:srgbClr val="273239"/>
                </a:solidFill>
                <a:latin typeface="Nunito"/>
              </a:rPr>
              <a:t>Shift registers</a:t>
            </a:r>
            <a:r>
              <a:rPr lang="en-US" dirty="0">
                <a:solidFill>
                  <a:srgbClr val="273239"/>
                </a:solidFill>
                <a:latin typeface="Nunito"/>
              </a:rPr>
              <a:t>: T flip-flops can be used in shift registers which are used to shift binary data in one direction.</a:t>
            </a:r>
            <a:endParaRPr lang="en-US" b="0" i="0" dirty="0">
              <a:solidFill>
                <a:srgbClr val="273239"/>
              </a:solidFill>
              <a:effectLst/>
              <a:latin typeface="Nunito"/>
            </a:endParaRPr>
          </a:p>
        </p:txBody>
      </p:sp>
    </p:spTree>
    <p:extLst>
      <p:ext uri="{BB962C8B-B14F-4D97-AF65-F5344CB8AC3E}">
        <p14:creationId xmlns:p14="http://schemas.microsoft.com/office/powerpoint/2010/main" val="3081015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90D1299-BF65-B443-5E8F-0C463369B1B4}"/>
              </a:ext>
            </a:extLst>
          </p:cNvPr>
          <p:cNvSpPr txBox="1"/>
          <p:nvPr/>
        </p:nvSpPr>
        <p:spPr>
          <a:xfrm>
            <a:off x="716124" y="370506"/>
            <a:ext cx="6097554" cy="369332"/>
          </a:xfrm>
          <a:prstGeom prst="rect">
            <a:avLst/>
          </a:prstGeom>
          <a:noFill/>
        </p:spPr>
        <p:txBody>
          <a:bodyPr wrap="square">
            <a:spAutoFit/>
          </a:bodyPr>
          <a:lstStyle/>
          <a:p>
            <a:pPr algn="l"/>
            <a:r>
              <a:rPr lang="en-IN" b="1" i="0" dirty="0">
                <a:solidFill>
                  <a:srgbClr val="404041"/>
                </a:solidFill>
                <a:effectLst/>
                <a:latin typeface="Lato" panose="020F0502020204030203" pitchFamily="34" charset="0"/>
              </a:rPr>
              <a:t>The Basic JK Flip-flop</a:t>
            </a:r>
          </a:p>
        </p:txBody>
      </p:sp>
      <p:sp>
        <p:nvSpPr>
          <p:cNvPr id="7" name="TextBox 6">
            <a:extLst>
              <a:ext uri="{FF2B5EF4-FFF2-40B4-BE49-F238E27FC236}">
                <a16:creationId xmlns="" xmlns:a16="http://schemas.microsoft.com/office/drawing/2014/main" id="{6E664A54-B126-46B1-3111-8990BA48C682}"/>
              </a:ext>
            </a:extLst>
          </p:cNvPr>
          <p:cNvSpPr txBox="1"/>
          <p:nvPr/>
        </p:nvSpPr>
        <p:spPr>
          <a:xfrm>
            <a:off x="576536" y="991021"/>
            <a:ext cx="10807181" cy="3539430"/>
          </a:xfrm>
          <a:prstGeom prst="rect">
            <a:avLst/>
          </a:prstGeom>
          <a:noFill/>
        </p:spPr>
        <p:txBody>
          <a:bodyPr wrap="square">
            <a:spAutoFit/>
          </a:bodyPr>
          <a:lstStyle/>
          <a:p>
            <a:r>
              <a:rPr lang="en-US" sz="2800" b="0" i="0" dirty="0">
                <a:solidFill>
                  <a:srgbClr val="273239"/>
                </a:solidFill>
                <a:effectLst/>
                <a:latin typeface="Nunito" pitchFamily="2" charset="0"/>
              </a:rPr>
              <a:t>It is one kind of </a:t>
            </a:r>
            <a:r>
              <a:rPr lang="en-US" sz="2800" b="0" i="0" u="sng" dirty="0">
                <a:effectLst/>
                <a:latin typeface="Nunito" pitchFamily="2" charset="0"/>
                <a:hlinkClick r:id="rId2"/>
              </a:rPr>
              <a:t>sequential logic circuit</a:t>
            </a:r>
            <a:r>
              <a:rPr lang="en-US" sz="2800" b="0" i="0" dirty="0">
                <a:solidFill>
                  <a:srgbClr val="273239"/>
                </a:solidFill>
                <a:effectLst/>
                <a:latin typeface="Nunito" pitchFamily="2" charset="0"/>
              </a:rPr>
              <a:t> which stores binary information in bitwise manner. It consists of two inputs and two outputs. Inputs are Set(J) &amp; Reset(K) and their corresponding outputs are Q and Q’. JK </a:t>
            </a:r>
            <a:r>
              <a:rPr lang="en-US" sz="2800" b="0" i="0" u="sng" dirty="0">
                <a:effectLst/>
                <a:latin typeface="Nunito" pitchFamily="2" charset="0"/>
                <a:hlinkClick r:id="rId3"/>
              </a:rPr>
              <a:t>flipflop</a:t>
            </a:r>
            <a:r>
              <a:rPr lang="en-US" sz="2800" b="0" i="0" dirty="0">
                <a:solidFill>
                  <a:srgbClr val="273239"/>
                </a:solidFill>
                <a:effectLst/>
                <a:latin typeface="Nunito" pitchFamily="2" charset="0"/>
              </a:rPr>
              <a:t> has two modes of operation which are synchronous mode and asynchronous mode. In synchronous mode, the state will be changed with the clock(</a:t>
            </a:r>
            <a:r>
              <a:rPr lang="en-US" sz="2800" b="0" i="0" dirty="0" err="1">
                <a:solidFill>
                  <a:srgbClr val="273239"/>
                </a:solidFill>
                <a:effectLst/>
                <a:latin typeface="Nunito" pitchFamily="2" charset="0"/>
              </a:rPr>
              <a:t>clk</a:t>
            </a:r>
            <a:r>
              <a:rPr lang="en-US" sz="2800" b="0" i="0" dirty="0">
                <a:solidFill>
                  <a:srgbClr val="273239"/>
                </a:solidFill>
                <a:effectLst/>
                <a:latin typeface="Nunito" pitchFamily="2" charset="0"/>
              </a:rPr>
              <a:t>) signal, and in asynchronous mode, the change of state is independent from its clock signal.</a:t>
            </a:r>
            <a:endParaRPr lang="en-IN" sz="2800" dirty="0"/>
          </a:p>
        </p:txBody>
      </p:sp>
    </p:spTree>
    <p:extLst>
      <p:ext uri="{BB962C8B-B14F-4D97-AF65-F5344CB8AC3E}">
        <p14:creationId xmlns:p14="http://schemas.microsoft.com/office/powerpoint/2010/main" val="2878638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 xmlns:a16="http://schemas.microsoft.com/office/drawing/2014/main" id="{79344C58-51F6-3FEE-6CB0-41EEC5511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89" y="1968759"/>
            <a:ext cx="3229453" cy="262511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6FE75532-AF77-22E6-364B-CC0A1A0ECE09}"/>
              </a:ext>
            </a:extLst>
          </p:cNvPr>
          <p:cNvPicPr>
            <a:picLocks noChangeAspect="1"/>
          </p:cNvPicPr>
          <p:nvPr/>
        </p:nvPicPr>
        <p:blipFill>
          <a:blip r:embed="rId3"/>
          <a:stretch>
            <a:fillRect/>
          </a:stretch>
        </p:blipFill>
        <p:spPr>
          <a:xfrm>
            <a:off x="5097626" y="264687"/>
            <a:ext cx="5343330" cy="6328626"/>
          </a:xfrm>
          <a:prstGeom prst="rect">
            <a:avLst/>
          </a:prstGeom>
        </p:spPr>
      </p:pic>
    </p:spTree>
    <p:extLst>
      <p:ext uri="{BB962C8B-B14F-4D97-AF65-F5344CB8AC3E}">
        <p14:creationId xmlns:p14="http://schemas.microsoft.com/office/powerpoint/2010/main" val="1021977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4645</TotalTime>
  <Words>703</Words>
  <Application>Microsoft Office PowerPoint</Application>
  <PresentationFormat>Widescreen</PresentationFormat>
  <Paragraphs>82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Lato</vt:lpstr>
      <vt:lpstr>Nunito</vt:lpstr>
      <vt:lpstr>var(--ff-lato)</vt:lpstr>
      <vt:lpstr>Verdana</vt:lpstr>
      <vt:lpstr>Office Theme</vt:lpstr>
      <vt:lpstr>Counters </vt:lpstr>
      <vt:lpstr>PowerPoint Presentation</vt:lpstr>
      <vt:lpstr>PowerPoint Presentation</vt:lpstr>
      <vt:lpstr>PowerPoint Presentation</vt:lpstr>
      <vt:lpstr>               Synchronous counters: If the "clock" pulses are applied to all the flip-flops in a counter simultaneously, then such a counter is called as synchronous counter.        Classification of counters Depending on the way in which the counting progresses, the synchronous or asynchronous counters are classified as follows − 1. Up counters 2. Down counters 3. Up/Down counters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Counters </dc:title>
  <dc:creator>msrit msrit</dc:creator>
  <cp:lastModifiedBy>MANJULA</cp:lastModifiedBy>
  <cp:revision>7</cp:revision>
  <dcterms:created xsi:type="dcterms:W3CDTF">2023-12-21T04:08:52Z</dcterms:created>
  <dcterms:modified xsi:type="dcterms:W3CDTF">2024-11-11T06:32:41Z</dcterms:modified>
</cp:coreProperties>
</file>