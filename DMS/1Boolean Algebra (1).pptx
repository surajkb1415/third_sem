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sldIdLst>
    <p:sldId id="784" r:id="rId2"/>
    <p:sldId id="828" r:id="rId3"/>
    <p:sldId id="786" r:id="rId4"/>
    <p:sldId id="787" r:id="rId5"/>
    <p:sldId id="788" r:id="rId6"/>
    <p:sldId id="789" r:id="rId7"/>
    <p:sldId id="790" r:id="rId8"/>
    <p:sldId id="791" r:id="rId9"/>
    <p:sldId id="792" r:id="rId10"/>
    <p:sldId id="793" r:id="rId11"/>
    <p:sldId id="830" r:id="rId12"/>
    <p:sldId id="831" r:id="rId13"/>
    <p:sldId id="832" r:id="rId14"/>
    <p:sldId id="833" r:id="rId15"/>
    <p:sldId id="834" r:id="rId16"/>
    <p:sldId id="799" r:id="rId17"/>
    <p:sldId id="800" r:id="rId18"/>
    <p:sldId id="801" r:id="rId19"/>
    <p:sldId id="837" r:id="rId20"/>
    <p:sldId id="844" r:id="rId21"/>
    <p:sldId id="845" r:id="rId22"/>
    <p:sldId id="839" r:id="rId23"/>
    <p:sldId id="841" r:id="rId24"/>
    <p:sldId id="843" r:id="rId25"/>
    <p:sldId id="813" r:id="rId26"/>
    <p:sldId id="814" r:id="rId27"/>
    <p:sldId id="815" r:id="rId28"/>
    <p:sldId id="816" r:id="rId29"/>
    <p:sldId id="820" r:id="rId30"/>
    <p:sldId id="821" r:id="rId31"/>
    <p:sldId id="822" r:id="rId32"/>
    <p:sldId id="824" r:id="rId33"/>
    <p:sldId id="825" r:id="rId34"/>
    <p:sldId id="826" r:id="rId35"/>
    <p:sldId id="256" r:id="rId36"/>
    <p:sldId id="847" r:id="rId37"/>
    <p:sldId id="846" r:id="rId38"/>
    <p:sldId id="849" r:id="rId39"/>
    <p:sldId id="848" r:id="rId40"/>
    <p:sldId id="853" r:id="rId41"/>
    <p:sldId id="854" r:id="rId42"/>
    <p:sldId id="855" r:id="rId43"/>
    <p:sldId id="850" r:id="rId44"/>
    <p:sldId id="856" r:id="rId45"/>
    <p:sldId id="857" r:id="rId46"/>
    <p:sldId id="851" r:id="rId47"/>
    <p:sldId id="861" r:id="rId48"/>
    <p:sldId id="852" r:id="rId49"/>
    <p:sldId id="858" r:id="rId50"/>
    <p:sldId id="863" r:id="rId51"/>
    <p:sldId id="864" r:id="rId52"/>
    <p:sldId id="865" r:id="rId53"/>
    <p:sldId id="866" r:id="rId54"/>
    <p:sldId id="867" r:id="rId55"/>
    <p:sldId id="859" r:id="rId56"/>
    <p:sldId id="869" r:id="rId57"/>
    <p:sldId id="870" r:id="rId58"/>
    <p:sldId id="871" r:id="rId59"/>
    <p:sldId id="877" r:id="rId60"/>
    <p:sldId id="876" r:id="rId61"/>
    <p:sldId id="872" r:id="rId62"/>
    <p:sldId id="873" r:id="rId63"/>
    <p:sldId id="874" r:id="rId64"/>
    <p:sldId id="875" r:id="rId65"/>
    <p:sldId id="878" r:id="rId66"/>
    <p:sldId id="881" r:id="rId67"/>
    <p:sldId id="879" r:id="rId68"/>
    <p:sldId id="880" r:id="rId69"/>
    <p:sldId id="868" r:id="rId70"/>
    <p:sldId id="860" r:id="rId71"/>
    <p:sldId id="862"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5F631-C385-EE6B-9764-768FEA2ADD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C8A720-B902-776E-7ADE-3B0452504E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620170-9DE2-1E78-F306-1909257C6CC9}"/>
              </a:ext>
            </a:extLst>
          </p:cNvPr>
          <p:cNvSpPr>
            <a:spLocks noGrp="1"/>
          </p:cNvSpPr>
          <p:nvPr>
            <p:ph type="dt" sz="half" idx="10"/>
          </p:nvPr>
        </p:nvSpPr>
        <p:spPr/>
        <p:txBody>
          <a:bodyPr/>
          <a:lstStyle/>
          <a:p>
            <a:fld id="{DD81661F-7AAC-472E-951B-C7E87943D5F7}" type="datetimeFigureOut">
              <a:rPr lang="en-IN" smtClean="0"/>
              <a:t>25-11-2024</a:t>
            </a:fld>
            <a:endParaRPr lang="en-IN"/>
          </a:p>
        </p:txBody>
      </p:sp>
      <p:sp>
        <p:nvSpPr>
          <p:cNvPr id="5" name="Footer Placeholder 4">
            <a:extLst>
              <a:ext uri="{FF2B5EF4-FFF2-40B4-BE49-F238E27FC236}">
                <a16:creationId xmlns:a16="http://schemas.microsoft.com/office/drawing/2014/main" id="{8C928AA4-68D1-097D-8580-507A915F2C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85C71C-2863-58CA-98AC-04EBB82169E8}"/>
              </a:ext>
            </a:extLst>
          </p:cNvPr>
          <p:cNvSpPr>
            <a:spLocks noGrp="1"/>
          </p:cNvSpPr>
          <p:nvPr>
            <p:ph type="sldNum" sz="quarter" idx="12"/>
          </p:nvPr>
        </p:nvSpPr>
        <p:spPr/>
        <p:txBody>
          <a:bodyPr/>
          <a:lstStyle/>
          <a:p>
            <a:fld id="{051E6BE0-8D15-42EE-A2F0-951D0CE4ECA5}" type="slidenum">
              <a:rPr lang="en-IN" smtClean="0"/>
              <a:t>‹#›</a:t>
            </a:fld>
            <a:endParaRPr lang="en-IN"/>
          </a:p>
        </p:txBody>
      </p:sp>
    </p:spTree>
    <p:extLst>
      <p:ext uri="{BB962C8B-B14F-4D97-AF65-F5344CB8AC3E}">
        <p14:creationId xmlns:p14="http://schemas.microsoft.com/office/powerpoint/2010/main" val="3159997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440A5-47D2-BF5E-6882-9F1FB47B0A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283541-4BA3-356A-017D-C9588BF5C2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FE9341-6F86-2380-DFB8-65EB42C049DA}"/>
              </a:ext>
            </a:extLst>
          </p:cNvPr>
          <p:cNvSpPr>
            <a:spLocks noGrp="1"/>
          </p:cNvSpPr>
          <p:nvPr>
            <p:ph type="dt" sz="half" idx="10"/>
          </p:nvPr>
        </p:nvSpPr>
        <p:spPr/>
        <p:txBody>
          <a:bodyPr/>
          <a:lstStyle/>
          <a:p>
            <a:fld id="{DD81661F-7AAC-472E-951B-C7E87943D5F7}" type="datetimeFigureOut">
              <a:rPr lang="en-IN" smtClean="0"/>
              <a:t>25-11-2024</a:t>
            </a:fld>
            <a:endParaRPr lang="en-IN"/>
          </a:p>
        </p:txBody>
      </p:sp>
      <p:sp>
        <p:nvSpPr>
          <p:cNvPr id="5" name="Footer Placeholder 4">
            <a:extLst>
              <a:ext uri="{FF2B5EF4-FFF2-40B4-BE49-F238E27FC236}">
                <a16:creationId xmlns:a16="http://schemas.microsoft.com/office/drawing/2014/main" id="{D3DBE77B-2619-A7F1-0AA0-04F98B8ABF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20850C-9518-172B-AF62-EF825C14CF6B}"/>
              </a:ext>
            </a:extLst>
          </p:cNvPr>
          <p:cNvSpPr>
            <a:spLocks noGrp="1"/>
          </p:cNvSpPr>
          <p:nvPr>
            <p:ph type="sldNum" sz="quarter" idx="12"/>
          </p:nvPr>
        </p:nvSpPr>
        <p:spPr/>
        <p:txBody>
          <a:bodyPr/>
          <a:lstStyle/>
          <a:p>
            <a:fld id="{051E6BE0-8D15-42EE-A2F0-951D0CE4ECA5}" type="slidenum">
              <a:rPr lang="en-IN" smtClean="0"/>
              <a:t>‹#›</a:t>
            </a:fld>
            <a:endParaRPr lang="en-IN"/>
          </a:p>
        </p:txBody>
      </p:sp>
    </p:spTree>
    <p:extLst>
      <p:ext uri="{BB962C8B-B14F-4D97-AF65-F5344CB8AC3E}">
        <p14:creationId xmlns:p14="http://schemas.microsoft.com/office/powerpoint/2010/main" val="2804456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1B609-66A2-2F2D-7B39-5D5C98CEAD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7C7B86-8E77-B7E5-979F-16520543AC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39A665-8530-FB9B-1B7B-30D0AF9B65AF}"/>
              </a:ext>
            </a:extLst>
          </p:cNvPr>
          <p:cNvSpPr>
            <a:spLocks noGrp="1"/>
          </p:cNvSpPr>
          <p:nvPr>
            <p:ph type="dt" sz="half" idx="10"/>
          </p:nvPr>
        </p:nvSpPr>
        <p:spPr/>
        <p:txBody>
          <a:bodyPr/>
          <a:lstStyle/>
          <a:p>
            <a:fld id="{DD81661F-7AAC-472E-951B-C7E87943D5F7}" type="datetimeFigureOut">
              <a:rPr lang="en-IN" smtClean="0"/>
              <a:t>25-11-2024</a:t>
            </a:fld>
            <a:endParaRPr lang="en-IN"/>
          </a:p>
        </p:txBody>
      </p:sp>
      <p:sp>
        <p:nvSpPr>
          <p:cNvPr id="5" name="Footer Placeholder 4">
            <a:extLst>
              <a:ext uri="{FF2B5EF4-FFF2-40B4-BE49-F238E27FC236}">
                <a16:creationId xmlns:a16="http://schemas.microsoft.com/office/drawing/2014/main" id="{117C2B81-8E29-03F8-95CB-F52EF9B9A0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26975C-EA2E-35C0-BDF3-A5A662427853}"/>
              </a:ext>
            </a:extLst>
          </p:cNvPr>
          <p:cNvSpPr>
            <a:spLocks noGrp="1"/>
          </p:cNvSpPr>
          <p:nvPr>
            <p:ph type="sldNum" sz="quarter" idx="12"/>
          </p:nvPr>
        </p:nvSpPr>
        <p:spPr/>
        <p:txBody>
          <a:bodyPr/>
          <a:lstStyle/>
          <a:p>
            <a:fld id="{051E6BE0-8D15-42EE-A2F0-951D0CE4ECA5}" type="slidenum">
              <a:rPr lang="en-IN" smtClean="0"/>
              <a:t>‹#›</a:t>
            </a:fld>
            <a:endParaRPr lang="en-IN"/>
          </a:p>
        </p:txBody>
      </p:sp>
    </p:spTree>
    <p:extLst>
      <p:ext uri="{BB962C8B-B14F-4D97-AF65-F5344CB8AC3E}">
        <p14:creationId xmlns:p14="http://schemas.microsoft.com/office/powerpoint/2010/main" val="2111000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78BFE-7E18-6A58-4085-7EEE63825A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353AD6-0105-D47B-928E-4DA39AC18D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AFA9C5E-EE50-A8FC-597B-82E0099606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5219C6A-18FE-7B68-1ACD-C05A919592EB}"/>
              </a:ext>
            </a:extLst>
          </p:cNvPr>
          <p:cNvSpPr>
            <a:spLocks noGrp="1"/>
          </p:cNvSpPr>
          <p:nvPr>
            <p:ph type="dt" sz="half" idx="10"/>
          </p:nvPr>
        </p:nvSpPr>
        <p:spPr/>
        <p:txBody>
          <a:bodyPr/>
          <a:lstStyle/>
          <a:p>
            <a:fld id="{DD81661F-7AAC-472E-951B-C7E87943D5F7}" type="datetimeFigureOut">
              <a:rPr lang="en-IN" smtClean="0"/>
              <a:t>25-11-2024</a:t>
            </a:fld>
            <a:endParaRPr lang="en-IN"/>
          </a:p>
        </p:txBody>
      </p:sp>
      <p:sp>
        <p:nvSpPr>
          <p:cNvPr id="6" name="Footer Placeholder 5">
            <a:extLst>
              <a:ext uri="{FF2B5EF4-FFF2-40B4-BE49-F238E27FC236}">
                <a16:creationId xmlns:a16="http://schemas.microsoft.com/office/drawing/2014/main" id="{A7A27C7E-B3F7-B9B1-399A-C39F335C07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FD9DA7-F955-A1DD-0A6F-D51D8607B0F2}"/>
              </a:ext>
            </a:extLst>
          </p:cNvPr>
          <p:cNvSpPr>
            <a:spLocks noGrp="1"/>
          </p:cNvSpPr>
          <p:nvPr>
            <p:ph type="sldNum" sz="quarter" idx="12"/>
          </p:nvPr>
        </p:nvSpPr>
        <p:spPr/>
        <p:txBody>
          <a:bodyPr/>
          <a:lstStyle/>
          <a:p>
            <a:fld id="{051E6BE0-8D15-42EE-A2F0-951D0CE4ECA5}" type="slidenum">
              <a:rPr lang="en-IN" smtClean="0"/>
              <a:t>‹#›</a:t>
            </a:fld>
            <a:endParaRPr lang="en-IN"/>
          </a:p>
        </p:txBody>
      </p:sp>
    </p:spTree>
    <p:extLst>
      <p:ext uri="{BB962C8B-B14F-4D97-AF65-F5344CB8AC3E}">
        <p14:creationId xmlns:p14="http://schemas.microsoft.com/office/powerpoint/2010/main" val="446196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0F99A-0FBE-D150-CC91-C5AFBEF1F14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46B9BF-3E9A-ACCB-5487-58506F60AB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302B46-30C8-7B34-7827-435260161E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17CBFE3-9AC2-8F3F-7D56-A12ADFBAB9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F062DD-86BE-932B-926A-444B896003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7F84ED3-32CB-76F4-079B-0A7B42B2F9FA}"/>
              </a:ext>
            </a:extLst>
          </p:cNvPr>
          <p:cNvSpPr>
            <a:spLocks noGrp="1"/>
          </p:cNvSpPr>
          <p:nvPr>
            <p:ph type="dt" sz="half" idx="10"/>
          </p:nvPr>
        </p:nvSpPr>
        <p:spPr/>
        <p:txBody>
          <a:bodyPr/>
          <a:lstStyle/>
          <a:p>
            <a:fld id="{DD81661F-7AAC-472E-951B-C7E87943D5F7}" type="datetimeFigureOut">
              <a:rPr lang="en-IN" smtClean="0"/>
              <a:t>25-11-2024</a:t>
            </a:fld>
            <a:endParaRPr lang="en-IN"/>
          </a:p>
        </p:txBody>
      </p:sp>
      <p:sp>
        <p:nvSpPr>
          <p:cNvPr id="8" name="Footer Placeholder 7">
            <a:extLst>
              <a:ext uri="{FF2B5EF4-FFF2-40B4-BE49-F238E27FC236}">
                <a16:creationId xmlns:a16="http://schemas.microsoft.com/office/drawing/2014/main" id="{79703A26-CDE7-3E90-1F5A-7926BA5984F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A5CC493-0A45-9752-C654-34CD690119E7}"/>
              </a:ext>
            </a:extLst>
          </p:cNvPr>
          <p:cNvSpPr>
            <a:spLocks noGrp="1"/>
          </p:cNvSpPr>
          <p:nvPr>
            <p:ph type="sldNum" sz="quarter" idx="12"/>
          </p:nvPr>
        </p:nvSpPr>
        <p:spPr/>
        <p:txBody>
          <a:bodyPr/>
          <a:lstStyle/>
          <a:p>
            <a:fld id="{051E6BE0-8D15-42EE-A2F0-951D0CE4ECA5}" type="slidenum">
              <a:rPr lang="en-IN" smtClean="0"/>
              <a:t>‹#›</a:t>
            </a:fld>
            <a:endParaRPr lang="en-IN"/>
          </a:p>
        </p:txBody>
      </p:sp>
    </p:spTree>
    <p:extLst>
      <p:ext uri="{BB962C8B-B14F-4D97-AF65-F5344CB8AC3E}">
        <p14:creationId xmlns:p14="http://schemas.microsoft.com/office/powerpoint/2010/main" val="2259172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9C763-95EC-9435-FCB2-1303DE03EF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645AF5-B6B7-C314-B73B-97DAF0760CB7}"/>
              </a:ext>
            </a:extLst>
          </p:cNvPr>
          <p:cNvSpPr>
            <a:spLocks noGrp="1"/>
          </p:cNvSpPr>
          <p:nvPr>
            <p:ph type="dt" sz="half" idx="10"/>
          </p:nvPr>
        </p:nvSpPr>
        <p:spPr/>
        <p:txBody>
          <a:bodyPr/>
          <a:lstStyle/>
          <a:p>
            <a:fld id="{DD81661F-7AAC-472E-951B-C7E87943D5F7}" type="datetimeFigureOut">
              <a:rPr lang="en-IN" smtClean="0"/>
              <a:t>25-11-2024</a:t>
            </a:fld>
            <a:endParaRPr lang="en-IN"/>
          </a:p>
        </p:txBody>
      </p:sp>
      <p:sp>
        <p:nvSpPr>
          <p:cNvPr id="4" name="Footer Placeholder 3">
            <a:extLst>
              <a:ext uri="{FF2B5EF4-FFF2-40B4-BE49-F238E27FC236}">
                <a16:creationId xmlns:a16="http://schemas.microsoft.com/office/drawing/2014/main" id="{0B3EC8AA-D536-E7F8-F5EA-636BAFAC9E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43DDF0D-D22E-6B5F-92A9-68A87E368789}"/>
              </a:ext>
            </a:extLst>
          </p:cNvPr>
          <p:cNvSpPr>
            <a:spLocks noGrp="1"/>
          </p:cNvSpPr>
          <p:nvPr>
            <p:ph type="sldNum" sz="quarter" idx="12"/>
          </p:nvPr>
        </p:nvSpPr>
        <p:spPr/>
        <p:txBody>
          <a:bodyPr/>
          <a:lstStyle/>
          <a:p>
            <a:fld id="{051E6BE0-8D15-42EE-A2F0-951D0CE4ECA5}" type="slidenum">
              <a:rPr lang="en-IN" smtClean="0"/>
              <a:t>‹#›</a:t>
            </a:fld>
            <a:endParaRPr lang="en-IN"/>
          </a:p>
        </p:txBody>
      </p:sp>
    </p:spTree>
    <p:extLst>
      <p:ext uri="{BB962C8B-B14F-4D97-AF65-F5344CB8AC3E}">
        <p14:creationId xmlns:p14="http://schemas.microsoft.com/office/powerpoint/2010/main" val="68022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50A76C-629F-10CF-4847-2FBF0048BFE1}"/>
              </a:ext>
            </a:extLst>
          </p:cNvPr>
          <p:cNvSpPr>
            <a:spLocks noGrp="1"/>
          </p:cNvSpPr>
          <p:nvPr>
            <p:ph type="dt" sz="half" idx="10"/>
          </p:nvPr>
        </p:nvSpPr>
        <p:spPr/>
        <p:txBody>
          <a:bodyPr/>
          <a:lstStyle/>
          <a:p>
            <a:fld id="{DD81661F-7AAC-472E-951B-C7E87943D5F7}" type="datetimeFigureOut">
              <a:rPr lang="en-IN" smtClean="0"/>
              <a:t>25-11-2024</a:t>
            </a:fld>
            <a:endParaRPr lang="en-IN"/>
          </a:p>
        </p:txBody>
      </p:sp>
      <p:sp>
        <p:nvSpPr>
          <p:cNvPr id="3" name="Footer Placeholder 2">
            <a:extLst>
              <a:ext uri="{FF2B5EF4-FFF2-40B4-BE49-F238E27FC236}">
                <a16:creationId xmlns:a16="http://schemas.microsoft.com/office/drawing/2014/main" id="{7C40A11C-7F97-28EC-1D64-DA129E28B05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40CB10-232A-7435-4AA8-8A22B078639E}"/>
              </a:ext>
            </a:extLst>
          </p:cNvPr>
          <p:cNvSpPr>
            <a:spLocks noGrp="1"/>
          </p:cNvSpPr>
          <p:nvPr>
            <p:ph type="sldNum" sz="quarter" idx="12"/>
          </p:nvPr>
        </p:nvSpPr>
        <p:spPr/>
        <p:txBody>
          <a:bodyPr/>
          <a:lstStyle/>
          <a:p>
            <a:fld id="{051E6BE0-8D15-42EE-A2F0-951D0CE4ECA5}" type="slidenum">
              <a:rPr lang="en-IN" smtClean="0"/>
              <a:t>‹#›</a:t>
            </a:fld>
            <a:endParaRPr lang="en-IN"/>
          </a:p>
        </p:txBody>
      </p:sp>
    </p:spTree>
    <p:extLst>
      <p:ext uri="{BB962C8B-B14F-4D97-AF65-F5344CB8AC3E}">
        <p14:creationId xmlns:p14="http://schemas.microsoft.com/office/powerpoint/2010/main" val="1456762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FA6F7-38F2-1AE1-410C-1FDBE4E439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4FFDA1-9A6C-49EE-C22C-89F25626FB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5B3DFD-A12A-7EEC-95EE-30FA0BDE22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1DF5DE-CC08-2986-7731-83522C8E148A}"/>
              </a:ext>
            </a:extLst>
          </p:cNvPr>
          <p:cNvSpPr>
            <a:spLocks noGrp="1"/>
          </p:cNvSpPr>
          <p:nvPr>
            <p:ph type="dt" sz="half" idx="10"/>
          </p:nvPr>
        </p:nvSpPr>
        <p:spPr/>
        <p:txBody>
          <a:bodyPr/>
          <a:lstStyle/>
          <a:p>
            <a:fld id="{DD81661F-7AAC-472E-951B-C7E87943D5F7}" type="datetimeFigureOut">
              <a:rPr lang="en-IN" smtClean="0"/>
              <a:t>25-11-2024</a:t>
            </a:fld>
            <a:endParaRPr lang="en-IN"/>
          </a:p>
        </p:txBody>
      </p:sp>
      <p:sp>
        <p:nvSpPr>
          <p:cNvPr id="6" name="Footer Placeholder 5">
            <a:extLst>
              <a:ext uri="{FF2B5EF4-FFF2-40B4-BE49-F238E27FC236}">
                <a16:creationId xmlns:a16="http://schemas.microsoft.com/office/drawing/2014/main" id="{456E3CCF-495D-E7A7-CD2B-4609DB130F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5D6361-4F99-8756-439B-6A75B2105FD9}"/>
              </a:ext>
            </a:extLst>
          </p:cNvPr>
          <p:cNvSpPr>
            <a:spLocks noGrp="1"/>
          </p:cNvSpPr>
          <p:nvPr>
            <p:ph type="sldNum" sz="quarter" idx="12"/>
          </p:nvPr>
        </p:nvSpPr>
        <p:spPr/>
        <p:txBody>
          <a:bodyPr/>
          <a:lstStyle/>
          <a:p>
            <a:fld id="{051E6BE0-8D15-42EE-A2F0-951D0CE4ECA5}" type="slidenum">
              <a:rPr lang="en-IN" smtClean="0"/>
              <a:t>‹#›</a:t>
            </a:fld>
            <a:endParaRPr lang="en-IN"/>
          </a:p>
        </p:txBody>
      </p:sp>
    </p:spTree>
    <p:extLst>
      <p:ext uri="{BB962C8B-B14F-4D97-AF65-F5344CB8AC3E}">
        <p14:creationId xmlns:p14="http://schemas.microsoft.com/office/powerpoint/2010/main" val="1587245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E6E19-AC5E-F229-1AAB-38255ACFE6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B66097-6FF2-EE05-436D-927C498A8B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27BC242-DDA5-9665-60CB-94BB66CF96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9B8C05-8B7B-BBFE-C6DE-10AC79CA26AA}"/>
              </a:ext>
            </a:extLst>
          </p:cNvPr>
          <p:cNvSpPr>
            <a:spLocks noGrp="1"/>
          </p:cNvSpPr>
          <p:nvPr>
            <p:ph type="dt" sz="half" idx="10"/>
          </p:nvPr>
        </p:nvSpPr>
        <p:spPr/>
        <p:txBody>
          <a:bodyPr/>
          <a:lstStyle/>
          <a:p>
            <a:fld id="{DD81661F-7AAC-472E-951B-C7E87943D5F7}" type="datetimeFigureOut">
              <a:rPr lang="en-IN" smtClean="0"/>
              <a:t>25-11-2024</a:t>
            </a:fld>
            <a:endParaRPr lang="en-IN"/>
          </a:p>
        </p:txBody>
      </p:sp>
      <p:sp>
        <p:nvSpPr>
          <p:cNvPr id="6" name="Footer Placeholder 5">
            <a:extLst>
              <a:ext uri="{FF2B5EF4-FFF2-40B4-BE49-F238E27FC236}">
                <a16:creationId xmlns:a16="http://schemas.microsoft.com/office/drawing/2014/main" id="{4CD74A17-59E2-B61A-180A-7FD856E91F2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3CCB2A-0611-0B79-F9E8-16F0946044BB}"/>
              </a:ext>
            </a:extLst>
          </p:cNvPr>
          <p:cNvSpPr>
            <a:spLocks noGrp="1"/>
          </p:cNvSpPr>
          <p:nvPr>
            <p:ph type="sldNum" sz="quarter" idx="12"/>
          </p:nvPr>
        </p:nvSpPr>
        <p:spPr/>
        <p:txBody>
          <a:bodyPr/>
          <a:lstStyle/>
          <a:p>
            <a:fld id="{051E6BE0-8D15-42EE-A2F0-951D0CE4ECA5}" type="slidenum">
              <a:rPr lang="en-IN" smtClean="0"/>
              <a:t>‹#›</a:t>
            </a:fld>
            <a:endParaRPr lang="en-IN"/>
          </a:p>
        </p:txBody>
      </p:sp>
    </p:spTree>
    <p:extLst>
      <p:ext uri="{BB962C8B-B14F-4D97-AF65-F5344CB8AC3E}">
        <p14:creationId xmlns:p14="http://schemas.microsoft.com/office/powerpoint/2010/main" val="387646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7B4E3-42F0-979A-7F0F-B450D020DB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09F605-44BC-F94C-97D5-4D8124A1D1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D08B01-B72D-25A0-1734-F3F45511F8B0}"/>
              </a:ext>
            </a:extLst>
          </p:cNvPr>
          <p:cNvSpPr>
            <a:spLocks noGrp="1"/>
          </p:cNvSpPr>
          <p:nvPr>
            <p:ph type="dt" sz="half" idx="10"/>
          </p:nvPr>
        </p:nvSpPr>
        <p:spPr/>
        <p:txBody>
          <a:bodyPr/>
          <a:lstStyle/>
          <a:p>
            <a:fld id="{DD81661F-7AAC-472E-951B-C7E87943D5F7}" type="datetimeFigureOut">
              <a:rPr lang="en-IN" smtClean="0"/>
              <a:t>25-11-2024</a:t>
            </a:fld>
            <a:endParaRPr lang="en-IN"/>
          </a:p>
        </p:txBody>
      </p:sp>
      <p:sp>
        <p:nvSpPr>
          <p:cNvPr id="5" name="Footer Placeholder 4">
            <a:extLst>
              <a:ext uri="{FF2B5EF4-FFF2-40B4-BE49-F238E27FC236}">
                <a16:creationId xmlns:a16="http://schemas.microsoft.com/office/drawing/2014/main" id="{1C6C87F1-7EF1-DFF4-6DFC-BE35726CD8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77D20B-42B2-226A-494E-9FFF6F75C2EC}"/>
              </a:ext>
            </a:extLst>
          </p:cNvPr>
          <p:cNvSpPr>
            <a:spLocks noGrp="1"/>
          </p:cNvSpPr>
          <p:nvPr>
            <p:ph type="sldNum" sz="quarter" idx="12"/>
          </p:nvPr>
        </p:nvSpPr>
        <p:spPr/>
        <p:txBody>
          <a:bodyPr/>
          <a:lstStyle/>
          <a:p>
            <a:fld id="{051E6BE0-8D15-42EE-A2F0-951D0CE4ECA5}" type="slidenum">
              <a:rPr lang="en-IN" smtClean="0"/>
              <a:t>‹#›</a:t>
            </a:fld>
            <a:endParaRPr lang="en-IN"/>
          </a:p>
        </p:txBody>
      </p:sp>
    </p:spTree>
    <p:extLst>
      <p:ext uri="{BB962C8B-B14F-4D97-AF65-F5344CB8AC3E}">
        <p14:creationId xmlns:p14="http://schemas.microsoft.com/office/powerpoint/2010/main" val="857123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D91871-1F1A-57FA-F90B-DE27C272E4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5831180-39F9-1071-7519-996A68252D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732D6D-999B-DAC0-C939-D092BF7A7C38}"/>
              </a:ext>
            </a:extLst>
          </p:cNvPr>
          <p:cNvSpPr>
            <a:spLocks noGrp="1"/>
          </p:cNvSpPr>
          <p:nvPr>
            <p:ph type="dt" sz="half" idx="10"/>
          </p:nvPr>
        </p:nvSpPr>
        <p:spPr/>
        <p:txBody>
          <a:bodyPr/>
          <a:lstStyle/>
          <a:p>
            <a:fld id="{DD81661F-7AAC-472E-951B-C7E87943D5F7}" type="datetimeFigureOut">
              <a:rPr lang="en-IN" smtClean="0"/>
              <a:t>25-11-2024</a:t>
            </a:fld>
            <a:endParaRPr lang="en-IN"/>
          </a:p>
        </p:txBody>
      </p:sp>
      <p:sp>
        <p:nvSpPr>
          <p:cNvPr id="5" name="Footer Placeholder 4">
            <a:extLst>
              <a:ext uri="{FF2B5EF4-FFF2-40B4-BE49-F238E27FC236}">
                <a16:creationId xmlns:a16="http://schemas.microsoft.com/office/drawing/2014/main" id="{A3A2A9CD-6D58-7C21-9C1F-9395D78B0A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084E19-E4B6-DBA0-CD73-EB9693350FDE}"/>
              </a:ext>
            </a:extLst>
          </p:cNvPr>
          <p:cNvSpPr>
            <a:spLocks noGrp="1"/>
          </p:cNvSpPr>
          <p:nvPr>
            <p:ph type="sldNum" sz="quarter" idx="12"/>
          </p:nvPr>
        </p:nvSpPr>
        <p:spPr/>
        <p:txBody>
          <a:bodyPr/>
          <a:lstStyle/>
          <a:p>
            <a:fld id="{051E6BE0-8D15-42EE-A2F0-951D0CE4ECA5}" type="slidenum">
              <a:rPr lang="en-IN" smtClean="0"/>
              <a:t>‹#›</a:t>
            </a:fld>
            <a:endParaRPr lang="en-IN"/>
          </a:p>
        </p:txBody>
      </p:sp>
    </p:spTree>
    <p:extLst>
      <p:ext uri="{BB962C8B-B14F-4D97-AF65-F5344CB8AC3E}">
        <p14:creationId xmlns:p14="http://schemas.microsoft.com/office/powerpoint/2010/main" val="54752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6233" y="304801"/>
            <a:ext cx="10668000" cy="1216025"/>
          </a:xfrm>
        </p:spPr>
        <p:txBody>
          <a:bodyPr/>
          <a:lstStyle/>
          <a:p>
            <a:r>
              <a:rPr lang="en-US"/>
              <a:t>Click to edit Master title style</a:t>
            </a:r>
            <a:endParaRPr lang="en-IN"/>
          </a:p>
        </p:txBody>
      </p:sp>
      <p:sp>
        <p:nvSpPr>
          <p:cNvPr id="3" name="Text Placeholder 2"/>
          <p:cNvSpPr>
            <a:spLocks noGrp="1"/>
          </p:cNvSpPr>
          <p:nvPr>
            <p:ph type="body" sz="half" idx="1"/>
          </p:nvPr>
        </p:nvSpPr>
        <p:spPr>
          <a:xfrm>
            <a:off x="755651" y="1752600"/>
            <a:ext cx="523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1251" y="1752600"/>
            <a:ext cx="523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p:cNvSpPr>
            <a:spLocks noGrp="1" noChangeArrowheads="1"/>
          </p:cNvSpPr>
          <p:nvPr>
            <p:ph type="dt" sz="half" idx="10"/>
          </p:nvPr>
        </p:nvSpPr>
        <p:spPr>
          <a:ln/>
        </p:spPr>
        <p:txBody>
          <a:bodyPr/>
          <a:lstStyle>
            <a:lvl1pPr>
              <a:defRPr/>
            </a:lvl1pPr>
          </a:lstStyle>
          <a:p>
            <a:pPr>
              <a:defRPr/>
            </a:pPr>
            <a:endParaRPr lang="en-US"/>
          </a:p>
        </p:txBody>
      </p:sp>
      <p:sp>
        <p:nvSpPr>
          <p:cNvPr id="6" name="Rectangle 7"/>
          <p:cNvSpPr>
            <a:spLocks noGrp="1" noChangeArrowheads="1"/>
          </p:cNvSpPr>
          <p:nvPr>
            <p:ph type="ftr" sz="quarter" idx="11"/>
          </p:nvPr>
        </p:nvSpPr>
        <p:spPr>
          <a:ln/>
        </p:spPr>
        <p:txBody>
          <a:bodyPr/>
          <a:lstStyle>
            <a:lvl1pPr>
              <a:defRPr/>
            </a:lvl1pPr>
          </a:lstStyle>
          <a:p>
            <a:pPr>
              <a:defRPr/>
            </a:pPr>
            <a:endParaRPr lang="en-US"/>
          </a:p>
        </p:txBody>
      </p:sp>
      <p:sp>
        <p:nvSpPr>
          <p:cNvPr id="7" name="Rectangle 8"/>
          <p:cNvSpPr>
            <a:spLocks noGrp="1" noChangeArrowheads="1"/>
          </p:cNvSpPr>
          <p:nvPr>
            <p:ph type="sldNum" sz="quarter" idx="12"/>
          </p:nvPr>
        </p:nvSpPr>
        <p:spPr>
          <a:ln/>
        </p:spPr>
        <p:txBody>
          <a:bodyPr/>
          <a:lstStyle>
            <a:lvl1pPr>
              <a:defRPr/>
            </a:lvl1pPr>
          </a:lstStyle>
          <a:p>
            <a:pPr>
              <a:defRPr/>
            </a:pPr>
            <a:fld id="{EF1926FC-FAB8-4478-8E26-54689FB51FF1}" type="slidenum">
              <a:rPr lang="en-US"/>
              <a:pPr>
                <a:defRPr/>
              </a:pPr>
              <a:t>‹#›</a:t>
            </a:fld>
            <a:endParaRPr lang="en-US"/>
          </a:p>
        </p:txBody>
      </p:sp>
    </p:spTree>
    <p:extLst>
      <p:ext uri="{BB962C8B-B14F-4D97-AF65-F5344CB8AC3E}">
        <p14:creationId xmlns:p14="http://schemas.microsoft.com/office/powerpoint/2010/main" val="292320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F1E614-D865-FB17-459D-1B7BF88782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226CA8-1B55-2B08-B127-65338BFC74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87FF9D-AD8B-801A-F6CE-2BE2A6A854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81661F-7AAC-472E-951B-C7E87943D5F7}" type="datetimeFigureOut">
              <a:rPr lang="en-IN" smtClean="0"/>
              <a:t>25-11-2024</a:t>
            </a:fld>
            <a:endParaRPr lang="en-IN"/>
          </a:p>
        </p:txBody>
      </p:sp>
      <p:sp>
        <p:nvSpPr>
          <p:cNvPr id="5" name="Footer Placeholder 4">
            <a:extLst>
              <a:ext uri="{FF2B5EF4-FFF2-40B4-BE49-F238E27FC236}">
                <a16:creationId xmlns:a16="http://schemas.microsoft.com/office/drawing/2014/main" id="{36E16752-D8A6-2491-2175-03F99DF72A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BA4126E-497E-B6B3-59C6-619C6B5ABA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1E6BE0-8D15-42EE-A2F0-951D0CE4ECA5}" type="slidenum">
              <a:rPr lang="en-IN" smtClean="0"/>
              <a:t>‹#›</a:t>
            </a:fld>
            <a:endParaRPr lang="en-IN"/>
          </a:p>
        </p:txBody>
      </p:sp>
    </p:spTree>
    <p:extLst>
      <p:ext uri="{BB962C8B-B14F-4D97-AF65-F5344CB8AC3E}">
        <p14:creationId xmlns:p14="http://schemas.microsoft.com/office/powerpoint/2010/main" val="71743112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www.geeksforgeeks.org/difference-between-multiplexer-and-demultiplexer/" TargetMode="Externa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www.electrically4u.com/number-systems/#binary-number-system" TargetMode="Externa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hyperlink" Target="https://www.geeksforgeeks.org/what-is-gray-code/" TargetMode="External"/><Relationship Id="rId2" Type="http://schemas.openxmlformats.org/officeDocument/2006/relationships/hyperlink" Target="https://www.geeksforgeeks.org/what-is-digital-logic/" TargetMode="Externa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381356" y="222196"/>
            <a:ext cx="6829444" cy="706475"/>
          </a:xfrm>
        </p:spPr>
        <p:style>
          <a:lnRef idx="0">
            <a:schemeClr val="accent2"/>
          </a:lnRef>
          <a:fillRef idx="3">
            <a:schemeClr val="accent2"/>
          </a:fillRef>
          <a:effectRef idx="3">
            <a:schemeClr val="accent2"/>
          </a:effectRef>
          <a:fontRef idx="minor">
            <a:schemeClr val="lt1"/>
          </a:fontRef>
        </p:style>
        <p:txBody>
          <a:bodyPr>
            <a:normAutofit/>
          </a:bodyPr>
          <a:lstStyle/>
          <a:p>
            <a:pPr algn="ctr" eaLnBrk="1" hangingPunct="1"/>
            <a:r>
              <a:rPr lang="en-US" sz="2800" b="1" dirty="0">
                <a:solidFill>
                  <a:srgbClr val="FFFF00"/>
                </a:solidFill>
              </a:rPr>
              <a:t>Boolean  Algebra </a:t>
            </a:r>
          </a:p>
        </p:txBody>
      </p:sp>
      <p:sp>
        <p:nvSpPr>
          <p:cNvPr id="3075" name="Rectangle 3"/>
          <p:cNvSpPr>
            <a:spLocks noGrp="1" noChangeArrowheads="1"/>
          </p:cNvSpPr>
          <p:nvPr>
            <p:ph idx="1"/>
          </p:nvPr>
        </p:nvSpPr>
        <p:spPr>
          <a:xfrm>
            <a:off x="3024166" y="2000241"/>
            <a:ext cx="7115196" cy="3918803"/>
          </a:xfrm>
        </p:spPr>
        <p:txBody>
          <a:bodyPr>
            <a:normAutofit/>
          </a:bodyPr>
          <a:lstStyle/>
          <a:p>
            <a:pPr algn="just" eaLnBrk="1" hangingPunct="1">
              <a:buFont typeface="Wingdings" pitchFamily="2" charset="2"/>
              <a:buChar char="ü"/>
            </a:pPr>
            <a:r>
              <a:rPr lang="en-US" sz="3200" b="1" dirty="0">
                <a:effectLst>
                  <a:outerShdw blurRad="38100" dist="38100" dir="2700000" algn="tl">
                    <a:srgbClr val="000000">
                      <a:alpha val="43137"/>
                    </a:srgbClr>
                  </a:outerShdw>
                </a:effectLst>
              </a:rPr>
              <a:t>Developed by English Mathematician George Boole in between 1815 - 1864.</a:t>
            </a:r>
          </a:p>
          <a:p>
            <a:pPr algn="just" eaLnBrk="1" hangingPunct="1">
              <a:buFont typeface="Wingdings" pitchFamily="2" charset="2"/>
              <a:buChar char="ü"/>
            </a:pPr>
            <a:r>
              <a:rPr lang="en-US" sz="3200" b="1" dirty="0">
                <a:effectLst>
                  <a:outerShdw blurRad="38100" dist="38100" dir="2700000" algn="tl">
                    <a:srgbClr val="000000">
                      <a:alpha val="43137"/>
                    </a:srgbClr>
                  </a:outerShdw>
                </a:effectLst>
              </a:rPr>
              <a:t>It is described as an algebra of logic or an algebra of two values </a:t>
            </a:r>
            <a:r>
              <a:rPr lang="en-US" sz="3200" b="1" dirty="0" err="1">
                <a:effectLst>
                  <a:outerShdw blurRad="38100" dist="38100" dir="2700000" algn="tl">
                    <a:srgbClr val="000000">
                      <a:alpha val="43137"/>
                    </a:srgbClr>
                  </a:outerShdw>
                </a:effectLst>
              </a:rPr>
              <a:t>i.e</a:t>
            </a:r>
            <a:r>
              <a:rPr lang="en-US" sz="3200" b="1" dirty="0">
                <a:effectLst>
                  <a:outerShdw blurRad="38100" dist="38100" dir="2700000" algn="tl">
                    <a:srgbClr val="000000">
                      <a:alpha val="43137"/>
                    </a:srgbClr>
                  </a:outerShdw>
                </a:effectLst>
              </a:rPr>
              <a:t> True or False.</a:t>
            </a:r>
          </a:p>
          <a:p>
            <a:pPr algn="just" eaLnBrk="1" hangingPunct="1">
              <a:buFont typeface="Wingdings" pitchFamily="2" charset="2"/>
              <a:buChar char="ü"/>
            </a:pPr>
            <a:r>
              <a:rPr lang="en-US" sz="3200" b="1" dirty="0">
                <a:effectLst>
                  <a:outerShdw blurRad="38100" dist="38100" dir="2700000" algn="tl">
                    <a:srgbClr val="000000">
                      <a:alpha val="43137"/>
                    </a:srgbClr>
                  </a:outerShdw>
                </a:effectLst>
              </a:rPr>
              <a:t>The term logic means a statement having binary decisions </a:t>
            </a:r>
            <a:r>
              <a:rPr lang="en-US" sz="3200" b="1" dirty="0" err="1">
                <a:effectLst>
                  <a:outerShdw blurRad="38100" dist="38100" dir="2700000" algn="tl">
                    <a:srgbClr val="000000">
                      <a:alpha val="43137"/>
                    </a:srgbClr>
                  </a:outerShdw>
                </a:effectLst>
              </a:rPr>
              <a:t>i.e</a:t>
            </a:r>
            <a:r>
              <a:rPr lang="en-US" sz="3200" b="1" dirty="0">
                <a:effectLst>
                  <a:outerShdw blurRad="38100" dist="38100" dir="2700000" algn="tl">
                    <a:srgbClr val="000000">
                      <a:alpha val="43137"/>
                    </a:srgbClr>
                  </a:outerShdw>
                </a:effectLst>
              </a:rPr>
              <a:t> True/Yes or False/No. </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fade">
                                      <p:cBhvr>
                                        <p:cTn id="7" dur="1000"/>
                                        <p:tgtEl>
                                          <p:spTgt spid="3075">
                                            <p:txEl>
                                              <p:pRg st="0" end="0"/>
                                            </p:txEl>
                                          </p:spTgt>
                                        </p:tgtEl>
                                      </p:cBhvr>
                                    </p:animEffect>
                                    <p:anim calcmode="lin" valueType="num">
                                      <p:cBhvr>
                                        <p:cTn id="8" dur="1000" fill="hold"/>
                                        <p:tgtEl>
                                          <p:spTgt spid="3075">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3075">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075">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7" presetClass="entr" presetSubtype="0" fill="hold" nodeType="clickEffect">
                                  <p:stCondLst>
                                    <p:cond delay="0"/>
                                  </p:stCondLst>
                                  <p:childTnLst>
                                    <p:set>
                                      <p:cBhvr>
                                        <p:cTn id="14" dur="1" fill="hold">
                                          <p:stCondLst>
                                            <p:cond delay="0"/>
                                          </p:stCondLst>
                                        </p:cTn>
                                        <p:tgtEl>
                                          <p:spTgt spid="3075">
                                            <p:txEl>
                                              <p:pRg st="1" end="1"/>
                                            </p:txEl>
                                          </p:spTgt>
                                        </p:tgtEl>
                                        <p:attrNameLst>
                                          <p:attrName>style.visibility</p:attrName>
                                        </p:attrNameLst>
                                      </p:cBhvr>
                                      <p:to>
                                        <p:strVal val="visible"/>
                                      </p:to>
                                    </p:set>
                                    <p:animEffect transition="in" filter="fade">
                                      <p:cBhvr>
                                        <p:cTn id="15" dur="1000"/>
                                        <p:tgtEl>
                                          <p:spTgt spid="3075">
                                            <p:txEl>
                                              <p:pRg st="1" end="1"/>
                                            </p:txEl>
                                          </p:spTgt>
                                        </p:tgtEl>
                                      </p:cBhvr>
                                    </p:animEffect>
                                    <p:anim calcmode="lin" valueType="num">
                                      <p:cBhvr>
                                        <p:cTn id="16" dur="1000" fill="hold"/>
                                        <p:tgtEl>
                                          <p:spTgt spid="3075">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3075">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3075">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7" presetClass="entr" presetSubtype="0" fill="hold" nodeType="clickEffect">
                                  <p:stCondLst>
                                    <p:cond delay="0"/>
                                  </p:stCondLst>
                                  <p:childTnLst>
                                    <p:set>
                                      <p:cBhvr>
                                        <p:cTn id="22" dur="1" fill="hold">
                                          <p:stCondLst>
                                            <p:cond delay="0"/>
                                          </p:stCondLst>
                                        </p:cTn>
                                        <p:tgtEl>
                                          <p:spTgt spid="3075">
                                            <p:txEl>
                                              <p:pRg st="2" end="2"/>
                                            </p:txEl>
                                          </p:spTgt>
                                        </p:tgtEl>
                                        <p:attrNameLst>
                                          <p:attrName>style.visibility</p:attrName>
                                        </p:attrNameLst>
                                      </p:cBhvr>
                                      <p:to>
                                        <p:strVal val="visible"/>
                                      </p:to>
                                    </p:set>
                                    <p:animEffect transition="in" filter="fade">
                                      <p:cBhvr>
                                        <p:cTn id="23" dur="1000"/>
                                        <p:tgtEl>
                                          <p:spTgt spid="3075">
                                            <p:txEl>
                                              <p:pRg st="2" end="2"/>
                                            </p:txEl>
                                          </p:spTgt>
                                        </p:tgtEl>
                                      </p:cBhvr>
                                    </p:animEffect>
                                    <p:anim calcmode="lin" valueType="num">
                                      <p:cBhvr>
                                        <p:cTn id="24" dur="1000" fill="hold"/>
                                        <p:tgtEl>
                                          <p:spTgt spid="3075">
                                            <p:txEl>
                                              <p:pRg st="2" end="2"/>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3075">
                                            <p:txEl>
                                              <p:pRg st="2" end="2"/>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3075">
                                            <p:txEl>
                                              <p:pRg st="2" end="2"/>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167042" y="222196"/>
            <a:ext cx="7043758" cy="777913"/>
          </a:xfrm>
        </p:spPr>
        <p:style>
          <a:lnRef idx="0">
            <a:schemeClr val="accent3"/>
          </a:lnRef>
          <a:fillRef idx="3">
            <a:schemeClr val="accent3"/>
          </a:fillRef>
          <a:effectRef idx="3">
            <a:schemeClr val="accent3"/>
          </a:effectRef>
          <a:fontRef idx="minor">
            <a:schemeClr val="lt1"/>
          </a:fontRef>
        </p:style>
        <p:txBody>
          <a:bodyPr>
            <a:normAutofit/>
          </a:bodyPr>
          <a:lstStyle/>
          <a:p>
            <a:pPr algn="ctr" eaLnBrk="1" hangingPunct="1"/>
            <a:r>
              <a:rPr lang="en-US" sz="3000" b="1" dirty="0">
                <a:solidFill>
                  <a:schemeClr val="tx1"/>
                </a:solidFill>
              </a:rPr>
              <a:t>APPLICATION OF BOOLEAN ALGEBRA</a:t>
            </a:r>
          </a:p>
        </p:txBody>
      </p:sp>
      <p:sp>
        <p:nvSpPr>
          <p:cNvPr id="4099" name="Rectangle 3"/>
          <p:cNvSpPr>
            <a:spLocks noGrp="1" noChangeArrowheads="1"/>
          </p:cNvSpPr>
          <p:nvPr>
            <p:ph idx="1"/>
          </p:nvPr>
        </p:nvSpPr>
        <p:spPr>
          <a:xfrm>
            <a:off x="2436918" y="1107934"/>
            <a:ext cx="7615262" cy="5199875"/>
          </a:xfrm>
        </p:spPr>
        <p:txBody>
          <a:bodyPr>
            <a:noAutofit/>
          </a:bodyPr>
          <a:lstStyle/>
          <a:p>
            <a:pPr algn="just" eaLnBrk="1" hangingPunct="1">
              <a:lnSpc>
                <a:spcPct val="80000"/>
              </a:lnSpc>
            </a:pPr>
            <a:r>
              <a:rPr lang="en-US" sz="3200" b="1" dirty="0">
                <a:effectLst>
                  <a:outerShdw blurRad="38100" dist="38100" dir="2700000" algn="tl">
                    <a:srgbClr val="000000">
                      <a:alpha val="43137"/>
                    </a:srgbClr>
                  </a:outerShdw>
                </a:effectLst>
              </a:rPr>
              <a:t>It is used to perform the logical operations in digital computer.</a:t>
            </a:r>
          </a:p>
          <a:p>
            <a:pPr algn="just" eaLnBrk="1" hangingPunct="1">
              <a:lnSpc>
                <a:spcPct val="80000"/>
              </a:lnSpc>
            </a:pPr>
            <a:r>
              <a:rPr lang="en-US" sz="3200" b="1" dirty="0">
                <a:effectLst>
                  <a:outerShdw blurRad="38100" dist="38100" dir="2700000" algn="tl">
                    <a:srgbClr val="000000">
                      <a:alpha val="43137"/>
                    </a:srgbClr>
                  </a:outerShdw>
                </a:effectLst>
              </a:rPr>
              <a:t>In digital computer True represent by ‘1’ (high volt) and False represent by ‘0’ (low volt)</a:t>
            </a:r>
          </a:p>
          <a:p>
            <a:pPr algn="just" eaLnBrk="1" hangingPunct="1">
              <a:lnSpc>
                <a:spcPct val="80000"/>
              </a:lnSpc>
            </a:pPr>
            <a:r>
              <a:rPr lang="en-US" sz="3200" b="1" dirty="0">
                <a:effectLst>
                  <a:outerShdw blurRad="38100" dist="38100" dir="2700000" algn="tl">
                    <a:srgbClr val="000000">
                      <a:alpha val="43137"/>
                    </a:srgbClr>
                  </a:outerShdw>
                </a:effectLst>
              </a:rPr>
              <a:t>Logical operations are performed by logical operators. The fundamental logical operators are:</a:t>
            </a:r>
          </a:p>
          <a:p>
            <a:pPr eaLnBrk="1" hangingPunct="1">
              <a:lnSpc>
                <a:spcPct val="80000"/>
              </a:lnSpc>
              <a:buFont typeface="Wingdings" pitchFamily="2" charset="2"/>
              <a:buNone/>
            </a:pPr>
            <a:r>
              <a:rPr lang="en-US" sz="3200" b="1" dirty="0">
                <a:effectLst>
                  <a:outerShdw blurRad="38100" dist="38100" dir="2700000" algn="tl">
                    <a:srgbClr val="000000">
                      <a:alpha val="43137"/>
                    </a:srgbClr>
                  </a:outerShdw>
                </a:effectLst>
              </a:rPr>
              <a:t>		1.	AND (conjunction)</a:t>
            </a:r>
          </a:p>
          <a:p>
            <a:pPr eaLnBrk="1" hangingPunct="1">
              <a:lnSpc>
                <a:spcPct val="80000"/>
              </a:lnSpc>
              <a:buFont typeface="Wingdings" pitchFamily="2" charset="2"/>
              <a:buNone/>
            </a:pPr>
            <a:r>
              <a:rPr lang="en-US" sz="3200" b="1" dirty="0">
                <a:effectLst>
                  <a:outerShdw blurRad="38100" dist="38100" dir="2700000" algn="tl">
                    <a:srgbClr val="000000">
                      <a:alpha val="43137"/>
                    </a:srgbClr>
                  </a:outerShdw>
                </a:effectLst>
              </a:rPr>
              <a:t>		2.	OR (disjunction)</a:t>
            </a:r>
          </a:p>
          <a:p>
            <a:pPr eaLnBrk="1" hangingPunct="1">
              <a:lnSpc>
                <a:spcPct val="80000"/>
              </a:lnSpc>
              <a:buFont typeface="Wingdings" pitchFamily="2" charset="2"/>
              <a:buNone/>
            </a:pPr>
            <a:r>
              <a:rPr lang="en-US" sz="3200" b="1" dirty="0">
                <a:effectLst>
                  <a:outerShdw blurRad="38100" dist="38100" dir="2700000" algn="tl">
                    <a:srgbClr val="000000">
                      <a:alpha val="43137"/>
                    </a:srgbClr>
                  </a:outerShdw>
                </a:effectLst>
              </a:rPr>
              <a:t>		3.	NOT (negation/complement)</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wheel(4)">
                                      <p:cBhvr>
                                        <p:cTn id="7" dur="2000"/>
                                        <p:tgtEl>
                                          <p:spTgt spid="40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wheel(4)">
                                      <p:cBhvr>
                                        <p:cTn id="12" dur="2000"/>
                                        <p:tgtEl>
                                          <p:spTgt spid="40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wheel(4)">
                                      <p:cBhvr>
                                        <p:cTn id="17" dur="2000"/>
                                        <p:tgtEl>
                                          <p:spTgt spid="40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checkerboard(across)">
                                      <p:cBhvr>
                                        <p:cTn id="22" dur="500"/>
                                        <p:tgtEl>
                                          <p:spTgt spid="4099">
                                            <p:txEl>
                                              <p:pRg st="3" end="3"/>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4099">
                                            <p:txEl>
                                              <p:pRg st="4" end="4"/>
                                            </p:txEl>
                                          </p:spTgt>
                                        </p:tgtEl>
                                        <p:attrNameLst>
                                          <p:attrName>style.visibility</p:attrName>
                                        </p:attrNameLst>
                                      </p:cBhvr>
                                      <p:to>
                                        <p:strVal val="visible"/>
                                      </p:to>
                                    </p:set>
                                    <p:animEffect transition="in" filter="checkerboard(across)">
                                      <p:cBhvr>
                                        <p:cTn id="25" dur="500"/>
                                        <p:tgtEl>
                                          <p:spTgt spid="4099">
                                            <p:txEl>
                                              <p:pRg st="4" end="4"/>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4099">
                                            <p:txEl>
                                              <p:pRg st="5" end="5"/>
                                            </p:txEl>
                                          </p:spTgt>
                                        </p:tgtEl>
                                        <p:attrNameLst>
                                          <p:attrName>style.visibility</p:attrName>
                                        </p:attrNameLst>
                                      </p:cBhvr>
                                      <p:to>
                                        <p:strVal val="visible"/>
                                      </p:to>
                                    </p:set>
                                    <p:animEffect transition="in" filter="checkerboard(across)">
                                      <p:cBhvr>
                                        <p:cTn id="28" dur="500"/>
                                        <p:tgtEl>
                                          <p:spTgt spid="4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095604" y="222196"/>
            <a:ext cx="7115196" cy="706475"/>
          </a:xfrm>
        </p:spPr>
        <p:style>
          <a:lnRef idx="0">
            <a:schemeClr val="accent2"/>
          </a:lnRef>
          <a:fillRef idx="3">
            <a:schemeClr val="accent2"/>
          </a:fillRef>
          <a:effectRef idx="3">
            <a:schemeClr val="accent2"/>
          </a:effectRef>
          <a:fontRef idx="minor">
            <a:schemeClr val="lt1"/>
          </a:fontRef>
        </p:style>
        <p:txBody>
          <a:bodyPr/>
          <a:lstStyle/>
          <a:p>
            <a:pPr algn="ctr" eaLnBrk="1" hangingPunct="1"/>
            <a:r>
              <a:rPr lang="en-US" b="1" dirty="0">
                <a:solidFill>
                  <a:srgbClr val="FFFF00"/>
                </a:solidFill>
                <a:effectLst>
                  <a:outerShdw blurRad="38100" dist="38100" dir="2700000" algn="tl">
                    <a:srgbClr val="000000">
                      <a:alpha val="43137"/>
                    </a:srgbClr>
                  </a:outerShdw>
                </a:effectLst>
                <a:latin typeface="+mn-lt"/>
              </a:rPr>
              <a:t>AND operator</a:t>
            </a:r>
          </a:p>
        </p:txBody>
      </p:sp>
      <p:sp>
        <p:nvSpPr>
          <p:cNvPr id="9219" name="Rectangle 3"/>
          <p:cNvSpPr>
            <a:spLocks noGrp="1" noChangeArrowheads="1"/>
          </p:cNvSpPr>
          <p:nvPr>
            <p:ph idx="1"/>
          </p:nvPr>
        </p:nvSpPr>
        <p:spPr>
          <a:xfrm>
            <a:off x="2809852" y="1443836"/>
            <a:ext cx="7400948" cy="3918803"/>
          </a:xfrm>
        </p:spPr>
        <p:txBody>
          <a:bodyPr>
            <a:normAutofit lnSpcReduction="10000"/>
          </a:bodyPr>
          <a:lstStyle/>
          <a:p>
            <a:pPr eaLnBrk="1" hangingPunct="1">
              <a:buNone/>
            </a:pPr>
            <a:r>
              <a:rPr lang="en-US" b="1" dirty="0">
                <a:effectLst>
                  <a:outerShdw blurRad="38100" dist="38100" dir="2700000" algn="tl">
                    <a:srgbClr val="000000">
                      <a:alpha val="43137"/>
                    </a:srgbClr>
                  </a:outerShdw>
                </a:effectLst>
              </a:rPr>
              <a:t>	It performs logical multiplication and denoted by (.) dot.</a:t>
            </a:r>
          </a:p>
          <a:p>
            <a:pPr eaLnBrk="1" hangingPunct="1">
              <a:buFont typeface="Wingdings" pitchFamily="2" charset="2"/>
              <a:buNone/>
            </a:pPr>
            <a:r>
              <a:rPr lang="en-US" b="1" dirty="0">
                <a:effectLst>
                  <a:outerShdw blurRad="38100" dist="38100" dir="2700000" algn="tl">
                    <a:srgbClr val="000000">
                      <a:alpha val="43137"/>
                    </a:srgbClr>
                  </a:outerShdw>
                </a:effectLst>
              </a:rPr>
              <a:t>			</a:t>
            </a:r>
            <a:r>
              <a:rPr lang="en-US" sz="3600" b="1" dirty="0">
                <a:effectLst>
                  <a:outerShdw blurRad="38100" dist="38100" dir="2700000" algn="tl">
                    <a:srgbClr val="000000">
                      <a:alpha val="43137"/>
                    </a:srgbClr>
                  </a:outerShdw>
                </a:effectLst>
              </a:rPr>
              <a:t>X	Y	X.Y</a:t>
            </a:r>
          </a:p>
          <a:p>
            <a:pPr eaLnBrk="1" hangingPunct="1">
              <a:buFont typeface="Wingdings" pitchFamily="2" charset="2"/>
              <a:buNone/>
            </a:pPr>
            <a:r>
              <a:rPr lang="en-US" sz="3600" b="1" dirty="0">
                <a:effectLst>
                  <a:outerShdw blurRad="38100" dist="38100" dir="2700000" algn="tl">
                    <a:srgbClr val="000000">
                      <a:alpha val="43137"/>
                    </a:srgbClr>
                  </a:outerShdw>
                </a:effectLst>
              </a:rPr>
              <a:t>			0	0	0</a:t>
            </a:r>
          </a:p>
          <a:p>
            <a:pPr eaLnBrk="1" hangingPunct="1">
              <a:buFont typeface="Wingdings" pitchFamily="2" charset="2"/>
              <a:buNone/>
            </a:pPr>
            <a:r>
              <a:rPr lang="en-US" sz="3600" b="1" dirty="0">
                <a:effectLst>
                  <a:outerShdw blurRad="38100" dist="38100" dir="2700000" algn="tl">
                    <a:srgbClr val="000000">
                      <a:alpha val="43137"/>
                    </a:srgbClr>
                  </a:outerShdw>
                </a:effectLst>
              </a:rPr>
              <a:t>			0	1	0</a:t>
            </a:r>
          </a:p>
          <a:p>
            <a:pPr eaLnBrk="1" hangingPunct="1">
              <a:buFont typeface="Wingdings" pitchFamily="2" charset="2"/>
              <a:buNone/>
            </a:pPr>
            <a:r>
              <a:rPr lang="en-US" sz="3600" b="1" dirty="0">
                <a:effectLst>
                  <a:outerShdw blurRad="38100" dist="38100" dir="2700000" algn="tl">
                    <a:srgbClr val="000000">
                      <a:alpha val="43137"/>
                    </a:srgbClr>
                  </a:outerShdw>
                </a:effectLst>
              </a:rPr>
              <a:t>			1	0	0</a:t>
            </a:r>
          </a:p>
          <a:p>
            <a:pPr eaLnBrk="1" hangingPunct="1">
              <a:buFont typeface="Wingdings" pitchFamily="2" charset="2"/>
              <a:buNone/>
            </a:pPr>
            <a:r>
              <a:rPr lang="en-US" sz="3600" b="1" dirty="0">
                <a:effectLst>
                  <a:outerShdw blurRad="38100" dist="38100" dir="2700000" algn="tl">
                    <a:srgbClr val="000000">
                      <a:alpha val="43137"/>
                    </a:srgbClr>
                  </a:outerShdw>
                </a:effectLst>
              </a:rPr>
              <a:t>			1	1	1</a:t>
            </a:r>
          </a:p>
        </p:txBody>
      </p:sp>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095604" y="222196"/>
            <a:ext cx="7115196" cy="635037"/>
          </a:xfrm>
        </p:spPr>
        <p:style>
          <a:lnRef idx="0">
            <a:schemeClr val="accent4"/>
          </a:lnRef>
          <a:fillRef idx="3">
            <a:schemeClr val="accent4"/>
          </a:fillRef>
          <a:effectRef idx="3">
            <a:schemeClr val="accent4"/>
          </a:effectRef>
          <a:fontRef idx="minor">
            <a:schemeClr val="lt1"/>
          </a:fontRef>
        </p:style>
        <p:txBody>
          <a:bodyPr>
            <a:normAutofit/>
          </a:bodyPr>
          <a:lstStyle/>
          <a:p>
            <a:pPr algn="ctr" eaLnBrk="1" hangingPunct="1"/>
            <a:r>
              <a:rPr lang="en-US" sz="3200" b="1" dirty="0">
                <a:solidFill>
                  <a:schemeClr val="bg1"/>
                </a:solidFill>
                <a:effectLst>
                  <a:outerShdw blurRad="38100" dist="38100" dir="2700000" algn="tl">
                    <a:srgbClr val="000000">
                      <a:alpha val="43137"/>
                    </a:srgbClr>
                  </a:outerShdw>
                </a:effectLst>
              </a:rPr>
              <a:t>OR operator</a:t>
            </a:r>
          </a:p>
        </p:txBody>
      </p:sp>
      <p:sp>
        <p:nvSpPr>
          <p:cNvPr id="10243" name="Rectangle 3"/>
          <p:cNvSpPr>
            <a:spLocks noGrp="1" noChangeArrowheads="1"/>
          </p:cNvSpPr>
          <p:nvPr>
            <p:ph idx="1"/>
          </p:nvPr>
        </p:nvSpPr>
        <p:spPr>
          <a:xfrm>
            <a:off x="3095604" y="1428737"/>
            <a:ext cx="7400948" cy="3918803"/>
          </a:xfrm>
        </p:spPr>
        <p:txBody>
          <a:bodyPr>
            <a:noAutofit/>
          </a:bodyPr>
          <a:lstStyle/>
          <a:p>
            <a:pPr eaLnBrk="1" hangingPunct="1">
              <a:buNone/>
            </a:pPr>
            <a:r>
              <a:rPr lang="en-US" sz="3200" b="1" dirty="0">
                <a:effectLst>
                  <a:outerShdw blurRad="38100" dist="38100" dir="2700000" algn="tl">
                    <a:srgbClr val="000000">
                      <a:alpha val="43137"/>
                    </a:srgbClr>
                  </a:outerShdw>
                </a:effectLst>
              </a:rPr>
              <a:t>	It performs logical addition and denoted by (+) plus.</a:t>
            </a:r>
          </a:p>
          <a:p>
            <a:pPr eaLnBrk="1" hangingPunct="1">
              <a:buFont typeface="Wingdings" pitchFamily="2" charset="2"/>
              <a:buNone/>
            </a:pPr>
            <a:r>
              <a:rPr lang="en-US" sz="3200" b="1" dirty="0">
                <a:effectLst>
                  <a:outerShdw blurRad="38100" dist="38100" dir="2700000" algn="tl">
                    <a:srgbClr val="000000">
                      <a:alpha val="43137"/>
                    </a:srgbClr>
                  </a:outerShdw>
                </a:effectLst>
              </a:rPr>
              <a:t>		X	Y	X+Y</a:t>
            </a:r>
          </a:p>
          <a:p>
            <a:pPr eaLnBrk="1" hangingPunct="1">
              <a:buFont typeface="Wingdings" pitchFamily="2" charset="2"/>
              <a:buNone/>
            </a:pPr>
            <a:r>
              <a:rPr lang="en-US" sz="3200" b="1" dirty="0">
                <a:effectLst>
                  <a:outerShdw blurRad="38100" dist="38100" dir="2700000" algn="tl">
                    <a:srgbClr val="000000">
                      <a:alpha val="43137"/>
                    </a:srgbClr>
                  </a:outerShdw>
                </a:effectLst>
              </a:rPr>
              <a:t>		0	0	0</a:t>
            </a:r>
          </a:p>
          <a:p>
            <a:pPr eaLnBrk="1" hangingPunct="1">
              <a:buFont typeface="Wingdings" pitchFamily="2" charset="2"/>
              <a:buNone/>
            </a:pPr>
            <a:r>
              <a:rPr lang="en-US" sz="3200" b="1" dirty="0">
                <a:effectLst>
                  <a:outerShdw blurRad="38100" dist="38100" dir="2700000" algn="tl">
                    <a:srgbClr val="000000">
                      <a:alpha val="43137"/>
                    </a:srgbClr>
                  </a:outerShdw>
                </a:effectLst>
              </a:rPr>
              <a:t>		0	1	1</a:t>
            </a:r>
          </a:p>
          <a:p>
            <a:pPr eaLnBrk="1" hangingPunct="1">
              <a:buFont typeface="Wingdings" pitchFamily="2" charset="2"/>
              <a:buNone/>
            </a:pPr>
            <a:r>
              <a:rPr lang="en-US" sz="3200" b="1" dirty="0">
                <a:effectLst>
                  <a:outerShdw blurRad="38100" dist="38100" dir="2700000" algn="tl">
                    <a:srgbClr val="000000">
                      <a:alpha val="43137"/>
                    </a:srgbClr>
                  </a:outerShdw>
                </a:effectLst>
              </a:rPr>
              <a:t>		1	0	1</a:t>
            </a:r>
          </a:p>
          <a:p>
            <a:pPr eaLnBrk="1" hangingPunct="1">
              <a:buFont typeface="Wingdings" pitchFamily="2" charset="2"/>
              <a:buNone/>
            </a:pPr>
            <a:r>
              <a:rPr lang="en-US" sz="3200" b="1" dirty="0">
                <a:effectLst>
                  <a:outerShdw blurRad="38100" dist="38100" dir="2700000" algn="tl">
                    <a:srgbClr val="000000">
                      <a:alpha val="43137"/>
                    </a:srgbClr>
                  </a:outerShdw>
                </a:effectLst>
              </a:rPr>
              <a:t>		1	1	1</a:t>
            </a:r>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095604" y="222196"/>
            <a:ext cx="7115196" cy="706475"/>
          </a:xfrm>
        </p:spPr>
        <p:style>
          <a:lnRef idx="0">
            <a:schemeClr val="accent5"/>
          </a:lnRef>
          <a:fillRef idx="3">
            <a:schemeClr val="accent5"/>
          </a:fillRef>
          <a:effectRef idx="3">
            <a:schemeClr val="accent5"/>
          </a:effectRef>
          <a:fontRef idx="minor">
            <a:schemeClr val="lt1"/>
          </a:fontRef>
        </p:style>
        <p:txBody>
          <a:bodyPr>
            <a:normAutofit/>
          </a:bodyPr>
          <a:lstStyle/>
          <a:p>
            <a:pPr algn="ctr" eaLnBrk="1" hangingPunct="1"/>
            <a:r>
              <a:rPr lang="en-US" b="1" dirty="0">
                <a:solidFill>
                  <a:srgbClr val="660033"/>
                </a:solidFill>
              </a:rPr>
              <a:t>NOT operator</a:t>
            </a:r>
          </a:p>
        </p:txBody>
      </p:sp>
      <p:sp>
        <p:nvSpPr>
          <p:cNvPr id="11267" name="Rectangle 3"/>
          <p:cNvSpPr>
            <a:spLocks noGrp="1" noChangeArrowheads="1"/>
          </p:cNvSpPr>
          <p:nvPr>
            <p:ph idx="1"/>
          </p:nvPr>
        </p:nvSpPr>
        <p:spPr>
          <a:xfrm>
            <a:off x="3095604" y="1443836"/>
            <a:ext cx="7286676" cy="3918803"/>
          </a:xfrm>
        </p:spPr>
        <p:txBody>
          <a:bodyPr>
            <a:noAutofit/>
          </a:bodyPr>
          <a:lstStyle/>
          <a:p>
            <a:pPr algn="just" eaLnBrk="1" hangingPunct="1">
              <a:buNone/>
            </a:pPr>
            <a:r>
              <a:rPr lang="en-US" sz="3200" b="1" dirty="0">
                <a:effectLst>
                  <a:outerShdw blurRad="38100" dist="38100" dir="2700000" algn="tl">
                    <a:srgbClr val="000000">
                      <a:alpha val="43137"/>
                    </a:srgbClr>
                  </a:outerShdw>
                </a:effectLst>
              </a:rPr>
              <a:t>		It performs logical negation and denoted by (-) bar. It operates on single variable.</a:t>
            </a:r>
          </a:p>
          <a:p>
            <a:pPr eaLnBrk="1" hangingPunct="1">
              <a:buFont typeface="Wingdings" pitchFamily="2" charset="2"/>
              <a:buNone/>
            </a:pPr>
            <a:r>
              <a:rPr lang="en-US" sz="3200" b="1" dirty="0">
                <a:effectLst>
                  <a:outerShdw blurRad="38100" dist="38100" dir="2700000" algn="tl">
                    <a:srgbClr val="000000">
                      <a:alpha val="43137"/>
                    </a:srgbClr>
                  </a:outerShdw>
                </a:effectLst>
              </a:rPr>
              <a:t>		</a:t>
            </a:r>
          </a:p>
          <a:p>
            <a:pPr eaLnBrk="1" hangingPunct="1">
              <a:buFont typeface="Wingdings" pitchFamily="2" charset="2"/>
              <a:buNone/>
            </a:pPr>
            <a:r>
              <a:rPr lang="en-US" sz="3200" b="1" dirty="0">
                <a:effectLst>
                  <a:outerShdw blurRad="38100" dist="38100" dir="2700000" algn="tl">
                    <a:srgbClr val="000000">
                      <a:alpha val="43137"/>
                    </a:srgbClr>
                  </a:outerShdw>
                </a:effectLst>
              </a:rPr>
              <a:t>		X	</a:t>
            </a:r>
            <a:r>
              <a:rPr lang="en-US" sz="3200" b="1" dirty="0" err="1">
                <a:effectLst>
                  <a:outerShdw blurRad="38100" dist="38100" dir="2700000" algn="tl">
                    <a:srgbClr val="000000">
                      <a:alpha val="43137"/>
                    </a:srgbClr>
                  </a:outerShdw>
                </a:effectLst>
              </a:rPr>
              <a:t>X</a:t>
            </a:r>
            <a:r>
              <a:rPr lang="en-US" sz="3200" b="1" dirty="0">
                <a:effectLst>
                  <a:outerShdw blurRad="38100" dist="38100" dir="2700000" algn="tl">
                    <a:srgbClr val="000000">
                      <a:alpha val="43137"/>
                    </a:srgbClr>
                  </a:outerShdw>
                </a:effectLst>
              </a:rPr>
              <a:t>	(means complement of x)</a:t>
            </a:r>
          </a:p>
          <a:p>
            <a:pPr eaLnBrk="1" hangingPunct="1">
              <a:buFont typeface="Wingdings" pitchFamily="2" charset="2"/>
              <a:buNone/>
            </a:pPr>
            <a:r>
              <a:rPr lang="en-US" sz="3200" b="1" dirty="0">
                <a:effectLst>
                  <a:outerShdw blurRad="38100" dist="38100" dir="2700000" algn="tl">
                    <a:srgbClr val="000000">
                      <a:alpha val="43137"/>
                    </a:srgbClr>
                  </a:outerShdw>
                </a:effectLst>
              </a:rPr>
              <a:t>		0	1	</a:t>
            </a:r>
          </a:p>
          <a:p>
            <a:pPr eaLnBrk="1" hangingPunct="1">
              <a:buFont typeface="Wingdings" pitchFamily="2" charset="2"/>
              <a:buNone/>
            </a:pPr>
            <a:r>
              <a:rPr lang="en-US" sz="3200" b="1" dirty="0">
                <a:effectLst>
                  <a:outerShdw blurRad="38100" dist="38100" dir="2700000" algn="tl">
                    <a:srgbClr val="000000">
                      <a:alpha val="43137"/>
                    </a:srgbClr>
                  </a:outerShdw>
                </a:effectLst>
              </a:rPr>
              <a:t>		1	0	</a:t>
            </a:r>
          </a:p>
          <a:p>
            <a:pPr eaLnBrk="1" hangingPunct="1">
              <a:buFont typeface="Wingdings" pitchFamily="2" charset="2"/>
              <a:buNone/>
            </a:pPr>
            <a:r>
              <a:rPr lang="en-US" sz="3200" b="1" dirty="0">
                <a:effectLst>
                  <a:outerShdw blurRad="38100" dist="38100" dir="2700000" algn="tl">
                    <a:srgbClr val="000000">
                      <a:alpha val="43137"/>
                    </a:srgbClr>
                  </a:outerShdw>
                </a:effectLst>
              </a:rPr>
              <a:t>		</a:t>
            </a:r>
          </a:p>
        </p:txBody>
      </p:sp>
      <p:sp>
        <p:nvSpPr>
          <p:cNvPr id="11268" name="Line 4"/>
          <p:cNvSpPr>
            <a:spLocks noChangeShapeType="1"/>
          </p:cNvSpPr>
          <p:nvPr/>
        </p:nvSpPr>
        <p:spPr bwMode="auto">
          <a:xfrm>
            <a:off x="4881554" y="3500438"/>
            <a:ext cx="457200" cy="0"/>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Tree>
  </p:cSld>
  <p:clrMapOvr>
    <a:masterClrMapping/>
  </p:clrMapOvr>
  <p:transition advClick="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881290" y="222196"/>
            <a:ext cx="7215238" cy="777913"/>
          </a:xfrm>
        </p:spPr>
        <p:style>
          <a:lnRef idx="0">
            <a:schemeClr val="accent2"/>
          </a:lnRef>
          <a:fillRef idx="3">
            <a:schemeClr val="accent2"/>
          </a:fillRef>
          <a:effectRef idx="3">
            <a:schemeClr val="accent2"/>
          </a:effectRef>
          <a:fontRef idx="minor">
            <a:schemeClr val="lt1"/>
          </a:fontRef>
        </p:style>
        <p:txBody>
          <a:bodyPr/>
          <a:lstStyle/>
          <a:p>
            <a:pPr algn="ctr" eaLnBrk="1" hangingPunct="1"/>
            <a:r>
              <a:rPr lang="en-US" b="1" dirty="0">
                <a:solidFill>
                  <a:schemeClr val="bg1"/>
                </a:solidFill>
                <a:effectLst>
                  <a:outerShdw blurRad="38100" dist="38100" dir="2700000" algn="tl">
                    <a:srgbClr val="000000">
                      <a:alpha val="43137"/>
                    </a:srgbClr>
                  </a:outerShdw>
                </a:effectLst>
              </a:rPr>
              <a:t>Truth Table</a:t>
            </a:r>
          </a:p>
        </p:txBody>
      </p:sp>
      <p:sp>
        <p:nvSpPr>
          <p:cNvPr id="8195" name="Rectangle 3"/>
          <p:cNvSpPr>
            <a:spLocks noGrp="1" noChangeArrowheads="1"/>
          </p:cNvSpPr>
          <p:nvPr>
            <p:ph idx="1"/>
          </p:nvPr>
        </p:nvSpPr>
        <p:spPr>
          <a:xfrm>
            <a:off x="3095604" y="1443836"/>
            <a:ext cx="7215238" cy="3918803"/>
          </a:xfrm>
        </p:spPr>
        <p:txBody>
          <a:bodyPr>
            <a:noAutofit/>
          </a:bodyPr>
          <a:lstStyle/>
          <a:p>
            <a:pPr algn="just" eaLnBrk="1" hangingPunct="1"/>
            <a:r>
              <a:rPr lang="en-US" sz="3200" b="1" dirty="0">
                <a:effectLst>
                  <a:outerShdw blurRad="38100" dist="38100" dir="2700000" algn="tl">
                    <a:srgbClr val="000000">
                      <a:alpha val="43137"/>
                    </a:srgbClr>
                  </a:outerShdw>
                </a:effectLst>
              </a:rPr>
              <a:t>Truth table is a table that contains all possible values of logical variables/statements in a Boolean expression.</a:t>
            </a:r>
          </a:p>
          <a:p>
            <a:pPr algn="just" eaLnBrk="1" hangingPunct="1">
              <a:buFont typeface="Wingdings" pitchFamily="2" charset="2"/>
              <a:buNone/>
            </a:pPr>
            <a:endParaRPr lang="en-US" sz="3200" b="1" dirty="0">
              <a:effectLst>
                <a:outerShdw blurRad="38100" dist="38100" dir="2700000" algn="tl">
                  <a:srgbClr val="000000">
                    <a:alpha val="43137"/>
                  </a:srgbClr>
                </a:outerShdw>
              </a:effectLst>
            </a:endParaRPr>
          </a:p>
          <a:p>
            <a:pPr algn="just" eaLnBrk="1" hangingPunct="1">
              <a:buFont typeface="Wingdings" pitchFamily="2" charset="2"/>
              <a:buNone/>
            </a:pPr>
            <a:r>
              <a:rPr lang="en-US" sz="3200" b="1" dirty="0">
                <a:effectLst>
                  <a:outerShdw blurRad="38100" dist="38100" dir="2700000" algn="tl">
                    <a:srgbClr val="000000">
                      <a:alpha val="43137"/>
                    </a:srgbClr>
                  </a:outerShdw>
                </a:effectLst>
              </a:rPr>
              <a:t>No. of possible combination = </a:t>
            </a:r>
          </a:p>
          <a:p>
            <a:pPr algn="just" eaLnBrk="1" hangingPunct="1">
              <a:buFont typeface="Wingdings" pitchFamily="2" charset="2"/>
              <a:buNone/>
            </a:pPr>
            <a:r>
              <a:rPr lang="en-US" sz="3200" b="1" dirty="0">
                <a:effectLst>
                  <a:outerShdw blurRad="38100" dist="38100" dir="2700000" algn="tl">
                    <a:srgbClr val="000000">
                      <a:alpha val="43137"/>
                    </a:srgbClr>
                  </a:outerShdw>
                </a:effectLst>
              </a:rPr>
              <a:t>2</a:t>
            </a:r>
            <a:r>
              <a:rPr lang="en-US" sz="3200" b="1" baseline="30000" dirty="0">
                <a:effectLst>
                  <a:outerShdw blurRad="38100" dist="38100" dir="2700000" algn="tl">
                    <a:srgbClr val="000000">
                      <a:alpha val="43137"/>
                    </a:srgbClr>
                  </a:outerShdw>
                </a:effectLst>
              </a:rPr>
              <a:t>n</a:t>
            </a:r>
            <a:r>
              <a:rPr lang="en-US" sz="3200" b="1" dirty="0">
                <a:effectLst>
                  <a:outerShdw blurRad="38100" dist="38100" dir="2700000" algn="tl">
                    <a:srgbClr val="000000">
                      <a:alpha val="43137"/>
                    </a:srgbClr>
                  </a:outerShdw>
                </a:effectLst>
              </a:rPr>
              <a:t>, where n=number of variables used in a Boolean expression.</a:t>
            </a:r>
            <a:endParaRPr lang="en-US" sz="3200" b="1" baseline="30000" dirty="0">
              <a:effectLst>
                <a:outerShdw blurRad="38100" dist="38100" dir="2700000" algn="tl">
                  <a:srgbClr val="000000">
                    <a:alpha val="43137"/>
                  </a:srgbClr>
                </a:outerShdw>
              </a:effectLst>
            </a:endParaRPr>
          </a:p>
          <a:p>
            <a:pPr algn="just" eaLnBrk="1" hangingPunct="1">
              <a:buFont typeface="Wingdings" pitchFamily="2" charset="2"/>
              <a:buNone/>
            </a:pPr>
            <a:endParaRPr lang="en-US" sz="3200" b="1" dirty="0">
              <a:effectLst>
                <a:outerShdw blurRad="38100" dist="38100" dir="2700000" algn="tl">
                  <a:srgbClr val="000000">
                    <a:alpha val="43137"/>
                  </a:srgbClr>
                </a:outerShdw>
              </a:effectLst>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8195">
                                            <p:txEl>
                                              <p:pRg st="0" end="0"/>
                                            </p:txEl>
                                          </p:spTgt>
                                        </p:tgtEl>
                                        <p:attrNameLst>
                                          <p:attrName>style.visibility</p:attrName>
                                        </p:attrNameLst>
                                      </p:cBhvr>
                                      <p:to>
                                        <p:strVal val="visible"/>
                                      </p:to>
                                    </p:set>
                                    <p:anim calcmode="discrete" valueType="clr">
                                      <p:cBhvr override="childStyle">
                                        <p:cTn id="7" dur="80"/>
                                        <p:tgtEl>
                                          <p:spTgt spid="819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8195">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8195">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8195">
                                            <p:txEl>
                                              <p:pRg st="2" end="2"/>
                                            </p:txEl>
                                          </p:spTgt>
                                        </p:tgtEl>
                                        <p:attrNameLst>
                                          <p:attrName>style.visibility</p:attrName>
                                        </p:attrNameLst>
                                      </p:cBhvr>
                                      <p:to>
                                        <p:strVal val="visible"/>
                                      </p:to>
                                    </p:set>
                                    <p:anim calcmode="discrete" valueType="clr">
                                      <p:cBhvr override="childStyle">
                                        <p:cTn id="14" dur="80"/>
                                        <p:tgtEl>
                                          <p:spTgt spid="8195">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8195">
                                            <p:txEl>
                                              <p:pRg st="2" end="2"/>
                                            </p:txEl>
                                          </p:spTgt>
                                        </p:tgtEl>
                                        <p:attrNameLst>
                                          <p:attrName>fillcolor</p:attrName>
                                        </p:attrNameLst>
                                      </p:cBhvr>
                                      <p:tavLst>
                                        <p:tav tm="0">
                                          <p:val>
                                            <p:clrVal>
                                              <a:schemeClr val="accent2"/>
                                            </p:clrVal>
                                          </p:val>
                                        </p:tav>
                                        <p:tav tm="50000">
                                          <p:val>
                                            <p:clrVal>
                                              <a:schemeClr val="hlink"/>
                                            </p:clrVal>
                                          </p:val>
                                        </p:tav>
                                      </p:tavLst>
                                    </p:anim>
                                    <p:set>
                                      <p:cBhvr>
                                        <p:cTn id="16" dur="80"/>
                                        <p:tgtEl>
                                          <p:spTgt spid="8195">
                                            <p:txEl>
                                              <p:pRg st="2" end="2"/>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8195">
                                            <p:txEl>
                                              <p:pRg st="3" end="3"/>
                                            </p:txEl>
                                          </p:spTgt>
                                        </p:tgtEl>
                                        <p:attrNameLst>
                                          <p:attrName>style.visibility</p:attrName>
                                        </p:attrNameLst>
                                      </p:cBhvr>
                                      <p:to>
                                        <p:strVal val="visible"/>
                                      </p:to>
                                    </p:set>
                                    <p:anim calcmode="discrete" valueType="clr">
                                      <p:cBhvr override="childStyle">
                                        <p:cTn id="21" dur="80"/>
                                        <p:tgtEl>
                                          <p:spTgt spid="8195">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8195">
                                            <p:txEl>
                                              <p:pRg st="3" end="3"/>
                                            </p:txEl>
                                          </p:spTgt>
                                        </p:tgtEl>
                                        <p:attrNameLst>
                                          <p:attrName>fillcolor</p:attrName>
                                        </p:attrNameLst>
                                      </p:cBhvr>
                                      <p:tavLst>
                                        <p:tav tm="0">
                                          <p:val>
                                            <p:clrVal>
                                              <a:schemeClr val="accent2"/>
                                            </p:clrVal>
                                          </p:val>
                                        </p:tav>
                                        <p:tav tm="50000">
                                          <p:val>
                                            <p:clrVal>
                                              <a:schemeClr val="hlink"/>
                                            </p:clrVal>
                                          </p:val>
                                        </p:tav>
                                      </p:tavLst>
                                    </p:anim>
                                    <p:set>
                                      <p:cBhvr>
                                        <p:cTn id="23" dur="80"/>
                                        <p:tgtEl>
                                          <p:spTgt spid="8195">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809852" y="222196"/>
            <a:ext cx="7000924" cy="635037"/>
          </a:xfrm>
        </p:spPr>
        <p:style>
          <a:lnRef idx="0">
            <a:schemeClr val="accent3"/>
          </a:lnRef>
          <a:fillRef idx="3">
            <a:schemeClr val="accent3"/>
          </a:fillRef>
          <a:effectRef idx="3">
            <a:schemeClr val="accent3"/>
          </a:effectRef>
          <a:fontRef idx="minor">
            <a:schemeClr val="lt1"/>
          </a:fontRef>
        </p:style>
        <p:txBody>
          <a:bodyPr>
            <a:normAutofit fontScale="90000"/>
          </a:bodyPr>
          <a:lstStyle/>
          <a:p>
            <a:pPr algn="ctr" eaLnBrk="1" hangingPunct="1"/>
            <a:r>
              <a:rPr lang="en-US" b="1" dirty="0">
                <a:solidFill>
                  <a:schemeClr val="bg1"/>
                </a:solidFill>
                <a:effectLst>
                  <a:outerShdw blurRad="38100" dist="38100" dir="2700000" algn="tl">
                    <a:srgbClr val="000000">
                      <a:alpha val="43137"/>
                    </a:srgbClr>
                  </a:outerShdw>
                </a:effectLst>
              </a:rPr>
              <a:t>Truth Table</a:t>
            </a:r>
          </a:p>
        </p:txBody>
      </p:sp>
      <p:sp>
        <p:nvSpPr>
          <p:cNvPr id="9219" name="Rectangle 3"/>
          <p:cNvSpPr>
            <a:spLocks noGrp="1" noChangeArrowheads="1"/>
          </p:cNvSpPr>
          <p:nvPr>
            <p:ph idx="1"/>
          </p:nvPr>
        </p:nvSpPr>
        <p:spPr>
          <a:xfrm>
            <a:off x="2881290" y="943746"/>
            <a:ext cx="7429552" cy="5699965"/>
          </a:xfrm>
        </p:spPr>
        <p:txBody>
          <a:bodyPr>
            <a:noAutofit/>
          </a:bodyPr>
          <a:lstStyle/>
          <a:p>
            <a:pPr eaLnBrk="1" hangingPunct="1">
              <a:buNone/>
            </a:pPr>
            <a:r>
              <a:rPr lang="en-US" sz="3200" b="1" dirty="0">
                <a:effectLst>
                  <a:outerShdw blurRad="38100" dist="38100" dir="2700000" algn="tl">
                    <a:srgbClr val="000000">
                      <a:alpha val="43137"/>
                    </a:srgbClr>
                  </a:outerShdw>
                </a:effectLst>
              </a:rPr>
              <a:t>The truth table for XY + Z is as follows:</a:t>
            </a:r>
          </a:p>
          <a:p>
            <a:pPr eaLnBrk="1" hangingPunct="1">
              <a:buFont typeface="Wingdings" pitchFamily="2" charset="2"/>
              <a:buNone/>
            </a:pPr>
            <a:r>
              <a:rPr lang="en-US" sz="3200" b="1" dirty="0">
                <a:effectLst>
                  <a:outerShdw blurRad="38100" dist="38100" dir="2700000" algn="tl">
                    <a:srgbClr val="000000">
                      <a:alpha val="43137"/>
                    </a:srgbClr>
                  </a:outerShdw>
                </a:effectLst>
              </a:rPr>
              <a:t>		Dec	X	Y	Z	XY	XY+Z</a:t>
            </a:r>
          </a:p>
          <a:p>
            <a:pPr eaLnBrk="1" hangingPunct="1">
              <a:buFont typeface="Wingdings" pitchFamily="2" charset="2"/>
              <a:buNone/>
            </a:pPr>
            <a:r>
              <a:rPr lang="en-US" sz="3200" b="1" dirty="0">
                <a:effectLst>
                  <a:outerShdw blurRad="38100" dist="38100" dir="2700000" algn="tl">
                    <a:srgbClr val="000000">
                      <a:alpha val="43137"/>
                    </a:srgbClr>
                  </a:outerShdw>
                </a:effectLst>
              </a:rPr>
              <a:t>		0	0	0	0	0	0</a:t>
            </a:r>
          </a:p>
          <a:p>
            <a:pPr eaLnBrk="1" hangingPunct="1">
              <a:buFont typeface="Wingdings" pitchFamily="2" charset="2"/>
              <a:buNone/>
            </a:pPr>
            <a:r>
              <a:rPr lang="en-US" sz="3200" b="1" dirty="0">
                <a:effectLst>
                  <a:outerShdw blurRad="38100" dist="38100" dir="2700000" algn="tl">
                    <a:srgbClr val="000000">
                      <a:alpha val="43137"/>
                    </a:srgbClr>
                  </a:outerShdw>
                </a:effectLst>
              </a:rPr>
              <a:t>		1	0	0	1	0	1</a:t>
            </a:r>
          </a:p>
          <a:p>
            <a:pPr eaLnBrk="1" hangingPunct="1">
              <a:buFont typeface="Wingdings" pitchFamily="2" charset="2"/>
              <a:buNone/>
            </a:pPr>
            <a:r>
              <a:rPr lang="en-US" sz="3200" b="1" dirty="0">
                <a:effectLst>
                  <a:outerShdw blurRad="38100" dist="38100" dir="2700000" algn="tl">
                    <a:srgbClr val="000000">
                      <a:alpha val="43137"/>
                    </a:srgbClr>
                  </a:outerShdw>
                </a:effectLst>
              </a:rPr>
              <a:t>		2	0	1	0	0	0</a:t>
            </a:r>
          </a:p>
          <a:p>
            <a:pPr eaLnBrk="1" hangingPunct="1">
              <a:buFont typeface="Wingdings" pitchFamily="2" charset="2"/>
              <a:buNone/>
            </a:pPr>
            <a:r>
              <a:rPr lang="en-US" sz="3200" b="1" dirty="0">
                <a:effectLst>
                  <a:outerShdw blurRad="38100" dist="38100" dir="2700000" algn="tl">
                    <a:srgbClr val="000000">
                      <a:alpha val="43137"/>
                    </a:srgbClr>
                  </a:outerShdw>
                </a:effectLst>
              </a:rPr>
              <a:t>		3	0	1	1	0	1</a:t>
            </a:r>
          </a:p>
          <a:p>
            <a:pPr eaLnBrk="1" hangingPunct="1">
              <a:buFont typeface="Wingdings" pitchFamily="2" charset="2"/>
              <a:buNone/>
            </a:pPr>
            <a:r>
              <a:rPr lang="en-US" sz="3200" b="1" dirty="0">
                <a:effectLst>
                  <a:outerShdw blurRad="38100" dist="38100" dir="2700000" algn="tl">
                    <a:srgbClr val="000000">
                      <a:alpha val="43137"/>
                    </a:srgbClr>
                  </a:outerShdw>
                </a:effectLst>
              </a:rPr>
              <a:t>		4	1	0	0	0	0</a:t>
            </a:r>
          </a:p>
          <a:p>
            <a:pPr eaLnBrk="1" hangingPunct="1">
              <a:buFont typeface="Wingdings" pitchFamily="2" charset="2"/>
              <a:buNone/>
            </a:pPr>
            <a:r>
              <a:rPr lang="en-US" sz="3200" b="1" dirty="0">
                <a:effectLst>
                  <a:outerShdw blurRad="38100" dist="38100" dir="2700000" algn="tl">
                    <a:srgbClr val="000000">
                      <a:alpha val="43137"/>
                    </a:srgbClr>
                  </a:outerShdw>
                </a:effectLst>
              </a:rPr>
              <a:t>		5	1	0	1	0	1</a:t>
            </a:r>
          </a:p>
          <a:p>
            <a:pPr eaLnBrk="1" hangingPunct="1">
              <a:buFont typeface="Wingdings" pitchFamily="2" charset="2"/>
              <a:buNone/>
            </a:pPr>
            <a:r>
              <a:rPr lang="en-US" sz="3200" b="1" dirty="0">
                <a:effectLst>
                  <a:outerShdw blurRad="38100" dist="38100" dir="2700000" algn="tl">
                    <a:srgbClr val="000000">
                      <a:alpha val="43137"/>
                    </a:srgbClr>
                  </a:outerShdw>
                </a:effectLst>
              </a:rPr>
              <a:t>		6	1	1	0	1	1</a:t>
            </a:r>
          </a:p>
          <a:p>
            <a:pPr eaLnBrk="1" hangingPunct="1">
              <a:buFont typeface="Wingdings" pitchFamily="2" charset="2"/>
              <a:buNone/>
            </a:pPr>
            <a:r>
              <a:rPr lang="en-US" sz="3200" b="1" dirty="0">
                <a:effectLst>
                  <a:outerShdw blurRad="38100" dist="38100" dir="2700000" algn="tl">
                    <a:srgbClr val="000000">
                      <a:alpha val="43137"/>
                    </a:srgbClr>
                  </a:outerShdw>
                </a:effectLst>
              </a:rPr>
              <a:t>		7	1	1	1	1	1</a:t>
            </a:r>
          </a:p>
          <a:p>
            <a:pPr eaLnBrk="1" hangingPunct="1">
              <a:buFont typeface="Wingdings" pitchFamily="2" charset="2"/>
              <a:buNone/>
            </a:pPr>
            <a:endParaRPr lang="en-US" sz="3200" b="1" dirty="0">
              <a:effectLst>
                <a:outerShdw blurRad="38100" dist="38100" dir="2700000" algn="tl">
                  <a:srgbClr val="000000">
                    <a:alpha val="43137"/>
                  </a:srgbClr>
                </a:outerShdw>
              </a:effectLst>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9219">
                                            <p:txEl>
                                              <p:pRg st="0" end="0"/>
                                            </p:txEl>
                                          </p:spTgt>
                                        </p:tgtEl>
                                        <p:attrNameLst>
                                          <p:attrName>style.visibility</p:attrName>
                                        </p:attrNameLst>
                                      </p:cBhvr>
                                      <p:to>
                                        <p:strVal val="visible"/>
                                      </p:to>
                                    </p:set>
                                    <p:anim calcmode="lin" valueType="num">
                                      <p:cBhvr>
                                        <p:cTn id="7" dur="1000" fill="hold"/>
                                        <p:tgtEl>
                                          <p:spTgt spid="921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921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9219">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921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nodeType="clickEffect">
                                  <p:stCondLst>
                                    <p:cond delay="0"/>
                                  </p:stCondLst>
                                  <p:childTnLst>
                                    <p:set>
                                      <p:cBhvr>
                                        <p:cTn id="14" dur="1" fill="hold">
                                          <p:stCondLst>
                                            <p:cond delay="0"/>
                                          </p:stCondLst>
                                        </p:cTn>
                                        <p:tgtEl>
                                          <p:spTgt spid="9219">
                                            <p:txEl>
                                              <p:pRg st="1" end="1"/>
                                            </p:txEl>
                                          </p:spTgt>
                                        </p:tgtEl>
                                        <p:attrNameLst>
                                          <p:attrName>style.visibility</p:attrName>
                                        </p:attrNameLst>
                                      </p:cBhvr>
                                      <p:to>
                                        <p:strVal val="visible"/>
                                      </p:to>
                                    </p:set>
                                    <p:animEffect transition="in" filter="diamond(in)">
                                      <p:cBhvr>
                                        <p:cTn id="15" dur="2000"/>
                                        <p:tgtEl>
                                          <p:spTgt spid="9219">
                                            <p:txEl>
                                              <p:pRg st="1" end="1"/>
                                            </p:txEl>
                                          </p:spTgt>
                                        </p:tgtEl>
                                      </p:cBhvr>
                                    </p:animEffect>
                                  </p:childTnLst>
                                </p:cTn>
                              </p:par>
                              <p:par>
                                <p:cTn id="16" presetID="8" presetClass="entr" presetSubtype="16" fill="hold" nodeType="withEffect">
                                  <p:stCondLst>
                                    <p:cond delay="0"/>
                                  </p:stCondLst>
                                  <p:childTnLst>
                                    <p:set>
                                      <p:cBhvr>
                                        <p:cTn id="17" dur="1" fill="hold">
                                          <p:stCondLst>
                                            <p:cond delay="0"/>
                                          </p:stCondLst>
                                        </p:cTn>
                                        <p:tgtEl>
                                          <p:spTgt spid="9219">
                                            <p:txEl>
                                              <p:pRg st="2" end="2"/>
                                            </p:txEl>
                                          </p:spTgt>
                                        </p:tgtEl>
                                        <p:attrNameLst>
                                          <p:attrName>style.visibility</p:attrName>
                                        </p:attrNameLst>
                                      </p:cBhvr>
                                      <p:to>
                                        <p:strVal val="visible"/>
                                      </p:to>
                                    </p:set>
                                    <p:animEffect transition="in" filter="diamond(in)">
                                      <p:cBhvr>
                                        <p:cTn id="18" dur="2000"/>
                                        <p:tgtEl>
                                          <p:spTgt spid="9219">
                                            <p:txEl>
                                              <p:pRg st="2" end="2"/>
                                            </p:txEl>
                                          </p:spTgt>
                                        </p:tgtEl>
                                      </p:cBhvr>
                                    </p:animEffect>
                                  </p:childTnLst>
                                </p:cTn>
                              </p:par>
                              <p:par>
                                <p:cTn id="19" presetID="8" presetClass="entr" presetSubtype="16" fill="hold" nodeType="withEffect">
                                  <p:stCondLst>
                                    <p:cond delay="0"/>
                                  </p:stCondLst>
                                  <p:childTnLst>
                                    <p:set>
                                      <p:cBhvr>
                                        <p:cTn id="20" dur="1" fill="hold">
                                          <p:stCondLst>
                                            <p:cond delay="0"/>
                                          </p:stCondLst>
                                        </p:cTn>
                                        <p:tgtEl>
                                          <p:spTgt spid="9219">
                                            <p:txEl>
                                              <p:pRg st="3" end="3"/>
                                            </p:txEl>
                                          </p:spTgt>
                                        </p:tgtEl>
                                        <p:attrNameLst>
                                          <p:attrName>style.visibility</p:attrName>
                                        </p:attrNameLst>
                                      </p:cBhvr>
                                      <p:to>
                                        <p:strVal val="visible"/>
                                      </p:to>
                                    </p:set>
                                    <p:animEffect transition="in" filter="diamond(in)">
                                      <p:cBhvr>
                                        <p:cTn id="21" dur="2000"/>
                                        <p:tgtEl>
                                          <p:spTgt spid="9219">
                                            <p:txEl>
                                              <p:pRg st="3" end="3"/>
                                            </p:txEl>
                                          </p:spTgt>
                                        </p:tgtEl>
                                      </p:cBhvr>
                                    </p:animEffect>
                                  </p:childTnLst>
                                </p:cTn>
                              </p:par>
                              <p:par>
                                <p:cTn id="22" presetID="8" presetClass="entr" presetSubtype="16" fill="hold" nodeType="withEffect">
                                  <p:stCondLst>
                                    <p:cond delay="0"/>
                                  </p:stCondLst>
                                  <p:childTnLst>
                                    <p:set>
                                      <p:cBhvr>
                                        <p:cTn id="23" dur="1" fill="hold">
                                          <p:stCondLst>
                                            <p:cond delay="0"/>
                                          </p:stCondLst>
                                        </p:cTn>
                                        <p:tgtEl>
                                          <p:spTgt spid="9219">
                                            <p:txEl>
                                              <p:pRg st="4" end="4"/>
                                            </p:txEl>
                                          </p:spTgt>
                                        </p:tgtEl>
                                        <p:attrNameLst>
                                          <p:attrName>style.visibility</p:attrName>
                                        </p:attrNameLst>
                                      </p:cBhvr>
                                      <p:to>
                                        <p:strVal val="visible"/>
                                      </p:to>
                                    </p:set>
                                    <p:animEffect transition="in" filter="diamond(in)">
                                      <p:cBhvr>
                                        <p:cTn id="24" dur="2000"/>
                                        <p:tgtEl>
                                          <p:spTgt spid="9219">
                                            <p:txEl>
                                              <p:pRg st="4" end="4"/>
                                            </p:txEl>
                                          </p:spTgt>
                                        </p:tgtEl>
                                      </p:cBhvr>
                                    </p:animEffect>
                                  </p:childTnLst>
                                </p:cTn>
                              </p:par>
                              <p:par>
                                <p:cTn id="25" presetID="8" presetClass="entr" presetSubtype="16" fill="hold" nodeType="withEffect">
                                  <p:stCondLst>
                                    <p:cond delay="0"/>
                                  </p:stCondLst>
                                  <p:childTnLst>
                                    <p:set>
                                      <p:cBhvr>
                                        <p:cTn id="26" dur="1" fill="hold">
                                          <p:stCondLst>
                                            <p:cond delay="0"/>
                                          </p:stCondLst>
                                        </p:cTn>
                                        <p:tgtEl>
                                          <p:spTgt spid="9219">
                                            <p:txEl>
                                              <p:pRg st="5" end="5"/>
                                            </p:txEl>
                                          </p:spTgt>
                                        </p:tgtEl>
                                        <p:attrNameLst>
                                          <p:attrName>style.visibility</p:attrName>
                                        </p:attrNameLst>
                                      </p:cBhvr>
                                      <p:to>
                                        <p:strVal val="visible"/>
                                      </p:to>
                                    </p:set>
                                    <p:animEffect transition="in" filter="diamond(in)">
                                      <p:cBhvr>
                                        <p:cTn id="27" dur="2000"/>
                                        <p:tgtEl>
                                          <p:spTgt spid="9219">
                                            <p:txEl>
                                              <p:pRg st="5" end="5"/>
                                            </p:txEl>
                                          </p:spTgt>
                                        </p:tgtEl>
                                      </p:cBhvr>
                                    </p:animEffect>
                                  </p:childTnLst>
                                </p:cTn>
                              </p:par>
                              <p:par>
                                <p:cTn id="28" presetID="8" presetClass="entr" presetSubtype="16" fill="hold" nodeType="withEffect">
                                  <p:stCondLst>
                                    <p:cond delay="0"/>
                                  </p:stCondLst>
                                  <p:childTnLst>
                                    <p:set>
                                      <p:cBhvr>
                                        <p:cTn id="29" dur="1" fill="hold">
                                          <p:stCondLst>
                                            <p:cond delay="0"/>
                                          </p:stCondLst>
                                        </p:cTn>
                                        <p:tgtEl>
                                          <p:spTgt spid="9219">
                                            <p:txEl>
                                              <p:pRg st="6" end="6"/>
                                            </p:txEl>
                                          </p:spTgt>
                                        </p:tgtEl>
                                        <p:attrNameLst>
                                          <p:attrName>style.visibility</p:attrName>
                                        </p:attrNameLst>
                                      </p:cBhvr>
                                      <p:to>
                                        <p:strVal val="visible"/>
                                      </p:to>
                                    </p:set>
                                    <p:animEffect transition="in" filter="diamond(in)">
                                      <p:cBhvr>
                                        <p:cTn id="30" dur="2000"/>
                                        <p:tgtEl>
                                          <p:spTgt spid="9219">
                                            <p:txEl>
                                              <p:pRg st="6" end="6"/>
                                            </p:txEl>
                                          </p:spTgt>
                                        </p:tgtEl>
                                      </p:cBhvr>
                                    </p:animEffect>
                                  </p:childTnLst>
                                </p:cTn>
                              </p:par>
                              <p:par>
                                <p:cTn id="31" presetID="8" presetClass="entr" presetSubtype="16" fill="hold" nodeType="withEffect">
                                  <p:stCondLst>
                                    <p:cond delay="0"/>
                                  </p:stCondLst>
                                  <p:childTnLst>
                                    <p:set>
                                      <p:cBhvr>
                                        <p:cTn id="32" dur="1" fill="hold">
                                          <p:stCondLst>
                                            <p:cond delay="0"/>
                                          </p:stCondLst>
                                        </p:cTn>
                                        <p:tgtEl>
                                          <p:spTgt spid="9219">
                                            <p:txEl>
                                              <p:pRg st="7" end="7"/>
                                            </p:txEl>
                                          </p:spTgt>
                                        </p:tgtEl>
                                        <p:attrNameLst>
                                          <p:attrName>style.visibility</p:attrName>
                                        </p:attrNameLst>
                                      </p:cBhvr>
                                      <p:to>
                                        <p:strVal val="visible"/>
                                      </p:to>
                                    </p:set>
                                    <p:animEffect transition="in" filter="diamond(in)">
                                      <p:cBhvr>
                                        <p:cTn id="33" dur="2000"/>
                                        <p:tgtEl>
                                          <p:spTgt spid="9219">
                                            <p:txEl>
                                              <p:pRg st="7" end="7"/>
                                            </p:txEl>
                                          </p:spTgt>
                                        </p:tgtEl>
                                      </p:cBhvr>
                                    </p:animEffect>
                                  </p:childTnLst>
                                </p:cTn>
                              </p:par>
                              <p:par>
                                <p:cTn id="34" presetID="8" presetClass="entr" presetSubtype="16" fill="hold" nodeType="withEffect">
                                  <p:stCondLst>
                                    <p:cond delay="0"/>
                                  </p:stCondLst>
                                  <p:childTnLst>
                                    <p:set>
                                      <p:cBhvr>
                                        <p:cTn id="35" dur="1" fill="hold">
                                          <p:stCondLst>
                                            <p:cond delay="0"/>
                                          </p:stCondLst>
                                        </p:cTn>
                                        <p:tgtEl>
                                          <p:spTgt spid="9219">
                                            <p:txEl>
                                              <p:pRg st="8" end="8"/>
                                            </p:txEl>
                                          </p:spTgt>
                                        </p:tgtEl>
                                        <p:attrNameLst>
                                          <p:attrName>style.visibility</p:attrName>
                                        </p:attrNameLst>
                                      </p:cBhvr>
                                      <p:to>
                                        <p:strVal val="visible"/>
                                      </p:to>
                                    </p:set>
                                    <p:animEffect transition="in" filter="diamond(in)">
                                      <p:cBhvr>
                                        <p:cTn id="36" dur="2000"/>
                                        <p:tgtEl>
                                          <p:spTgt spid="9219">
                                            <p:txEl>
                                              <p:pRg st="8" end="8"/>
                                            </p:txEl>
                                          </p:spTgt>
                                        </p:tgtEl>
                                      </p:cBhvr>
                                    </p:animEffect>
                                  </p:childTnLst>
                                </p:cTn>
                              </p:par>
                              <p:par>
                                <p:cTn id="37" presetID="8" presetClass="entr" presetSubtype="16" fill="hold" nodeType="withEffect">
                                  <p:stCondLst>
                                    <p:cond delay="0"/>
                                  </p:stCondLst>
                                  <p:childTnLst>
                                    <p:set>
                                      <p:cBhvr>
                                        <p:cTn id="38" dur="1" fill="hold">
                                          <p:stCondLst>
                                            <p:cond delay="0"/>
                                          </p:stCondLst>
                                        </p:cTn>
                                        <p:tgtEl>
                                          <p:spTgt spid="9219">
                                            <p:txEl>
                                              <p:pRg st="9" end="9"/>
                                            </p:txEl>
                                          </p:spTgt>
                                        </p:tgtEl>
                                        <p:attrNameLst>
                                          <p:attrName>style.visibility</p:attrName>
                                        </p:attrNameLst>
                                      </p:cBhvr>
                                      <p:to>
                                        <p:strVal val="visible"/>
                                      </p:to>
                                    </p:set>
                                    <p:animEffect transition="in" filter="diamond(in)">
                                      <p:cBhvr>
                                        <p:cTn id="39" dur="2000"/>
                                        <p:tgtEl>
                                          <p:spTgt spid="921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167042" y="285729"/>
            <a:ext cx="6900882" cy="777913"/>
          </a:xfrm>
        </p:spPr>
        <p:style>
          <a:lnRef idx="0">
            <a:schemeClr val="accent6"/>
          </a:lnRef>
          <a:fillRef idx="3">
            <a:schemeClr val="accent6"/>
          </a:fillRef>
          <a:effectRef idx="3">
            <a:schemeClr val="accent6"/>
          </a:effectRef>
          <a:fontRef idx="minor">
            <a:schemeClr val="lt1"/>
          </a:fontRef>
        </p:style>
        <p:txBody>
          <a:bodyPr/>
          <a:lstStyle/>
          <a:p>
            <a:pPr algn="ctr" eaLnBrk="1" hangingPunct="1"/>
            <a:r>
              <a:rPr lang="en-US" b="1" dirty="0">
                <a:solidFill>
                  <a:schemeClr val="bg1"/>
                </a:solidFill>
              </a:rPr>
              <a:t>Tautology &amp; Fallacy</a:t>
            </a:r>
          </a:p>
        </p:txBody>
      </p:sp>
      <p:sp>
        <p:nvSpPr>
          <p:cNvPr id="29699" name="Rectangle 3"/>
          <p:cNvSpPr>
            <a:spLocks noGrp="1" noChangeArrowheads="1"/>
          </p:cNvSpPr>
          <p:nvPr>
            <p:ph idx="1"/>
          </p:nvPr>
        </p:nvSpPr>
        <p:spPr>
          <a:xfrm>
            <a:off x="3309918" y="2214555"/>
            <a:ext cx="6900882" cy="3913991"/>
          </a:xfrm>
        </p:spPr>
        <p:txBody>
          <a:bodyPr>
            <a:noAutofit/>
          </a:bodyPr>
          <a:lstStyle/>
          <a:p>
            <a:pPr algn="just" eaLnBrk="1" hangingPunct="1">
              <a:buNone/>
            </a:pPr>
            <a:r>
              <a:rPr lang="en-US" sz="3200" b="1" dirty="0">
                <a:effectLst>
                  <a:outerShdw blurRad="38100" dist="38100" dir="2700000" algn="tl">
                    <a:srgbClr val="000000">
                      <a:alpha val="43137"/>
                    </a:srgbClr>
                  </a:outerShdw>
                </a:effectLst>
              </a:rPr>
              <a:t>			If the output of Boolean expression is always True or 1 is called Tautology.</a:t>
            </a:r>
          </a:p>
          <a:p>
            <a:pPr algn="just" eaLnBrk="1" hangingPunct="1">
              <a:buNone/>
            </a:pPr>
            <a:r>
              <a:rPr lang="en-US" sz="3200" b="1" dirty="0">
                <a:effectLst>
                  <a:outerShdw blurRad="38100" dist="38100" dir="2700000" algn="tl">
                    <a:srgbClr val="000000">
                      <a:alpha val="43137"/>
                    </a:srgbClr>
                  </a:outerShdw>
                </a:effectLst>
              </a:rPr>
              <a:t>	</a:t>
            </a:r>
          </a:p>
          <a:p>
            <a:pPr algn="just" eaLnBrk="1" hangingPunct="1">
              <a:buNone/>
            </a:pPr>
            <a:r>
              <a:rPr lang="en-US" sz="3200" b="1" dirty="0">
                <a:effectLst>
                  <a:outerShdw blurRad="38100" dist="38100" dir="2700000" algn="tl">
                    <a:srgbClr val="000000">
                      <a:alpha val="43137"/>
                    </a:srgbClr>
                  </a:outerShdw>
                </a:effectLst>
              </a:rPr>
              <a:t>		If the output of Boolean expression is always False or 0 is called Fallacy.</a:t>
            </a:r>
            <a:endParaRPr lang="en-US" b="1" dirty="0">
              <a:effectLst>
                <a:outerShdw blurRad="38100" dist="38100" dir="2700000" algn="tl">
                  <a:srgbClr val="000000">
                    <a:alpha val="43137"/>
                  </a:srgbClr>
                </a:outerShdw>
              </a:effectLst>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29699">
                                            <p:txEl>
                                              <p:pRg st="0" end="0"/>
                                            </p:txEl>
                                          </p:spTgt>
                                        </p:tgtEl>
                                        <p:attrNameLst>
                                          <p:attrName>style.visibility</p:attrName>
                                        </p:attrNameLst>
                                      </p:cBhvr>
                                      <p:to>
                                        <p:strVal val="visible"/>
                                      </p:to>
                                    </p:set>
                                    <p:anim calcmode="lin" valueType="num">
                                      <p:cBhvr>
                                        <p:cTn id="7" dur="1000" fill="hold"/>
                                        <p:tgtEl>
                                          <p:spTgt spid="29699">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29699">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29699">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2969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iterate type="lt">
                                    <p:tmPct val="5000"/>
                                  </p:iterate>
                                  <p:childTnLst>
                                    <p:set>
                                      <p:cBhvr>
                                        <p:cTn id="14" dur="1" fill="hold">
                                          <p:stCondLst>
                                            <p:cond delay="0"/>
                                          </p:stCondLst>
                                        </p:cTn>
                                        <p:tgtEl>
                                          <p:spTgt spid="29699">
                                            <p:txEl>
                                              <p:pRg st="1" end="1"/>
                                            </p:txEl>
                                          </p:spTgt>
                                        </p:tgtEl>
                                        <p:attrNameLst>
                                          <p:attrName>style.visibility</p:attrName>
                                        </p:attrNameLst>
                                      </p:cBhvr>
                                      <p:to>
                                        <p:strVal val="visible"/>
                                      </p:to>
                                    </p:set>
                                    <p:anim calcmode="lin" valueType="num">
                                      <p:cBhvr>
                                        <p:cTn id="15" dur="1000" fill="hold"/>
                                        <p:tgtEl>
                                          <p:spTgt spid="29699">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29699">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29699">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29699">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iterate type="lt">
                                    <p:tmPct val="5000"/>
                                  </p:iterate>
                                  <p:childTnLst>
                                    <p:set>
                                      <p:cBhvr>
                                        <p:cTn id="22" dur="1" fill="hold">
                                          <p:stCondLst>
                                            <p:cond delay="0"/>
                                          </p:stCondLst>
                                        </p:cTn>
                                        <p:tgtEl>
                                          <p:spTgt spid="29699">
                                            <p:txEl>
                                              <p:pRg st="2" end="2"/>
                                            </p:txEl>
                                          </p:spTgt>
                                        </p:tgtEl>
                                        <p:attrNameLst>
                                          <p:attrName>style.visibility</p:attrName>
                                        </p:attrNameLst>
                                      </p:cBhvr>
                                      <p:to>
                                        <p:strVal val="visible"/>
                                      </p:to>
                                    </p:set>
                                    <p:anim calcmode="lin" valueType="num">
                                      <p:cBhvr>
                                        <p:cTn id="23" dur="1000" fill="hold"/>
                                        <p:tgtEl>
                                          <p:spTgt spid="29699">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29699">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29699">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296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167042" y="222196"/>
            <a:ext cx="6786610" cy="777913"/>
          </a:xfrm>
        </p:spPr>
        <p:style>
          <a:lnRef idx="0">
            <a:schemeClr val="accent2"/>
          </a:lnRef>
          <a:fillRef idx="3">
            <a:schemeClr val="accent2"/>
          </a:fillRef>
          <a:effectRef idx="3">
            <a:schemeClr val="accent2"/>
          </a:effectRef>
          <a:fontRef idx="minor">
            <a:schemeClr val="lt1"/>
          </a:fontRef>
        </p:style>
        <p:txBody>
          <a:bodyPr>
            <a:normAutofit/>
          </a:bodyPr>
          <a:lstStyle/>
          <a:p>
            <a:pPr algn="ctr" eaLnBrk="1" hangingPunct="1"/>
            <a:r>
              <a:rPr lang="en-US" sz="3200" b="1" dirty="0">
                <a:solidFill>
                  <a:schemeClr val="bg1"/>
                </a:solidFill>
                <a:effectLst>
                  <a:outerShdw blurRad="38100" dist="38100" dir="2700000" algn="tl">
                    <a:srgbClr val="000000">
                      <a:alpha val="43137"/>
                    </a:srgbClr>
                  </a:outerShdw>
                </a:effectLst>
              </a:rPr>
              <a:t>Exercise</a:t>
            </a:r>
          </a:p>
        </p:txBody>
      </p:sp>
      <p:sp>
        <p:nvSpPr>
          <p:cNvPr id="15363" name="Rectangle 3"/>
          <p:cNvSpPr>
            <a:spLocks noGrp="1" noChangeArrowheads="1"/>
          </p:cNvSpPr>
          <p:nvPr>
            <p:ph idx="1"/>
          </p:nvPr>
        </p:nvSpPr>
        <p:spPr>
          <a:xfrm>
            <a:off x="2809852" y="1857365"/>
            <a:ext cx="7400948" cy="4271181"/>
          </a:xfrm>
        </p:spPr>
        <p:txBody>
          <a:bodyPr>
            <a:noAutofit/>
          </a:bodyPr>
          <a:lstStyle/>
          <a:p>
            <a:pPr marL="1028700" indent="-571500">
              <a:buNone/>
            </a:pPr>
            <a:r>
              <a:rPr lang="en-US" sz="3200" b="1" dirty="0">
                <a:effectLst>
                  <a:outerShdw blurRad="38100" dist="38100" dir="2700000" algn="tl">
                    <a:srgbClr val="000000">
                      <a:alpha val="43137"/>
                    </a:srgbClr>
                  </a:outerShdw>
                </a:effectLst>
              </a:rPr>
              <a:t>1. Evaluate the following Boolean expression using Truth Table.</a:t>
            </a:r>
          </a:p>
          <a:p>
            <a:pPr marL="1028700" indent="-571500">
              <a:buNone/>
            </a:pPr>
            <a:r>
              <a:rPr lang="en-US" sz="3200" b="1" dirty="0">
                <a:effectLst>
                  <a:outerShdw blurRad="38100" dist="38100" dir="2700000" algn="tl">
                    <a:srgbClr val="000000">
                      <a:alpha val="43137"/>
                    </a:srgbClr>
                  </a:outerShdw>
                </a:effectLst>
              </a:rPr>
              <a:t>(a) X’Y’+X’Y		(b) X’YZ’+XY’</a:t>
            </a:r>
          </a:p>
          <a:p>
            <a:pPr marL="1028700" indent="-571500">
              <a:buNone/>
            </a:pPr>
            <a:r>
              <a:rPr lang="en-US" sz="3200" b="1" dirty="0">
                <a:effectLst>
                  <a:outerShdw blurRad="38100" dist="38100" dir="2700000" algn="tl">
                    <a:srgbClr val="000000">
                      <a:alpha val="43137"/>
                    </a:srgbClr>
                  </a:outerShdw>
                </a:effectLst>
              </a:rPr>
              <a:t>(c) XY’(Z+YZ’)+Z’</a:t>
            </a:r>
          </a:p>
          <a:p>
            <a:pPr marL="1028700" indent="-571500">
              <a:buNone/>
            </a:pPr>
            <a:endParaRPr lang="en-US" sz="3200" b="1" dirty="0">
              <a:effectLst>
                <a:outerShdw blurRad="38100" dist="38100" dir="2700000" algn="tl">
                  <a:srgbClr val="000000">
                    <a:alpha val="43137"/>
                  </a:srgbClr>
                </a:outerShdw>
              </a:effectLst>
            </a:endParaRPr>
          </a:p>
          <a:p>
            <a:pPr marL="1028700" indent="-571500">
              <a:buNone/>
            </a:pPr>
            <a:r>
              <a:rPr lang="en-US" sz="3200" b="1" dirty="0">
                <a:effectLst>
                  <a:outerShdw blurRad="38100" dist="38100" dir="2700000" algn="tl">
                    <a:srgbClr val="000000">
                      <a:alpha val="43137"/>
                    </a:srgbClr>
                  </a:outerShdw>
                </a:effectLst>
              </a:rPr>
              <a:t>2. Verify that P+(PQ)’ is a Tautology.</a:t>
            </a:r>
          </a:p>
          <a:p>
            <a:pPr marL="1028700" indent="-571500">
              <a:buNone/>
            </a:pPr>
            <a:r>
              <a:rPr lang="en-US" sz="3200" b="1" dirty="0">
                <a:effectLst>
                  <a:outerShdw blurRad="38100" dist="38100" dir="2700000" algn="tl">
                    <a:srgbClr val="000000">
                      <a:alpha val="43137"/>
                    </a:srgbClr>
                  </a:outerShdw>
                </a:effectLst>
              </a:rPr>
              <a:t>3. Verify that (X+Y)’=X’Y’</a:t>
            </a: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238480" y="222196"/>
            <a:ext cx="6572296" cy="777913"/>
          </a:xfrm>
        </p:spPr>
        <p:style>
          <a:lnRef idx="0">
            <a:schemeClr val="accent2"/>
          </a:lnRef>
          <a:fillRef idx="3">
            <a:schemeClr val="accent2"/>
          </a:fillRef>
          <a:effectRef idx="3">
            <a:schemeClr val="accent2"/>
          </a:effectRef>
          <a:fontRef idx="minor">
            <a:schemeClr val="lt1"/>
          </a:fontRef>
        </p:style>
        <p:txBody>
          <a:bodyPr>
            <a:normAutofit/>
          </a:bodyPr>
          <a:lstStyle/>
          <a:p>
            <a:pPr algn="ctr" eaLnBrk="1" hangingPunct="1"/>
            <a:r>
              <a:rPr lang="en-US" sz="3200" b="1" dirty="0">
                <a:solidFill>
                  <a:schemeClr val="bg1"/>
                </a:solidFill>
                <a:effectLst>
                  <a:outerShdw blurRad="38100" dist="38100" dir="2700000" algn="tl">
                    <a:srgbClr val="000000">
                      <a:alpha val="43137"/>
                    </a:srgbClr>
                  </a:outerShdw>
                </a:effectLst>
              </a:rPr>
              <a:t>Implementation</a:t>
            </a:r>
          </a:p>
        </p:txBody>
      </p:sp>
      <p:sp>
        <p:nvSpPr>
          <p:cNvPr id="10243" name="Rectangle 3"/>
          <p:cNvSpPr>
            <a:spLocks noGrp="1" noChangeArrowheads="1"/>
          </p:cNvSpPr>
          <p:nvPr>
            <p:ph idx="1"/>
          </p:nvPr>
        </p:nvSpPr>
        <p:spPr>
          <a:xfrm>
            <a:off x="3024166" y="2357431"/>
            <a:ext cx="7258072" cy="2628107"/>
          </a:xfrm>
        </p:spPr>
        <p:txBody>
          <a:bodyPr>
            <a:normAutofit/>
          </a:bodyPr>
          <a:lstStyle/>
          <a:p>
            <a:pPr algn="just" eaLnBrk="1" hangingPunct="1">
              <a:buNone/>
            </a:pPr>
            <a:r>
              <a:rPr lang="en-US" sz="3200" b="1" dirty="0">
                <a:effectLst>
                  <a:outerShdw blurRad="38100" dist="38100" dir="2700000" algn="tl">
                    <a:srgbClr val="000000">
                      <a:alpha val="43137"/>
                    </a:srgbClr>
                  </a:outerShdw>
                </a:effectLst>
              </a:rPr>
              <a:t>			Boolean Algebra applied in computers electronic circuits. These circuits perform Boolean operations and these are called logic circuits or logic gates.</a:t>
            </a: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p:cTn id="7" dur="1000" fill="hold"/>
                                        <p:tgtEl>
                                          <p:spTgt spid="10243">
                                            <p:txEl>
                                              <p:pRg st="0" end="0"/>
                                            </p:txEl>
                                          </p:spTgt>
                                        </p:tgtEl>
                                        <p:attrNameLst>
                                          <p:attrName>ppt_w</p:attrName>
                                        </p:attrNameLst>
                                      </p:cBhvr>
                                      <p:tavLst>
                                        <p:tav tm="0">
                                          <p:val>
                                            <p:strVal val="#ppt_w+.3"/>
                                          </p:val>
                                        </p:tav>
                                        <p:tav tm="100000">
                                          <p:val>
                                            <p:strVal val="#ppt_w"/>
                                          </p:val>
                                        </p:tav>
                                      </p:tavLst>
                                    </p:anim>
                                    <p:anim calcmode="lin" valueType="num">
                                      <p:cBhvr>
                                        <p:cTn id="8" dur="1000" fill="hold"/>
                                        <p:tgtEl>
                                          <p:spTgt spid="1024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02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024166" y="222196"/>
            <a:ext cx="6929486" cy="777913"/>
          </a:xfrm>
        </p:spPr>
        <p:style>
          <a:lnRef idx="0">
            <a:schemeClr val="accent5"/>
          </a:lnRef>
          <a:fillRef idx="3">
            <a:schemeClr val="accent5"/>
          </a:fillRef>
          <a:effectRef idx="3">
            <a:schemeClr val="accent5"/>
          </a:effectRef>
          <a:fontRef idx="minor">
            <a:schemeClr val="lt1"/>
          </a:fontRef>
        </p:style>
        <p:txBody>
          <a:bodyPr>
            <a:normAutofit/>
          </a:bodyPr>
          <a:lstStyle/>
          <a:p>
            <a:pPr algn="ctr" eaLnBrk="1" hangingPunct="1"/>
            <a:r>
              <a:rPr lang="en-US" sz="3200" b="1" dirty="0">
                <a:solidFill>
                  <a:schemeClr val="bg1"/>
                </a:solidFill>
                <a:effectLst>
                  <a:outerShdw blurRad="38100" dist="38100" dir="2700000" algn="tl">
                    <a:srgbClr val="000000">
                      <a:alpha val="43137"/>
                    </a:srgbClr>
                  </a:outerShdw>
                </a:effectLst>
              </a:rPr>
              <a:t>Logic Gate</a:t>
            </a:r>
          </a:p>
        </p:txBody>
      </p:sp>
      <p:sp>
        <p:nvSpPr>
          <p:cNvPr id="11267" name="Rectangle 3"/>
          <p:cNvSpPr>
            <a:spLocks noGrp="1" noChangeArrowheads="1"/>
          </p:cNvSpPr>
          <p:nvPr>
            <p:ph idx="1"/>
          </p:nvPr>
        </p:nvSpPr>
        <p:spPr>
          <a:xfrm>
            <a:off x="3024166" y="1443836"/>
            <a:ext cx="7286676" cy="5199875"/>
          </a:xfrm>
        </p:spPr>
        <p:txBody>
          <a:bodyPr>
            <a:noAutofit/>
          </a:bodyPr>
          <a:lstStyle/>
          <a:p>
            <a:pPr algn="just" eaLnBrk="1" hangingPunct="1">
              <a:buNone/>
            </a:pPr>
            <a:r>
              <a:rPr lang="en-US" sz="3000" b="1" dirty="0">
                <a:effectLst>
                  <a:outerShdw blurRad="38100" dist="38100" dir="2700000" algn="tl">
                    <a:srgbClr val="000000">
                      <a:alpha val="43137"/>
                    </a:srgbClr>
                  </a:outerShdw>
                </a:effectLst>
              </a:rPr>
              <a:t>		A gate is an digital circuit which operates on one or more signals and produce single output. </a:t>
            </a:r>
          </a:p>
          <a:p>
            <a:pPr algn="just" eaLnBrk="1" hangingPunct="1">
              <a:buNone/>
            </a:pPr>
            <a:r>
              <a:rPr lang="en-US" sz="3000" b="1" dirty="0">
                <a:effectLst>
                  <a:outerShdw blurRad="38100" dist="38100" dir="2700000" algn="tl">
                    <a:srgbClr val="000000">
                      <a:alpha val="43137"/>
                    </a:srgbClr>
                  </a:outerShdw>
                </a:effectLst>
              </a:rPr>
              <a:t>		Gates are digital circuits because the input and output signals are denoted by either 1(high voltage) or 0(low voltage).</a:t>
            </a:r>
          </a:p>
          <a:p>
            <a:pPr algn="just" eaLnBrk="1" hangingPunct="1">
              <a:buNone/>
            </a:pPr>
            <a:r>
              <a:rPr lang="en-US" sz="3000" b="1" dirty="0">
                <a:effectLst>
                  <a:outerShdw blurRad="38100" dist="38100" dir="2700000" algn="tl">
                    <a:srgbClr val="000000">
                      <a:alpha val="43137"/>
                    </a:srgbClr>
                  </a:outerShdw>
                </a:effectLst>
              </a:rPr>
              <a:t>	</a:t>
            </a:r>
            <a:r>
              <a:rPr lang="en-US" sz="3000" b="1" dirty="0">
                <a:solidFill>
                  <a:srgbClr val="FFFF00"/>
                </a:solidFill>
                <a:effectLst>
                  <a:outerShdw blurRad="38100" dist="38100" dir="2700000" algn="tl">
                    <a:srgbClr val="000000">
                      <a:alpha val="43137"/>
                    </a:srgbClr>
                  </a:outerShdw>
                </a:effectLst>
              </a:rPr>
              <a:t>There are three basic gates and are:</a:t>
            </a:r>
          </a:p>
          <a:p>
            <a:pPr algn="just" eaLnBrk="1" hangingPunct="1">
              <a:buFont typeface="Wingdings" pitchFamily="2" charset="2"/>
              <a:buNone/>
            </a:pPr>
            <a:r>
              <a:rPr lang="en-US" sz="3000" b="1" dirty="0">
                <a:effectLst>
                  <a:outerShdw blurRad="38100" dist="38100" dir="2700000" algn="tl">
                    <a:srgbClr val="000000">
                      <a:alpha val="43137"/>
                    </a:srgbClr>
                  </a:outerShdw>
                </a:effectLst>
              </a:rPr>
              <a:t>			</a:t>
            </a:r>
          </a:p>
        </p:txBody>
      </p:sp>
      <p:sp>
        <p:nvSpPr>
          <p:cNvPr id="4" name="Rectangle 2"/>
          <p:cNvSpPr txBox="1">
            <a:spLocks noChangeArrowheads="1"/>
          </p:cNvSpPr>
          <p:nvPr/>
        </p:nvSpPr>
        <p:spPr>
          <a:xfrm>
            <a:off x="3524232" y="5072074"/>
            <a:ext cx="3357618" cy="571504"/>
          </a:xfrm>
          <a:prstGeom prst="rect">
            <a:avLst/>
          </a:prstGeom>
        </p:spPr>
        <p:style>
          <a:lnRef idx="0">
            <a:schemeClr val="accent6"/>
          </a:lnRef>
          <a:fillRef idx="3">
            <a:schemeClr val="accent6"/>
          </a:fillRef>
          <a:effectRef idx="3">
            <a:schemeClr val="accent6"/>
          </a:effectRef>
          <a:fontRef idx="minor">
            <a:schemeClr val="lt1"/>
          </a:fontRef>
        </p:style>
        <p:txBody>
          <a:bodyPr vert="horz" lIns="91440" tIns="45720" rIns="91440" bIns="45720" rtlCol="0" anchor="ctr">
            <a:normAutofit lnSpcReduction="10000"/>
          </a:bodyPr>
          <a:lstStyle/>
          <a:p>
            <a:pPr lvl="0">
              <a:spcBef>
                <a:spcPct val="0"/>
              </a:spcBef>
            </a:pPr>
            <a:r>
              <a:rPr lang="en-US" sz="3200" b="1" dirty="0">
                <a:effectLst>
                  <a:outerShdw blurRad="38100" dist="38100" dir="2700000" algn="tl">
                    <a:srgbClr val="000000">
                      <a:alpha val="43137"/>
                    </a:srgbClr>
                  </a:outerShdw>
                </a:effectLst>
              </a:rPr>
              <a:t>1.	AND gate</a:t>
            </a:r>
            <a:endParaRPr lang="en-US" sz="3200" b="1" dirty="0">
              <a:solidFill>
                <a:schemeClr val="bg1"/>
              </a:solidFill>
              <a:effectLst>
                <a:outerShdw blurRad="38100" dist="38100" dir="2700000" algn="tl">
                  <a:srgbClr val="000000">
                    <a:alpha val="43137"/>
                  </a:srgbClr>
                </a:outerShdw>
              </a:effectLst>
            </a:endParaRPr>
          </a:p>
        </p:txBody>
      </p:sp>
      <p:sp>
        <p:nvSpPr>
          <p:cNvPr id="5" name="Rectangle 2"/>
          <p:cNvSpPr txBox="1">
            <a:spLocks noChangeArrowheads="1"/>
          </p:cNvSpPr>
          <p:nvPr/>
        </p:nvSpPr>
        <p:spPr>
          <a:xfrm>
            <a:off x="7096132" y="5072074"/>
            <a:ext cx="3357618" cy="571504"/>
          </a:xfrm>
          <a:prstGeom prst="rect">
            <a:avLst/>
          </a:prstGeom>
        </p:spPr>
        <p:style>
          <a:lnRef idx="0">
            <a:schemeClr val="accent6"/>
          </a:lnRef>
          <a:fillRef idx="3">
            <a:schemeClr val="accent6"/>
          </a:fillRef>
          <a:effectRef idx="3">
            <a:schemeClr val="accent6"/>
          </a:effectRef>
          <a:fontRef idx="minor">
            <a:schemeClr val="lt1"/>
          </a:fontRef>
        </p:style>
        <p:txBody>
          <a:bodyPr vert="horz" lIns="91440" tIns="45720" rIns="91440" bIns="45720" rtlCol="0" anchor="ctr">
            <a:normAutofit lnSpcReduction="10000"/>
          </a:bodyPr>
          <a:lstStyle/>
          <a:p>
            <a:pPr lvl="0">
              <a:spcBef>
                <a:spcPct val="0"/>
              </a:spcBef>
            </a:pPr>
            <a:r>
              <a:rPr lang="en-US" sz="3200" b="1" dirty="0">
                <a:effectLst>
                  <a:outerShdw blurRad="38100" dist="38100" dir="2700000" algn="tl">
                    <a:srgbClr val="000000">
                      <a:alpha val="43137"/>
                    </a:srgbClr>
                  </a:outerShdw>
                </a:effectLst>
              </a:rPr>
              <a:t>2.	OR gate</a:t>
            </a:r>
            <a:endParaRPr lang="en-US" sz="3200" b="1" dirty="0">
              <a:solidFill>
                <a:schemeClr val="bg1"/>
              </a:solidFill>
              <a:effectLst>
                <a:outerShdw blurRad="38100" dist="38100" dir="2700000" algn="tl">
                  <a:srgbClr val="000000">
                    <a:alpha val="43137"/>
                  </a:srgbClr>
                </a:outerShdw>
              </a:effectLst>
            </a:endParaRPr>
          </a:p>
        </p:txBody>
      </p:sp>
      <p:sp>
        <p:nvSpPr>
          <p:cNvPr id="6" name="Rectangle 2"/>
          <p:cNvSpPr txBox="1">
            <a:spLocks noChangeArrowheads="1"/>
          </p:cNvSpPr>
          <p:nvPr/>
        </p:nvSpPr>
        <p:spPr>
          <a:xfrm>
            <a:off x="3524232" y="6000768"/>
            <a:ext cx="3357618" cy="571504"/>
          </a:xfrm>
          <a:prstGeom prst="rect">
            <a:avLst/>
          </a:prstGeom>
        </p:spPr>
        <p:style>
          <a:lnRef idx="0">
            <a:schemeClr val="accent6"/>
          </a:lnRef>
          <a:fillRef idx="3">
            <a:schemeClr val="accent6"/>
          </a:fillRef>
          <a:effectRef idx="3">
            <a:schemeClr val="accent6"/>
          </a:effectRef>
          <a:fontRef idx="minor">
            <a:schemeClr val="lt1"/>
          </a:fontRef>
        </p:style>
        <p:txBody>
          <a:bodyPr vert="horz" lIns="91440" tIns="45720" rIns="91440" bIns="45720" rtlCol="0" anchor="ctr">
            <a:normAutofit lnSpcReduction="10000"/>
          </a:bodyPr>
          <a:lstStyle/>
          <a:p>
            <a:pPr lvl="0">
              <a:spcBef>
                <a:spcPct val="0"/>
              </a:spcBef>
            </a:pPr>
            <a:r>
              <a:rPr lang="en-US" sz="3200" b="1" dirty="0">
                <a:effectLst>
                  <a:outerShdw blurRad="38100" dist="38100" dir="2700000" algn="tl">
                    <a:srgbClr val="000000">
                      <a:alpha val="43137"/>
                    </a:srgbClr>
                  </a:outerShdw>
                </a:effectLst>
              </a:rPr>
              <a:t>3.	NOT gate</a:t>
            </a:r>
            <a:endParaRPr lang="en-US" sz="3200" b="1" dirty="0">
              <a:solidFill>
                <a:schemeClr val="bg1"/>
              </a:solidFill>
              <a:effectLst>
                <a:outerShdw blurRad="38100" dist="38100" dir="2700000" algn="tl">
                  <a:srgbClr val="000000">
                    <a:alpha val="43137"/>
                  </a:srgbClr>
                </a:outerShdw>
              </a:effectLst>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11267">
                                            <p:txEl>
                                              <p:pRg st="0" end="0"/>
                                            </p:txEl>
                                          </p:spTgt>
                                        </p:tgtEl>
                                        <p:attrNameLst>
                                          <p:attrName>style.visibility</p:attrName>
                                        </p:attrNameLst>
                                      </p:cBhvr>
                                      <p:to>
                                        <p:strVal val="visible"/>
                                      </p:to>
                                    </p:set>
                                    <p:anim calcmode="discrete" valueType="clr">
                                      <p:cBhvr override="childStyle">
                                        <p:cTn id="7" dur="80"/>
                                        <p:tgtEl>
                                          <p:spTgt spid="1126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1267">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11267">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11267">
                                            <p:txEl>
                                              <p:pRg st="1" end="1"/>
                                            </p:txEl>
                                          </p:spTgt>
                                        </p:tgtEl>
                                        <p:attrNameLst>
                                          <p:attrName>style.visibility</p:attrName>
                                        </p:attrNameLst>
                                      </p:cBhvr>
                                      <p:to>
                                        <p:strVal val="visible"/>
                                      </p:to>
                                    </p:set>
                                    <p:anim calcmode="discrete" valueType="clr">
                                      <p:cBhvr override="childStyle">
                                        <p:cTn id="14" dur="80"/>
                                        <p:tgtEl>
                                          <p:spTgt spid="1126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11267">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11267">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11267">
                                            <p:txEl>
                                              <p:pRg st="2" end="2"/>
                                            </p:txEl>
                                          </p:spTgt>
                                        </p:tgtEl>
                                        <p:attrNameLst>
                                          <p:attrName>style.visibility</p:attrName>
                                        </p:attrNameLst>
                                      </p:cBhvr>
                                      <p:to>
                                        <p:strVal val="visible"/>
                                      </p:to>
                                    </p:set>
                                    <p:anim calcmode="discrete" valueType="clr">
                                      <p:cBhvr override="childStyle">
                                        <p:cTn id="21" dur="80"/>
                                        <p:tgtEl>
                                          <p:spTgt spid="11267">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11267">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11267">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1" presetClass="entr" presetSubtype="4" fill="hold" nodeType="clickEffect">
                                  <p:stCondLst>
                                    <p:cond delay="0"/>
                                  </p:stCondLst>
                                  <p:childTnLst>
                                    <p:set>
                                      <p:cBhvr>
                                        <p:cTn id="27" dur="1" fill="hold">
                                          <p:stCondLst>
                                            <p:cond delay="0"/>
                                          </p:stCondLst>
                                        </p:cTn>
                                        <p:tgtEl>
                                          <p:spTgt spid="11267">
                                            <p:txEl>
                                              <p:pRg st="3" end="3"/>
                                            </p:txEl>
                                          </p:spTgt>
                                        </p:tgtEl>
                                        <p:attrNameLst>
                                          <p:attrName>style.visibility</p:attrName>
                                        </p:attrNameLst>
                                      </p:cBhvr>
                                      <p:to>
                                        <p:strVal val="visible"/>
                                      </p:to>
                                    </p:set>
                                    <p:animEffect transition="in" filter="wheel(4)">
                                      <p:cBhvr>
                                        <p:cTn id="28" dur="2000"/>
                                        <p:tgtEl>
                                          <p:spTgt spid="112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095604" y="304801"/>
            <a:ext cx="6858049" cy="623870"/>
          </a:xfrm>
        </p:spPr>
        <p:style>
          <a:lnRef idx="0">
            <a:schemeClr val="accent3"/>
          </a:lnRef>
          <a:fillRef idx="3">
            <a:schemeClr val="accent3"/>
          </a:fillRef>
          <a:effectRef idx="3">
            <a:schemeClr val="accent3"/>
          </a:effectRef>
          <a:fontRef idx="minor">
            <a:schemeClr val="lt1"/>
          </a:fontRef>
        </p:style>
        <p:txBody>
          <a:bodyPr>
            <a:noAutofit/>
          </a:bodyPr>
          <a:lstStyle/>
          <a:p>
            <a:pPr eaLnBrk="1" hangingPunct="1"/>
            <a:r>
              <a:rPr lang="en-US" sz="3200" b="1" dirty="0">
                <a:solidFill>
                  <a:schemeClr val="bg1"/>
                </a:solidFill>
                <a:effectLst>
                  <a:outerShdw blurRad="38100" dist="38100" dir="2700000" algn="tl">
                    <a:srgbClr val="000000">
                      <a:alpha val="43137"/>
                    </a:srgbClr>
                  </a:outerShdw>
                </a:effectLst>
              </a:rPr>
              <a:t>AND gate</a:t>
            </a:r>
          </a:p>
        </p:txBody>
      </p:sp>
      <p:sp>
        <p:nvSpPr>
          <p:cNvPr id="12291" name="Rectangle 3"/>
          <p:cNvSpPr>
            <a:spLocks noGrp="1" noChangeArrowheads="1"/>
          </p:cNvSpPr>
          <p:nvPr>
            <p:ph type="body" sz="half" idx="1"/>
          </p:nvPr>
        </p:nvSpPr>
        <p:spPr>
          <a:xfrm>
            <a:off x="2881290" y="1285860"/>
            <a:ext cx="7286676" cy="1976452"/>
          </a:xfrm>
        </p:spPr>
        <p:txBody>
          <a:bodyPr>
            <a:noAutofit/>
          </a:bodyPr>
          <a:lstStyle/>
          <a:p>
            <a:pPr algn="just" eaLnBrk="1" hangingPunct="1">
              <a:lnSpc>
                <a:spcPct val="90000"/>
              </a:lnSpc>
            </a:pPr>
            <a:r>
              <a:rPr lang="en-US" dirty="0">
                <a:solidFill>
                  <a:srgbClr val="FF0000"/>
                </a:solidFill>
                <a:effectLst>
                  <a:outerShdw blurRad="38100" dist="38100" dir="2700000" algn="tl">
                    <a:srgbClr val="000000">
                      <a:alpha val="43137"/>
                    </a:srgbClr>
                  </a:outerShdw>
                </a:effectLst>
                <a:latin typeface="Arial Black" panose="020B0A04020102020204" pitchFamily="34" charset="0"/>
              </a:rPr>
              <a:t>The AND gate is an electronic circuit that gives a high output (1) only if all its inputs are high. </a:t>
            </a:r>
          </a:p>
          <a:p>
            <a:pPr algn="just" eaLnBrk="1" hangingPunct="1">
              <a:lnSpc>
                <a:spcPct val="90000"/>
              </a:lnSpc>
            </a:pPr>
            <a:r>
              <a:rPr lang="en-US" dirty="0">
                <a:solidFill>
                  <a:srgbClr val="FF0000"/>
                </a:solidFill>
                <a:effectLst>
                  <a:outerShdw blurRad="38100" dist="38100" dir="2700000" algn="tl">
                    <a:srgbClr val="000000">
                      <a:alpha val="43137"/>
                    </a:srgbClr>
                  </a:outerShdw>
                </a:effectLst>
                <a:latin typeface="Arial Black" panose="020B0A04020102020204" pitchFamily="34" charset="0"/>
              </a:rPr>
              <a:t>AND gate takes two or more input signals and produce only one output signal.</a:t>
            </a:r>
          </a:p>
          <a:p>
            <a:pPr marL="0" indent="0" algn="just" eaLnBrk="1" hangingPunct="1">
              <a:lnSpc>
                <a:spcPct val="90000"/>
              </a:lnSpc>
              <a:buNone/>
            </a:pPr>
            <a:endParaRPr lang="en-US" dirty="0">
              <a:solidFill>
                <a:srgbClr val="FF0000"/>
              </a:solidFill>
              <a:effectLst>
                <a:outerShdw blurRad="38100" dist="38100" dir="2700000" algn="tl">
                  <a:srgbClr val="000000">
                    <a:alpha val="43137"/>
                  </a:srgbClr>
                </a:outerShdw>
              </a:effectLst>
              <a:latin typeface="Arial Black" panose="020B0A04020102020204" pitchFamily="34" charset="0"/>
            </a:endParaRPr>
          </a:p>
          <a:p>
            <a:pPr eaLnBrk="1" hangingPunct="1">
              <a:lnSpc>
                <a:spcPct val="90000"/>
              </a:lnSpc>
            </a:pPr>
            <a:endParaRPr lang="en-US" b="1" dirty="0">
              <a:solidFill>
                <a:schemeClr val="bg1"/>
              </a:solidFill>
              <a:effectLst>
                <a:outerShdw blurRad="38100" dist="38100" dir="2700000" algn="tl">
                  <a:srgbClr val="000000">
                    <a:alpha val="43137"/>
                  </a:srgbClr>
                </a:outerShdw>
              </a:effectLst>
            </a:endParaRPr>
          </a:p>
          <a:p>
            <a:pPr eaLnBrk="1" hangingPunct="1">
              <a:lnSpc>
                <a:spcPct val="90000"/>
              </a:lnSpc>
              <a:buFont typeface="Wingdings" pitchFamily="2" charset="2"/>
              <a:buNone/>
            </a:pPr>
            <a:endParaRPr lang="en-US" b="1" dirty="0">
              <a:solidFill>
                <a:schemeClr val="bg1"/>
              </a:solidFill>
              <a:effectLst>
                <a:outerShdw blurRad="38100" dist="38100" dir="2700000" algn="tl">
                  <a:srgbClr val="000000">
                    <a:alpha val="43137"/>
                  </a:srgbClr>
                </a:outerShdw>
              </a:effectLst>
            </a:endParaRPr>
          </a:p>
        </p:txBody>
      </p:sp>
      <p:graphicFrame>
        <p:nvGraphicFramePr>
          <p:cNvPr id="12429" name="Group 141"/>
          <p:cNvGraphicFramePr>
            <a:graphicFrameLocks noGrp="1"/>
          </p:cNvGraphicFramePr>
          <p:nvPr>
            <p:ph sz="half" idx="2"/>
            <p:extLst>
              <p:ext uri="{D42A27DB-BD31-4B8C-83A1-F6EECF244321}">
                <p14:modId xmlns:p14="http://schemas.microsoft.com/office/powerpoint/2010/main" val="4231392925"/>
              </p:ext>
            </p:extLst>
          </p:nvPr>
        </p:nvGraphicFramePr>
        <p:xfrm>
          <a:off x="6596092" y="3535679"/>
          <a:ext cx="4214841" cy="3017520"/>
        </p:xfrm>
        <a:graphic>
          <a:graphicData uri="http://schemas.openxmlformats.org/drawingml/2006/table">
            <a:tbl>
              <a:tblPr>
                <a:tableStyleId>{775DCB02-9BB8-47FD-8907-85C794F793BA}</a:tableStyleId>
              </a:tblPr>
              <a:tblGrid>
                <a:gridCol w="1447727">
                  <a:extLst>
                    <a:ext uri="{9D8B030D-6E8A-4147-A177-3AD203B41FA5}">
                      <a16:colId xmlns:a16="http://schemas.microsoft.com/office/drawing/2014/main" val="20000"/>
                    </a:ext>
                  </a:extLst>
                </a:gridCol>
                <a:gridCol w="1443222">
                  <a:extLst>
                    <a:ext uri="{9D8B030D-6E8A-4147-A177-3AD203B41FA5}">
                      <a16:colId xmlns:a16="http://schemas.microsoft.com/office/drawing/2014/main" val="20001"/>
                    </a:ext>
                  </a:extLst>
                </a:gridCol>
                <a:gridCol w="1323892">
                  <a:extLst>
                    <a:ext uri="{9D8B030D-6E8A-4147-A177-3AD203B41FA5}">
                      <a16:colId xmlns:a16="http://schemas.microsoft.com/office/drawing/2014/main" val="20002"/>
                    </a:ext>
                  </a:extLst>
                </a:gridCol>
              </a:tblGrid>
              <a:tr h="442913">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dirty="0">
                          <a:ln>
                            <a:noFill/>
                          </a:ln>
                          <a:effectLst>
                            <a:outerShdw blurRad="38100" dist="38100" dir="2700000" algn="tl">
                              <a:srgbClr val="000000">
                                <a:alpha val="43137"/>
                              </a:srgbClr>
                            </a:outerShdw>
                          </a:effectLst>
                        </a:rPr>
                        <a:t>Input </a:t>
                      </a:r>
                    </a:p>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dirty="0">
                          <a:ln>
                            <a:noFill/>
                          </a:ln>
                          <a:effectLst>
                            <a:outerShdw blurRad="38100" dist="38100" dir="2700000" algn="tl">
                              <a:srgbClr val="000000">
                                <a:alpha val="43137"/>
                              </a:srgbClr>
                            </a:outerShdw>
                          </a:effectLst>
                        </a:rPr>
                        <a:t>A</a:t>
                      </a:r>
                      <a:endParaRPr kumimoji="0" lang="en-US" sz="2800" b="1" i="0" u="none" strike="noStrike" cap="none" normalizeH="0" baseline="0" dirty="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Input</a:t>
                      </a:r>
                    </a:p>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 B</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Output</a:t>
                      </a:r>
                    </a:p>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AB</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extLst>
                  <a:ext uri="{0D108BD9-81ED-4DB2-BD59-A6C34878D82A}">
                    <a16:rowId xmlns:a16="http://schemas.microsoft.com/office/drawing/2014/main" val="10000"/>
                  </a:ext>
                </a:extLst>
              </a:tr>
              <a:tr h="441325">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0</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0</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0</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extLst>
                  <a:ext uri="{0D108BD9-81ED-4DB2-BD59-A6C34878D82A}">
                    <a16:rowId xmlns:a16="http://schemas.microsoft.com/office/drawing/2014/main" val="10001"/>
                  </a:ext>
                </a:extLst>
              </a:tr>
              <a:tr h="441325">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0</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1</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0</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extLst>
                  <a:ext uri="{0D108BD9-81ED-4DB2-BD59-A6C34878D82A}">
                    <a16:rowId xmlns:a16="http://schemas.microsoft.com/office/drawing/2014/main" val="10002"/>
                  </a:ext>
                </a:extLst>
              </a:tr>
              <a:tr h="441325">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dirty="0">
                          <a:ln>
                            <a:noFill/>
                          </a:ln>
                          <a:effectLst>
                            <a:outerShdw blurRad="38100" dist="38100" dir="2700000" algn="tl">
                              <a:srgbClr val="000000">
                                <a:alpha val="43137"/>
                              </a:srgbClr>
                            </a:outerShdw>
                          </a:effectLst>
                        </a:rPr>
                        <a:t>1</a:t>
                      </a:r>
                      <a:endParaRPr kumimoji="0" lang="en-US" sz="2800" b="1" i="0" u="none" strike="noStrike" cap="none" normalizeH="0" baseline="0" dirty="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0</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0</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extLst>
                  <a:ext uri="{0D108BD9-81ED-4DB2-BD59-A6C34878D82A}">
                    <a16:rowId xmlns:a16="http://schemas.microsoft.com/office/drawing/2014/main" val="10003"/>
                  </a:ext>
                </a:extLst>
              </a:tr>
              <a:tr h="442913">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1</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1</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dirty="0">
                          <a:ln>
                            <a:noFill/>
                          </a:ln>
                          <a:effectLst>
                            <a:outerShdw blurRad="38100" dist="38100" dir="2700000" algn="tl">
                              <a:srgbClr val="000000">
                                <a:alpha val="43137"/>
                              </a:srgbClr>
                            </a:outerShdw>
                          </a:effectLst>
                        </a:rPr>
                        <a:t>1</a:t>
                      </a:r>
                      <a:endParaRPr kumimoji="0" lang="en-US" sz="2800" b="1" i="0" u="none" strike="noStrike" cap="none" normalizeH="0" baseline="0" dirty="0">
                        <a:ln>
                          <a:noFill/>
                        </a:ln>
                        <a:solidFill>
                          <a:schemeClr val="bg1"/>
                        </a:solidFill>
                        <a:effectLst>
                          <a:outerShdw blurRad="38100" dist="38100" dir="2700000" algn="tl">
                            <a:srgbClr val="000000">
                              <a:alpha val="43137"/>
                            </a:srgbClr>
                          </a:outerShdw>
                        </a:effectLst>
                        <a:latin typeface="+mn-lt"/>
                      </a:endParaRPr>
                    </a:p>
                  </a:txBody>
                  <a:tcPr anchor="ctr" horzOverflow="overflow"/>
                </a:tc>
                <a:extLst>
                  <a:ext uri="{0D108BD9-81ED-4DB2-BD59-A6C34878D82A}">
                    <a16:rowId xmlns:a16="http://schemas.microsoft.com/office/drawing/2014/main" val="10004"/>
                  </a:ext>
                </a:extLst>
              </a:tr>
            </a:tbl>
          </a:graphicData>
        </a:graphic>
      </p:graphicFrame>
      <p:pic>
        <p:nvPicPr>
          <p:cNvPr id="12425" name="Picture 137" descr="AND"/>
          <p:cNvPicPr>
            <a:picLocks noChangeAspect="1" noChangeArrowheads="1"/>
          </p:cNvPicPr>
          <p:nvPr/>
        </p:nvPicPr>
        <p:blipFill>
          <a:blip r:embed="rId2" cstate="print"/>
          <a:srcRect/>
          <a:stretch>
            <a:fillRect/>
          </a:stretch>
        </p:blipFill>
        <p:spPr bwMode="auto">
          <a:xfrm>
            <a:off x="2166910" y="4214818"/>
            <a:ext cx="3429000" cy="1404932"/>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22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24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12429"/>
                                        </p:tgtEl>
                                        <p:attrNameLst>
                                          <p:attrName>style.visibility</p:attrName>
                                        </p:attrNameLst>
                                      </p:cBhvr>
                                      <p:to>
                                        <p:strVal val="visible"/>
                                      </p:to>
                                    </p:set>
                                    <p:animEffect transition="in" filter="checkerboard(across)">
                                      <p:cBhvr>
                                        <p:cTn id="15" dur="500"/>
                                        <p:tgtEl>
                                          <p:spTgt spid="124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238480" y="428605"/>
            <a:ext cx="6857992" cy="746111"/>
          </a:xfrm>
        </p:spPr>
        <p:style>
          <a:lnRef idx="0">
            <a:schemeClr val="accent4"/>
          </a:lnRef>
          <a:fillRef idx="3">
            <a:schemeClr val="accent4"/>
          </a:fillRef>
          <a:effectRef idx="3">
            <a:schemeClr val="accent4"/>
          </a:effectRef>
          <a:fontRef idx="minor">
            <a:schemeClr val="lt1"/>
          </a:fontRef>
        </p:style>
        <p:txBody>
          <a:bodyPr>
            <a:normAutofit/>
          </a:bodyPr>
          <a:lstStyle/>
          <a:p>
            <a:pPr eaLnBrk="1" hangingPunct="1"/>
            <a:r>
              <a:rPr lang="en-US" sz="3200" b="1" dirty="0">
                <a:solidFill>
                  <a:schemeClr val="bg1"/>
                </a:solidFill>
              </a:rPr>
              <a:t>OR gate</a:t>
            </a:r>
          </a:p>
        </p:txBody>
      </p:sp>
      <p:sp>
        <p:nvSpPr>
          <p:cNvPr id="14339" name="Rectangle 3"/>
          <p:cNvSpPr>
            <a:spLocks noGrp="1" noChangeArrowheads="1"/>
          </p:cNvSpPr>
          <p:nvPr>
            <p:ph type="body" sz="half" idx="1"/>
          </p:nvPr>
        </p:nvSpPr>
        <p:spPr>
          <a:xfrm>
            <a:off x="2881290" y="1285860"/>
            <a:ext cx="7358114" cy="2438400"/>
          </a:xfrm>
        </p:spPr>
        <p:txBody>
          <a:bodyPr>
            <a:normAutofit/>
          </a:bodyPr>
          <a:lstStyle/>
          <a:p>
            <a:pPr algn="just" eaLnBrk="1" hangingPunct="1"/>
            <a:r>
              <a:rPr lang="en-US" b="1" dirty="0">
                <a:solidFill>
                  <a:schemeClr val="bg1"/>
                </a:solidFill>
                <a:effectLst>
                  <a:outerShdw blurRad="38100" dist="38100" dir="2700000" algn="tl">
                    <a:srgbClr val="000000">
                      <a:alpha val="43137"/>
                    </a:srgbClr>
                  </a:outerShdw>
                </a:effectLst>
              </a:rPr>
              <a:t>The OR gate is an electronic circuit that gives a high output (1) if one or more of its inputs are high. </a:t>
            </a:r>
          </a:p>
          <a:p>
            <a:pPr algn="just" eaLnBrk="1" hangingPunct="1"/>
            <a:r>
              <a:rPr lang="en-US" b="1" dirty="0">
                <a:solidFill>
                  <a:schemeClr val="bg1"/>
                </a:solidFill>
                <a:effectLst>
                  <a:outerShdw blurRad="38100" dist="38100" dir="2700000" algn="tl">
                    <a:srgbClr val="000000">
                      <a:alpha val="43137"/>
                    </a:srgbClr>
                  </a:outerShdw>
                </a:effectLst>
              </a:rPr>
              <a:t>OR gate also takes two or more input signals and produce only one output signal.</a:t>
            </a:r>
          </a:p>
          <a:p>
            <a:pPr algn="just" eaLnBrk="1" hangingPunct="1"/>
            <a:endParaRPr lang="en-US" b="1" dirty="0">
              <a:solidFill>
                <a:schemeClr val="bg1"/>
              </a:solidFill>
              <a:effectLst>
                <a:outerShdw blurRad="38100" dist="38100" dir="2700000" algn="tl">
                  <a:srgbClr val="000000">
                    <a:alpha val="43137"/>
                  </a:srgbClr>
                </a:outerShdw>
              </a:effectLst>
            </a:endParaRPr>
          </a:p>
          <a:p>
            <a:pPr lvl="2" algn="just" eaLnBrk="1" hangingPunct="1"/>
            <a:endParaRPr lang="en-US" b="1" dirty="0">
              <a:solidFill>
                <a:schemeClr val="bg1"/>
              </a:solidFill>
              <a:effectLst>
                <a:outerShdw blurRad="38100" dist="38100" dir="2700000" algn="tl">
                  <a:srgbClr val="000000">
                    <a:alpha val="43137"/>
                  </a:srgbClr>
                </a:outerShdw>
              </a:effectLst>
            </a:endParaRPr>
          </a:p>
        </p:txBody>
      </p:sp>
      <p:graphicFrame>
        <p:nvGraphicFramePr>
          <p:cNvPr id="14374" name="Group 38"/>
          <p:cNvGraphicFramePr>
            <a:graphicFrameLocks noGrp="1"/>
          </p:cNvGraphicFramePr>
          <p:nvPr>
            <p:ph sz="half" idx="2"/>
          </p:nvPr>
        </p:nvGraphicFramePr>
        <p:xfrm>
          <a:off x="5810248" y="3643314"/>
          <a:ext cx="4357718" cy="3017520"/>
        </p:xfrm>
        <a:graphic>
          <a:graphicData uri="http://schemas.openxmlformats.org/drawingml/2006/table">
            <a:tbl>
              <a:tblPr>
                <a:tableStyleId>{284E427A-3D55-4303-BF80-6455036E1DE7}</a:tableStyleId>
              </a:tblPr>
              <a:tblGrid>
                <a:gridCol w="1495903">
                  <a:extLst>
                    <a:ext uri="{9D8B030D-6E8A-4147-A177-3AD203B41FA5}">
                      <a16:colId xmlns:a16="http://schemas.microsoft.com/office/drawing/2014/main" val="20000"/>
                    </a:ext>
                  </a:extLst>
                </a:gridCol>
                <a:gridCol w="1493839">
                  <a:extLst>
                    <a:ext uri="{9D8B030D-6E8A-4147-A177-3AD203B41FA5}">
                      <a16:colId xmlns:a16="http://schemas.microsoft.com/office/drawing/2014/main" val="20001"/>
                    </a:ext>
                  </a:extLst>
                </a:gridCol>
                <a:gridCol w="1367976">
                  <a:extLst>
                    <a:ext uri="{9D8B030D-6E8A-4147-A177-3AD203B41FA5}">
                      <a16:colId xmlns:a16="http://schemas.microsoft.com/office/drawing/2014/main" val="20002"/>
                    </a:ext>
                  </a:extLst>
                </a:gridCol>
              </a:tblGrid>
              <a:tr h="766336">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dirty="0">
                          <a:ln>
                            <a:noFill/>
                          </a:ln>
                          <a:effectLst>
                            <a:outerShdw blurRad="38100" dist="38100" dir="2700000" algn="tl">
                              <a:srgbClr val="000000">
                                <a:alpha val="43137"/>
                              </a:srgbClr>
                            </a:outerShdw>
                          </a:effectLst>
                        </a:rPr>
                        <a:t>Input  </a:t>
                      </a:r>
                    </a:p>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dirty="0">
                          <a:ln>
                            <a:noFill/>
                          </a:ln>
                          <a:effectLst>
                            <a:outerShdw blurRad="38100" dist="38100" dir="2700000" algn="tl">
                              <a:srgbClr val="000000">
                                <a:alpha val="43137"/>
                              </a:srgbClr>
                            </a:outerShdw>
                          </a:effectLst>
                        </a:rPr>
                        <a:t>A</a:t>
                      </a:r>
                      <a:endParaRPr kumimoji="0" lang="en-US" sz="2800" b="1" i="0" u="none" strike="noStrike" cap="none" normalizeH="0" baseline="0" dirty="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dirty="0">
                          <a:ln>
                            <a:noFill/>
                          </a:ln>
                          <a:effectLst>
                            <a:outerShdw blurRad="38100" dist="38100" dir="2700000" algn="tl">
                              <a:srgbClr val="000000">
                                <a:alpha val="43137"/>
                              </a:srgbClr>
                            </a:outerShdw>
                          </a:effectLst>
                        </a:rPr>
                        <a:t>Input </a:t>
                      </a:r>
                    </a:p>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dirty="0">
                          <a:ln>
                            <a:noFill/>
                          </a:ln>
                          <a:effectLst>
                            <a:outerShdw blurRad="38100" dist="38100" dir="2700000" algn="tl">
                              <a:srgbClr val="000000">
                                <a:alpha val="43137"/>
                              </a:srgbClr>
                            </a:outerShdw>
                          </a:effectLst>
                        </a:rPr>
                        <a:t> B</a:t>
                      </a:r>
                      <a:endParaRPr kumimoji="0" lang="en-US" sz="2800" b="1" i="0" u="none" strike="noStrike" cap="none" normalizeH="0" baseline="0" dirty="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Output A+B</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extLst>
                  <a:ext uri="{0D108BD9-81ED-4DB2-BD59-A6C34878D82A}">
                    <a16:rowId xmlns:a16="http://schemas.microsoft.com/office/drawing/2014/main" val="10000"/>
                  </a:ext>
                </a:extLst>
              </a:tr>
              <a:tr h="440643">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dirty="0">
                          <a:ln>
                            <a:noFill/>
                          </a:ln>
                          <a:effectLst>
                            <a:outerShdw blurRad="38100" dist="38100" dir="2700000" algn="tl">
                              <a:srgbClr val="000000">
                                <a:alpha val="43137"/>
                              </a:srgbClr>
                            </a:outerShdw>
                          </a:effectLst>
                        </a:rPr>
                        <a:t>0</a:t>
                      </a:r>
                      <a:endParaRPr kumimoji="0" lang="en-US" sz="2800" b="1" i="0" u="none" strike="noStrike" cap="none" normalizeH="0" baseline="0" dirty="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0</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0</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extLst>
                  <a:ext uri="{0D108BD9-81ED-4DB2-BD59-A6C34878D82A}">
                    <a16:rowId xmlns:a16="http://schemas.microsoft.com/office/drawing/2014/main" val="10001"/>
                  </a:ext>
                </a:extLst>
              </a:tr>
              <a:tr h="440643">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0</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1</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1</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extLst>
                  <a:ext uri="{0D108BD9-81ED-4DB2-BD59-A6C34878D82A}">
                    <a16:rowId xmlns:a16="http://schemas.microsoft.com/office/drawing/2014/main" val="10002"/>
                  </a:ext>
                </a:extLst>
              </a:tr>
              <a:tr h="440643">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1</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0</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1</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extLst>
                  <a:ext uri="{0D108BD9-81ED-4DB2-BD59-A6C34878D82A}">
                    <a16:rowId xmlns:a16="http://schemas.microsoft.com/office/drawing/2014/main" val="10003"/>
                  </a:ext>
                </a:extLst>
              </a:tr>
              <a:tr h="440643">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1</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a:ln>
                            <a:noFill/>
                          </a:ln>
                          <a:effectLst>
                            <a:outerShdw blurRad="38100" dist="38100" dir="2700000" algn="tl">
                              <a:srgbClr val="000000">
                                <a:alpha val="43137"/>
                              </a:srgbClr>
                            </a:outerShdw>
                          </a:effectLst>
                        </a:rPr>
                        <a:t>1</a:t>
                      </a:r>
                      <a:endParaRPr kumimoji="0" lang="en-US" sz="2800" b="1" i="0" u="none" strike="noStrike" cap="none" normalizeH="0" baseline="0">
                        <a:ln>
                          <a:noFill/>
                        </a:ln>
                        <a:solidFill>
                          <a:schemeClr val="bg1"/>
                        </a:solidFill>
                        <a:effectLst>
                          <a:outerShdw blurRad="38100" dist="38100" dir="2700000" algn="tl">
                            <a:srgbClr val="000000">
                              <a:alpha val="43137"/>
                            </a:srgbClr>
                          </a:outerShdw>
                        </a:effectLst>
                        <a:latin typeface="+mn-lt"/>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800" b="1" u="none" strike="noStrike" cap="none" normalizeH="0" baseline="0" dirty="0">
                          <a:ln>
                            <a:noFill/>
                          </a:ln>
                          <a:effectLst>
                            <a:outerShdw blurRad="38100" dist="38100" dir="2700000" algn="tl">
                              <a:srgbClr val="000000">
                                <a:alpha val="43137"/>
                              </a:srgbClr>
                            </a:outerShdw>
                          </a:effectLst>
                        </a:rPr>
                        <a:t>1</a:t>
                      </a:r>
                      <a:endParaRPr kumimoji="0" lang="en-US" sz="2800" b="1" i="0" u="none" strike="noStrike" cap="none" normalizeH="0" baseline="0" dirty="0">
                        <a:ln>
                          <a:noFill/>
                        </a:ln>
                        <a:solidFill>
                          <a:schemeClr val="bg1"/>
                        </a:solidFill>
                        <a:effectLst>
                          <a:outerShdw blurRad="38100" dist="38100" dir="2700000" algn="tl">
                            <a:srgbClr val="000000">
                              <a:alpha val="43137"/>
                            </a:srgbClr>
                          </a:outerShdw>
                        </a:effectLst>
                        <a:latin typeface="+mn-lt"/>
                      </a:endParaRPr>
                    </a:p>
                  </a:txBody>
                  <a:tcPr anchor="ctr" horzOverflow="overflow"/>
                </a:tc>
                <a:extLst>
                  <a:ext uri="{0D108BD9-81ED-4DB2-BD59-A6C34878D82A}">
                    <a16:rowId xmlns:a16="http://schemas.microsoft.com/office/drawing/2014/main" val="10004"/>
                  </a:ext>
                </a:extLst>
              </a:tr>
            </a:tbl>
          </a:graphicData>
        </a:graphic>
      </p:graphicFrame>
      <p:pic>
        <p:nvPicPr>
          <p:cNvPr id="14371" name="Picture 35" descr="OR"/>
          <p:cNvPicPr>
            <a:picLocks noChangeAspect="1" noChangeArrowheads="1"/>
          </p:cNvPicPr>
          <p:nvPr/>
        </p:nvPicPr>
        <p:blipFill>
          <a:blip r:embed="rId2" cstate="print"/>
          <a:srcRect/>
          <a:stretch>
            <a:fillRect/>
          </a:stretch>
        </p:blipFill>
        <p:spPr bwMode="auto">
          <a:xfrm>
            <a:off x="2166910" y="4429132"/>
            <a:ext cx="3276600" cy="1643074"/>
          </a:xfrm>
          <a:prstGeom prst="rect">
            <a:avLst/>
          </a:prstGeom>
          <a:noFill/>
          <a:ln w="9525">
            <a:noFill/>
            <a:miter lim="800000"/>
            <a:headEnd/>
            <a:tailEnd/>
          </a:ln>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43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iterate type="lt">
                                    <p:tmAbs val="75"/>
                                  </p:iterate>
                                  <p:childTnLst>
                                    <p:set>
                                      <p:cBhvr>
                                        <p:cTn id="10" dur="1" fill="hold">
                                          <p:stCondLst>
                                            <p:cond delay="74"/>
                                          </p:stCondLst>
                                        </p:cTn>
                                        <p:tgtEl>
                                          <p:spTgt spid="1437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43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381356" y="679451"/>
            <a:ext cx="6718318" cy="677847"/>
          </a:xfrm>
        </p:spPr>
        <p:style>
          <a:lnRef idx="0">
            <a:schemeClr val="accent6"/>
          </a:lnRef>
          <a:fillRef idx="3">
            <a:schemeClr val="accent6"/>
          </a:fillRef>
          <a:effectRef idx="3">
            <a:schemeClr val="accent6"/>
          </a:effectRef>
          <a:fontRef idx="minor">
            <a:schemeClr val="lt1"/>
          </a:fontRef>
        </p:style>
        <p:txBody>
          <a:bodyPr>
            <a:normAutofit/>
          </a:bodyPr>
          <a:lstStyle/>
          <a:p>
            <a:pPr eaLnBrk="1" hangingPunct="1"/>
            <a:r>
              <a:rPr lang="en-US" sz="3200" b="1">
                <a:solidFill>
                  <a:srgbClr val="660033"/>
                </a:solidFill>
              </a:rPr>
              <a:t>NOT gate</a:t>
            </a:r>
          </a:p>
        </p:txBody>
      </p:sp>
      <p:sp>
        <p:nvSpPr>
          <p:cNvPr id="16387" name="Rectangle 3"/>
          <p:cNvSpPr>
            <a:spLocks noGrp="1" noChangeArrowheads="1"/>
          </p:cNvSpPr>
          <p:nvPr>
            <p:ph type="body" sz="half" idx="1"/>
          </p:nvPr>
        </p:nvSpPr>
        <p:spPr>
          <a:xfrm>
            <a:off x="2881290" y="1571612"/>
            <a:ext cx="7358114" cy="3427424"/>
          </a:xfrm>
          <a:solidFill>
            <a:srgbClr val="FF0000"/>
          </a:solidFill>
        </p:spPr>
        <p:txBody>
          <a:bodyPr>
            <a:noAutofit/>
          </a:bodyPr>
          <a:lstStyle/>
          <a:p>
            <a:pPr algn="just" eaLnBrk="1" hangingPunct="1"/>
            <a:r>
              <a:rPr lang="en-US" b="1" dirty="0">
                <a:solidFill>
                  <a:schemeClr val="bg1"/>
                </a:solidFill>
                <a:effectLst>
                  <a:outerShdw blurRad="38100" dist="38100" dir="2700000" algn="tl">
                    <a:srgbClr val="000000">
                      <a:alpha val="43137"/>
                    </a:srgbClr>
                  </a:outerShdw>
                </a:effectLst>
              </a:rPr>
              <a:t>The NOT gate is an electronic circuit that gives a high output (1) if its input is low . </a:t>
            </a:r>
          </a:p>
          <a:p>
            <a:pPr algn="just" eaLnBrk="1" hangingPunct="1"/>
            <a:r>
              <a:rPr lang="en-US" b="1" dirty="0">
                <a:solidFill>
                  <a:schemeClr val="bg1"/>
                </a:solidFill>
                <a:effectLst>
                  <a:outerShdw blurRad="38100" dist="38100" dir="2700000" algn="tl">
                    <a:srgbClr val="000000">
                      <a:alpha val="43137"/>
                    </a:srgbClr>
                  </a:outerShdw>
                </a:effectLst>
              </a:rPr>
              <a:t>NOT gate takes only one input signal and produce only one output signal.</a:t>
            </a:r>
          </a:p>
          <a:p>
            <a:pPr algn="just" eaLnBrk="1" hangingPunct="1"/>
            <a:r>
              <a:rPr lang="en-US" b="1" dirty="0">
                <a:solidFill>
                  <a:schemeClr val="bg1"/>
                </a:solidFill>
                <a:effectLst>
                  <a:outerShdw blurRad="38100" dist="38100" dir="2700000" algn="tl">
                    <a:srgbClr val="000000">
                      <a:alpha val="43137"/>
                    </a:srgbClr>
                  </a:outerShdw>
                </a:effectLst>
              </a:rPr>
              <a:t>The output of NOT gate is complement of its input.</a:t>
            </a:r>
          </a:p>
          <a:p>
            <a:pPr algn="just" eaLnBrk="1" hangingPunct="1"/>
            <a:r>
              <a:rPr lang="en-US" b="1" dirty="0">
                <a:solidFill>
                  <a:schemeClr val="bg1"/>
                </a:solidFill>
                <a:effectLst>
                  <a:outerShdw blurRad="38100" dist="38100" dir="2700000" algn="tl">
                    <a:srgbClr val="000000">
                      <a:alpha val="43137"/>
                    </a:srgbClr>
                  </a:outerShdw>
                </a:effectLst>
              </a:rPr>
              <a:t>It is also called inverter.</a:t>
            </a:r>
          </a:p>
          <a:p>
            <a:pPr algn="just" eaLnBrk="1" hangingPunct="1"/>
            <a:endParaRPr lang="en-US" b="1" dirty="0">
              <a:solidFill>
                <a:schemeClr val="bg1"/>
              </a:solidFill>
              <a:effectLst>
                <a:outerShdw blurRad="38100" dist="38100" dir="2700000" algn="tl">
                  <a:srgbClr val="000000">
                    <a:alpha val="43137"/>
                  </a:srgbClr>
                </a:outerShdw>
              </a:effectLst>
            </a:endParaRPr>
          </a:p>
          <a:p>
            <a:pPr lvl="2" algn="just" eaLnBrk="1" hangingPunct="1"/>
            <a:endParaRPr lang="en-US" b="1" dirty="0">
              <a:solidFill>
                <a:schemeClr val="bg1"/>
              </a:solidFill>
              <a:effectLst>
                <a:outerShdw blurRad="38100" dist="38100" dir="2700000" algn="tl">
                  <a:srgbClr val="000000">
                    <a:alpha val="43137"/>
                  </a:srgbClr>
                </a:outerShdw>
              </a:effectLst>
            </a:endParaRPr>
          </a:p>
        </p:txBody>
      </p:sp>
      <p:graphicFrame>
        <p:nvGraphicFramePr>
          <p:cNvPr id="16422" name="Group 38"/>
          <p:cNvGraphicFramePr>
            <a:graphicFrameLocks noGrp="1"/>
          </p:cNvGraphicFramePr>
          <p:nvPr>
            <p:ph sz="half" idx="2"/>
          </p:nvPr>
        </p:nvGraphicFramePr>
        <p:xfrm>
          <a:off x="7096132" y="4786322"/>
          <a:ext cx="3000396" cy="1371600"/>
        </p:xfrm>
        <a:graphic>
          <a:graphicData uri="http://schemas.openxmlformats.org/drawingml/2006/table">
            <a:tbl>
              <a:tblPr>
                <a:tableStyleId>{69C7853C-536D-4A76-A0AE-DD22124D55A5}</a:tableStyleId>
              </a:tblPr>
              <a:tblGrid>
                <a:gridCol w="1567994">
                  <a:extLst>
                    <a:ext uri="{9D8B030D-6E8A-4147-A177-3AD203B41FA5}">
                      <a16:colId xmlns:a16="http://schemas.microsoft.com/office/drawing/2014/main" val="20000"/>
                    </a:ext>
                  </a:extLst>
                </a:gridCol>
                <a:gridCol w="1432402">
                  <a:extLst>
                    <a:ext uri="{9D8B030D-6E8A-4147-A177-3AD203B41FA5}">
                      <a16:colId xmlns:a16="http://schemas.microsoft.com/office/drawing/2014/main" val="20001"/>
                    </a:ext>
                  </a:extLst>
                </a:gridCol>
              </a:tblGrid>
              <a:tr h="420688">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400" b="1" u="none" strike="noStrike" cap="none" normalizeH="0" baseline="0" dirty="0">
                          <a:ln>
                            <a:noFill/>
                          </a:ln>
                          <a:effectLst>
                            <a:outerShdw blurRad="38100" dist="38100" dir="2700000" algn="tl">
                              <a:srgbClr val="000000">
                                <a:alpha val="43137"/>
                              </a:srgbClr>
                            </a:outerShdw>
                          </a:effectLst>
                        </a:rPr>
                        <a:t>Input A</a:t>
                      </a:r>
                      <a:endParaRPr kumimoji="0" lang="en-US" sz="2400" b="1" i="0" u="none" strike="noStrike" cap="none" normalizeH="0" baseline="0" dirty="0">
                        <a:ln>
                          <a:noFill/>
                        </a:ln>
                        <a:solidFill>
                          <a:schemeClr val="bg1"/>
                        </a:solidFill>
                        <a:effectLst>
                          <a:outerShdw blurRad="38100" dist="38100" dir="2700000" algn="tl">
                            <a:srgbClr val="000000">
                              <a:alpha val="43137"/>
                            </a:srgbClr>
                          </a:outerShdw>
                        </a:effectLst>
                        <a:latin typeface="Verdana" pitchFamily="34"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400" b="1" u="none" strike="noStrike" cap="none" normalizeH="0" baseline="0">
                          <a:ln>
                            <a:noFill/>
                          </a:ln>
                          <a:effectLst>
                            <a:outerShdw blurRad="38100" dist="38100" dir="2700000" algn="tl">
                              <a:srgbClr val="000000">
                                <a:alpha val="43137"/>
                              </a:srgbClr>
                            </a:outerShdw>
                          </a:effectLst>
                        </a:rPr>
                        <a:t>Output A</a:t>
                      </a:r>
                      <a:endParaRPr kumimoji="0" lang="en-US" sz="2400" b="1" i="0" u="none" strike="noStrike" cap="none" normalizeH="0" baseline="0">
                        <a:ln>
                          <a:noFill/>
                        </a:ln>
                        <a:solidFill>
                          <a:schemeClr val="bg1"/>
                        </a:solidFill>
                        <a:effectLst>
                          <a:outerShdw blurRad="38100" dist="38100" dir="2700000" algn="tl">
                            <a:srgbClr val="000000">
                              <a:alpha val="43137"/>
                            </a:srgbClr>
                          </a:outerShdw>
                        </a:effectLst>
                        <a:latin typeface="Verdana" pitchFamily="34" charset="0"/>
                      </a:endParaRPr>
                    </a:p>
                  </a:txBody>
                  <a:tcPr anchor="ctr" horzOverflow="overflow"/>
                </a:tc>
                <a:extLst>
                  <a:ext uri="{0D108BD9-81ED-4DB2-BD59-A6C34878D82A}">
                    <a16:rowId xmlns:a16="http://schemas.microsoft.com/office/drawing/2014/main" val="10000"/>
                  </a:ext>
                </a:extLst>
              </a:tr>
              <a:tr h="422275">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400" b="1" u="none" strike="noStrike" cap="none" normalizeH="0" baseline="0">
                          <a:ln>
                            <a:noFill/>
                          </a:ln>
                          <a:effectLst>
                            <a:outerShdw blurRad="38100" dist="38100" dir="2700000" algn="tl">
                              <a:srgbClr val="000000">
                                <a:alpha val="43137"/>
                              </a:srgbClr>
                            </a:outerShdw>
                          </a:effectLst>
                        </a:rPr>
                        <a:t>0</a:t>
                      </a:r>
                      <a:endParaRPr kumimoji="0" lang="en-US" sz="2400" b="1" i="0" u="none" strike="noStrike" cap="none" normalizeH="0" baseline="0">
                        <a:ln>
                          <a:noFill/>
                        </a:ln>
                        <a:solidFill>
                          <a:schemeClr val="bg1"/>
                        </a:solidFill>
                        <a:effectLst>
                          <a:outerShdw blurRad="38100" dist="38100" dir="2700000" algn="tl">
                            <a:srgbClr val="000000">
                              <a:alpha val="43137"/>
                            </a:srgbClr>
                          </a:outerShdw>
                        </a:effectLst>
                        <a:latin typeface="Verdana" pitchFamily="34"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400" b="1" u="none" strike="noStrike" cap="none" normalizeH="0" baseline="0" dirty="0">
                          <a:ln>
                            <a:noFill/>
                          </a:ln>
                          <a:effectLst>
                            <a:outerShdw blurRad="38100" dist="38100" dir="2700000" algn="tl">
                              <a:srgbClr val="000000">
                                <a:alpha val="43137"/>
                              </a:srgbClr>
                            </a:outerShdw>
                          </a:effectLst>
                        </a:rPr>
                        <a:t>1</a:t>
                      </a:r>
                      <a:endParaRPr kumimoji="0" lang="en-US" sz="2400" b="1" i="0" u="none" strike="noStrike" cap="none" normalizeH="0" baseline="0" dirty="0">
                        <a:ln>
                          <a:noFill/>
                        </a:ln>
                        <a:solidFill>
                          <a:schemeClr val="bg1"/>
                        </a:solidFill>
                        <a:effectLst>
                          <a:outerShdw blurRad="38100" dist="38100" dir="2700000" algn="tl">
                            <a:srgbClr val="000000">
                              <a:alpha val="43137"/>
                            </a:srgbClr>
                          </a:outerShdw>
                        </a:effectLst>
                        <a:latin typeface="Verdana" pitchFamily="34" charset="0"/>
                      </a:endParaRPr>
                    </a:p>
                  </a:txBody>
                  <a:tcPr anchor="ctr" horzOverflow="overflow"/>
                </a:tc>
                <a:extLst>
                  <a:ext uri="{0D108BD9-81ED-4DB2-BD59-A6C34878D82A}">
                    <a16:rowId xmlns:a16="http://schemas.microsoft.com/office/drawing/2014/main" val="10001"/>
                  </a:ext>
                </a:extLst>
              </a:tr>
              <a:tr h="420688">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400" b="1" u="none" strike="noStrike" cap="none" normalizeH="0" baseline="0" dirty="0">
                          <a:ln>
                            <a:noFill/>
                          </a:ln>
                          <a:effectLst>
                            <a:outerShdw blurRad="38100" dist="38100" dir="2700000" algn="tl">
                              <a:srgbClr val="000000">
                                <a:alpha val="43137"/>
                              </a:srgbClr>
                            </a:outerShdw>
                          </a:effectLst>
                        </a:rPr>
                        <a:t>1</a:t>
                      </a:r>
                      <a:endParaRPr kumimoji="0" lang="en-US" sz="2400" b="1" i="0" u="none" strike="noStrike" cap="none" normalizeH="0" baseline="0" dirty="0">
                        <a:ln>
                          <a:noFill/>
                        </a:ln>
                        <a:solidFill>
                          <a:schemeClr val="bg1"/>
                        </a:solidFill>
                        <a:effectLst>
                          <a:outerShdw blurRad="38100" dist="38100" dir="2700000" algn="tl">
                            <a:srgbClr val="000000">
                              <a:alpha val="43137"/>
                            </a:srgbClr>
                          </a:outerShdw>
                        </a:effectLst>
                        <a:latin typeface="Verdana" pitchFamily="34" charset="0"/>
                      </a:endParaRPr>
                    </a:p>
                  </a:txBody>
                  <a:tcPr anchor="ctr" horzOverflow="overflow"/>
                </a:tc>
                <a:tc>
                  <a:txBody>
                    <a:bodyPr/>
                    <a:lstStyle/>
                    <a:p>
                      <a:pPr marL="0" marR="0" lvl="0" indent="0" algn="ctr" defTabSz="914400" rtl="0" eaLnBrk="1" fontAlgn="base" latinLnBrk="0" hangingPunct="1">
                        <a:lnSpc>
                          <a:spcPct val="100000"/>
                        </a:lnSpc>
                        <a:spcBef>
                          <a:spcPct val="0"/>
                        </a:spcBef>
                        <a:spcAft>
                          <a:spcPct val="0"/>
                        </a:spcAft>
                        <a:buClr>
                          <a:schemeClr val="accent2"/>
                        </a:buClr>
                        <a:buSzTx/>
                        <a:buFont typeface="Wingdings" pitchFamily="2" charset="2"/>
                        <a:buNone/>
                        <a:tabLst/>
                      </a:pPr>
                      <a:r>
                        <a:rPr kumimoji="0" lang="en-US" sz="2400" b="1" u="none" strike="noStrike" cap="none" normalizeH="0" baseline="0" dirty="0">
                          <a:ln>
                            <a:noFill/>
                          </a:ln>
                          <a:effectLst>
                            <a:outerShdw blurRad="38100" dist="38100" dir="2700000" algn="tl">
                              <a:srgbClr val="000000">
                                <a:alpha val="43137"/>
                              </a:srgbClr>
                            </a:outerShdw>
                          </a:effectLst>
                        </a:rPr>
                        <a:t>0</a:t>
                      </a:r>
                      <a:endParaRPr kumimoji="0" lang="en-US" sz="2400" b="1" i="0" u="none" strike="noStrike" cap="none" normalizeH="0" baseline="0" dirty="0">
                        <a:ln>
                          <a:noFill/>
                        </a:ln>
                        <a:solidFill>
                          <a:schemeClr val="bg1"/>
                        </a:solidFill>
                        <a:effectLst>
                          <a:outerShdw blurRad="38100" dist="38100" dir="2700000" algn="tl">
                            <a:srgbClr val="000000">
                              <a:alpha val="43137"/>
                            </a:srgbClr>
                          </a:outerShdw>
                        </a:effectLst>
                        <a:latin typeface="Verdana" pitchFamily="34" charset="0"/>
                      </a:endParaRPr>
                    </a:p>
                  </a:txBody>
                  <a:tcPr anchor="ctr" horzOverflow="overflow"/>
                </a:tc>
                <a:extLst>
                  <a:ext uri="{0D108BD9-81ED-4DB2-BD59-A6C34878D82A}">
                    <a16:rowId xmlns:a16="http://schemas.microsoft.com/office/drawing/2014/main" val="10002"/>
                  </a:ext>
                </a:extLst>
              </a:tr>
            </a:tbl>
          </a:graphicData>
        </a:graphic>
      </p:graphicFrame>
      <p:pic>
        <p:nvPicPr>
          <p:cNvPr id="16418" name="Picture 34" descr="NOT1"/>
          <p:cNvPicPr>
            <a:picLocks noChangeAspect="1" noChangeArrowheads="1"/>
          </p:cNvPicPr>
          <p:nvPr/>
        </p:nvPicPr>
        <p:blipFill>
          <a:blip r:embed="rId2" cstate="print"/>
          <a:srcRect/>
          <a:stretch>
            <a:fillRect/>
          </a:stretch>
        </p:blipFill>
        <p:spPr bwMode="auto">
          <a:xfrm>
            <a:off x="2452662" y="5143512"/>
            <a:ext cx="3810000" cy="1433514"/>
          </a:xfrm>
          <a:prstGeom prst="rect">
            <a:avLst/>
          </a:prstGeom>
          <a:noFill/>
          <a:ln w="9525">
            <a:noFill/>
            <a:miter lim="800000"/>
            <a:headEnd/>
            <a:tailEnd/>
          </a:ln>
        </p:spPr>
      </p:pic>
      <p:sp>
        <p:nvSpPr>
          <p:cNvPr id="20499" name="Line 37"/>
          <p:cNvSpPr>
            <a:spLocks noChangeShapeType="1"/>
          </p:cNvSpPr>
          <p:nvPr/>
        </p:nvSpPr>
        <p:spPr bwMode="auto">
          <a:xfrm>
            <a:off x="9725052" y="4857760"/>
            <a:ext cx="228600" cy="0"/>
          </a:xfrm>
          <a:prstGeom prst="line">
            <a:avLst/>
          </a:prstGeom>
          <a:ln>
            <a:headEnd/>
            <a:tailEnd/>
          </a:ln>
        </p:spPr>
        <p:style>
          <a:lnRef idx="3">
            <a:schemeClr val="accent2"/>
          </a:lnRef>
          <a:fillRef idx="0">
            <a:schemeClr val="accent2"/>
          </a:fillRef>
          <a:effectRef idx="2">
            <a:schemeClr val="accent2"/>
          </a:effectRef>
          <a:fontRef idx="minor">
            <a:schemeClr val="tx1"/>
          </a:fontRef>
        </p:style>
        <p:txBody>
          <a:bodyPr/>
          <a:lstStyle/>
          <a:p>
            <a:endParaRPr lang="en-IN"/>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63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16418"/>
                                        </p:tgtEl>
                                        <p:attrNameLst>
                                          <p:attrName>style.visibility</p:attrName>
                                        </p:attrNameLst>
                                      </p:cBhvr>
                                      <p:to>
                                        <p:strVal val="visible"/>
                                      </p:to>
                                    </p:set>
                                    <p:animEffect transition="in" filter="checkerboard(across)">
                                      <p:cBhvr>
                                        <p:cTn id="11" dur="500"/>
                                        <p:tgtEl>
                                          <p:spTgt spid="1641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iterate type="lt">
                                    <p:tmAbs val="75"/>
                                  </p:iterate>
                                  <p:childTnLst>
                                    <p:set>
                                      <p:cBhvr>
                                        <p:cTn id="15" dur="1" fill="hold">
                                          <p:stCondLst>
                                            <p:cond delay="74"/>
                                          </p:stCondLst>
                                        </p:cTn>
                                        <p:tgtEl>
                                          <p:spTgt spid="16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4" descr="https://qph.ec.quoracdn.net/main-qimg-b3d767751c74f3b0fde72699e154bcad-c?convert_to_webp=true"/>
          <p:cNvPicPr>
            <a:picLocks noChangeAspect="1" noChangeArrowheads="1"/>
          </p:cNvPicPr>
          <p:nvPr/>
        </p:nvPicPr>
        <p:blipFill>
          <a:blip r:embed="rId2" cstate="print"/>
          <a:srcRect/>
          <a:stretch>
            <a:fillRect/>
          </a:stretch>
        </p:blipFill>
        <p:spPr bwMode="auto">
          <a:xfrm>
            <a:off x="4095736" y="1643050"/>
            <a:ext cx="4481506" cy="2990266"/>
          </a:xfrm>
          <a:prstGeom prst="rect">
            <a:avLst/>
          </a:prstGeom>
          <a:ln>
            <a:noFill/>
          </a:ln>
          <a:effectLst>
            <a:outerShdw blurRad="292100" dist="139700" dir="2700000" algn="tl" rotWithShape="0">
              <a:srgbClr val="333333">
                <a:alpha val="65000"/>
              </a:srgbClr>
            </a:outerShdw>
          </a:effectLst>
        </p:spPr>
      </p:pic>
      <p:sp>
        <p:nvSpPr>
          <p:cNvPr id="21507" name="Rectangle 6"/>
          <p:cNvSpPr>
            <a:spLocks noChangeArrowheads="1"/>
          </p:cNvSpPr>
          <p:nvPr/>
        </p:nvSpPr>
        <p:spPr bwMode="auto">
          <a:xfrm>
            <a:off x="5381620" y="1000108"/>
            <a:ext cx="1653338" cy="52322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spAutoFit/>
          </a:bodyPr>
          <a:lstStyle/>
          <a:p>
            <a:r>
              <a:rPr lang="en-US" sz="2800" b="1" dirty="0">
                <a:solidFill>
                  <a:schemeClr val="bg1"/>
                </a:solidFill>
              </a:rPr>
              <a:t>AND Gate</a:t>
            </a:r>
            <a:endParaRPr lang="en-IN" sz="2800" dirty="0">
              <a:solidFill>
                <a:schemeClr val="bg1"/>
              </a:solidFill>
            </a:endParaRPr>
          </a:p>
        </p:txBody>
      </p:sp>
      <p:sp>
        <p:nvSpPr>
          <p:cNvPr id="21508" name="Rectangle 7"/>
          <p:cNvSpPr>
            <a:spLocks noChangeArrowheads="1"/>
          </p:cNvSpPr>
          <p:nvPr/>
        </p:nvSpPr>
        <p:spPr bwMode="auto">
          <a:xfrm>
            <a:off x="3095604" y="4786322"/>
            <a:ext cx="7348534" cy="1815882"/>
          </a:xfrm>
          <a:prstGeom prst="rect">
            <a:avLst/>
          </a:prstGeom>
          <a:noFill/>
          <a:ln w="9525">
            <a:noFill/>
            <a:miter lim="800000"/>
            <a:headEnd/>
            <a:tailEnd/>
          </a:ln>
        </p:spPr>
        <p:txBody>
          <a:bodyPr wrap="square">
            <a:spAutoFit/>
          </a:bodyPr>
          <a:lstStyle/>
          <a:p>
            <a:pPr algn="just"/>
            <a:r>
              <a:rPr lang="en-IN" sz="2800" b="1" dirty="0">
                <a:solidFill>
                  <a:schemeClr val="bg1"/>
                </a:solidFill>
                <a:effectLst>
                  <a:outerShdw blurRad="38100" dist="38100" dir="2700000" algn="tl">
                    <a:srgbClr val="000000">
                      <a:alpha val="43137"/>
                    </a:srgbClr>
                  </a:outerShdw>
                </a:effectLst>
              </a:rPr>
              <a:t>	So while going out of the house you set the "Alarm Switch" and if the burglar enters he will set the "Person switch", and </a:t>
            </a:r>
            <a:r>
              <a:rPr lang="en-IN" sz="2800" b="1" dirty="0" err="1">
                <a:solidFill>
                  <a:schemeClr val="bg1"/>
                </a:solidFill>
                <a:effectLst>
                  <a:outerShdw blurRad="38100" dist="38100" dir="2700000" algn="tl">
                    <a:srgbClr val="000000">
                      <a:alpha val="43137"/>
                    </a:srgbClr>
                  </a:outerShdw>
                </a:effectLst>
              </a:rPr>
              <a:t>tada</a:t>
            </a:r>
            <a:r>
              <a:rPr lang="en-IN" sz="2800" b="1" dirty="0">
                <a:solidFill>
                  <a:schemeClr val="bg1"/>
                </a:solidFill>
                <a:effectLst>
                  <a:outerShdw blurRad="38100" dist="38100" dir="2700000" algn="tl">
                    <a:srgbClr val="000000">
                      <a:alpha val="43137"/>
                    </a:srgbClr>
                  </a:outerShdw>
                </a:effectLst>
              </a:rPr>
              <a:t> the alarm will ring.</a:t>
            </a:r>
          </a:p>
        </p:txBody>
      </p:sp>
      <p:sp>
        <p:nvSpPr>
          <p:cNvPr id="21509" name="Rectangle 8"/>
          <p:cNvSpPr>
            <a:spLocks noChangeArrowheads="1"/>
          </p:cNvSpPr>
          <p:nvPr/>
        </p:nvSpPr>
        <p:spPr bwMode="auto">
          <a:xfrm>
            <a:off x="2738414" y="381001"/>
            <a:ext cx="7358114" cy="461665"/>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square">
            <a:spAutoFit/>
          </a:bodyPr>
          <a:lstStyle/>
          <a:p>
            <a:pPr algn="ctr"/>
            <a:r>
              <a:rPr lang="en-IN" sz="2400" b="1" dirty="0">
                <a:solidFill>
                  <a:schemeClr val="bg1"/>
                </a:solidFill>
              </a:rPr>
              <a:t>PRACTICAL APPLICATIONS OF LOGIC GATES</a:t>
            </a:r>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p:cNvSpPr>
            <a:spLocks noChangeArrowheads="1"/>
          </p:cNvSpPr>
          <p:nvPr/>
        </p:nvSpPr>
        <p:spPr bwMode="auto">
          <a:xfrm>
            <a:off x="5667372" y="1285860"/>
            <a:ext cx="1653338" cy="52322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a:spAutoFit/>
          </a:bodyPr>
          <a:lstStyle/>
          <a:p>
            <a:pPr algn="ctr"/>
            <a:r>
              <a:rPr lang="en-US" sz="2800" b="1" dirty="0">
                <a:solidFill>
                  <a:schemeClr val="bg1"/>
                </a:solidFill>
              </a:rPr>
              <a:t>AND Gate</a:t>
            </a:r>
            <a:endParaRPr lang="en-IN" sz="2800" dirty="0">
              <a:solidFill>
                <a:schemeClr val="bg1"/>
              </a:solidFill>
            </a:endParaRPr>
          </a:p>
        </p:txBody>
      </p:sp>
      <p:sp>
        <p:nvSpPr>
          <p:cNvPr id="22531" name="Rectangle 8"/>
          <p:cNvSpPr>
            <a:spLocks noChangeArrowheads="1"/>
          </p:cNvSpPr>
          <p:nvPr/>
        </p:nvSpPr>
        <p:spPr bwMode="auto">
          <a:xfrm>
            <a:off x="2309786" y="381000"/>
            <a:ext cx="7715304" cy="52322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square">
            <a:spAutoFit/>
          </a:bodyPr>
          <a:lstStyle/>
          <a:p>
            <a:pPr algn="ctr"/>
            <a:r>
              <a:rPr lang="en-IN" sz="2800" b="1" dirty="0">
                <a:solidFill>
                  <a:schemeClr val="bg1"/>
                </a:solidFill>
                <a:effectLst>
                  <a:outerShdw blurRad="38100" dist="38100" dir="2700000" algn="tl">
                    <a:srgbClr val="000000">
                      <a:alpha val="43137"/>
                    </a:srgbClr>
                  </a:outerShdw>
                </a:effectLst>
              </a:rPr>
              <a:t>PRACTICAL APPLICATIONS OF LOGIC GATES</a:t>
            </a:r>
          </a:p>
        </p:txBody>
      </p:sp>
      <p:sp>
        <p:nvSpPr>
          <p:cNvPr id="22532" name="Rectangle 9"/>
          <p:cNvSpPr>
            <a:spLocks noChangeArrowheads="1"/>
          </p:cNvSpPr>
          <p:nvPr/>
        </p:nvSpPr>
        <p:spPr bwMode="auto">
          <a:xfrm>
            <a:off x="3309918" y="2357430"/>
            <a:ext cx="7000924" cy="3539430"/>
          </a:xfrm>
          <a:prstGeom prst="rect">
            <a:avLst/>
          </a:prstGeom>
          <a:solidFill>
            <a:srgbClr val="FF0000"/>
          </a:solidFill>
          <a:ln w="9525">
            <a:noFill/>
            <a:miter lim="800000"/>
            <a:headEnd/>
            <a:tailEnd/>
          </a:ln>
        </p:spPr>
        <p:txBody>
          <a:bodyPr wrap="square">
            <a:spAutoFit/>
          </a:bodyPr>
          <a:lstStyle/>
          <a:p>
            <a:pPr algn="just">
              <a:buFont typeface="Wingdings" pitchFamily="2" charset="2"/>
              <a:buChar char="ü"/>
            </a:pPr>
            <a:r>
              <a:rPr lang="en-IN" sz="3200" b="1" dirty="0">
                <a:solidFill>
                  <a:schemeClr val="bg1"/>
                </a:solidFill>
                <a:effectLst>
                  <a:outerShdw blurRad="38100" dist="38100" dir="2700000" algn="tl">
                    <a:srgbClr val="000000">
                      <a:alpha val="43137"/>
                    </a:srgbClr>
                  </a:outerShdw>
                </a:effectLst>
              </a:rPr>
              <a:t>Electronic door will only open if it detects a person and the switch is set to unlocked. </a:t>
            </a:r>
          </a:p>
          <a:p>
            <a:pPr algn="just"/>
            <a:endParaRPr lang="en-IN" sz="3200" b="1" dirty="0">
              <a:solidFill>
                <a:schemeClr val="bg1"/>
              </a:solidFill>
              <a:effectLst>
                <a:outerShdw blurRad="38100" dist="38100" dir="2700000" algn="tl">
                  <a:srgbClr val="000000">
                    <a:alpha val="43137"/>
                  </a:srgbClr>
                </a:outerShdw>
              </a:effectLst>
            </a:endParaRPr>
          </a:p>
          <a:p>
            <a:pPr algn="just">
              <a:buFont typeface="Wingdings" pitchFamily="2" charset="2"/>
              <a:buChar char="ü"/>
            </a:pPr>
            <a:r>
              <a:rPr lang="en-IN" sz="3200" b="1" dirty="0">
                <a:solidFill>
                  <a:schemeClr val="bg1"/>
                </a:solidFill>
                <a:effectLst>
                  <a:outerShdw blurRad="38100" dist="38100" dir="2700000" algn="tl">
                    <a:srgbClr val="000000">
                      <a:alpha val="43137"/>
                    </a:srgbClr>
                  </a:outerShdw>
                </a:effectLst>
              </a:rPr>
              <a:t>Microwave will only start if the start button is pressed and the door close switch is closed.</a:t>
            </a:r>
            <a:r>
              <a:rPr lang="en-IN" sz="2800" b="1" dirty="0">
                <a:solidFill>
                  <a:schemeClr val="bg1"/>
                </a:solidFill>
                <a:effectLst>
                  <a:outerShdw blurRad="38100" dist="38100" dir="2700000" algn="tl">
                    <a:srgbClr val="000000">
                      <a:alpha val="43137"/>
                    </a:srgbClr>
                  </a:outerShdw>
                </a:effectLst>
              </a:rPr>
              <a:t> </a:t>
            </a:r>
          </a:p>
        </p:txBody>
      </p:sp>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
          <p:cNvSpPr>
            <a:spLocks noChangeArrowheads="1"/>
          </p:cNvSpPr>
          <p:nvPr/>
        </p:nvSpPr>
        <p:spPr bwMode="auto">
          <a:xfrm>
            <a:off x="5310183" y="1071546"/>
            <a:ext cx="1416093" cy="523220"/>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none">
            <a:spAutoFit/>
          </a:bodyPr>
          <a:lstStyle/>
          <a:p>
            <a:pPr algn="ctr"/>
            <a:r>
              <a:rPr lang="en-US" sz="2800" b="1" dirty="0">
                <a:solidFill>
                  <a:schemeClr val="bg1"/>
                </a:solidFill>
              </a:rPr>
              <a:t>OR Gate</a:t>
            </a:r>
            <a:endParaRPr lang="en-IN" sz="2800" dirty="0">
              <a:solidFill>
                <a:schemeClr val="bg1"/>
              </a:solidFill>
            </a:endParaRPr>
          </a:p>
        </p:txBody>
      </p:sp>
      <p:pic>
        <p:nvPicPr>
          <p:cNvPr id="23556" name="Picture 2" descr="https://qph.ec.quoracdn.net/main-qimg-f45619cf36867bb8129b814455cfb4d6?convert_to_webp=true"/>
          <p:cNvPicPr>
            <a:picLocks noChangeAspect="1" noChangeArrowheads="1"/>
          </p:cNvPicPr>
          <p:nvPr/>
        </p:nvPicPr>
        <p:blipFill>
          <a:blip r:embed="rId2" cstate="print"/>
          <a:srcRect/>
          <a:stretch>
            <a:fillRect/>
          </a:stretch>
        </p:blipFill>
        <p:spPr bwMode="auto">
          <a:xfrm>
            <a:off x="3881422" y="1785927"/>
            <a:ext cx="5162568" cy="3248667"/>
          </a:xfrm>
          <a:prstGeom prst="rect">
            <a:avLst/>
          </a:prstGeom>
          <a:ln>
            <a:noFill/>
          </a:ln>
          <a:effectLst>
            <a:outerShdw blurRad="292100" dist="139700" dir="2700000" algn="tl" rotWithShape="0">
              <a:srgbClr val="333333">
                <a:alpha val="65000"/>
              </a:srgbClr>
            </a:outerShdw>
          </a:effectLst>
        </p:spPr>
      </p:pic>
      <p:sp>
        <p:nvSpPr>
          <p:cNvPr id="23557" name="Rectangle 9"/>
          <p:cNvSpPr>
            <a:spLocks noChangeArrowheads="1"/>
          </p:cNvSpPr>
          <p:nvPr/>
        </p:nvSpPr>
        <p:spPr bwMode="auto">
          <a:xfrm>
            <a:off x="2881290" y="5286389"/>
            <a:ext cx="7177110" cy="1384995"/>
          </a:xfrm>
          <a:prstGeom prst="rect">
            <a:avLst/>
          </a:prstGeom>
          <a:solidFill>
            <a:srgbClr val="FF0000"/>
          </a:solidFill>
          <a:ln w="9525">
            <a:noFill/>
            <a:miter lim="800000"/>
            <a:headEnd/>
            <a:tailEnd/>
          </a:ln>
        </p:spPr>
        <p:txBody>
          <a:bodyPr wrap="square">
            <a:spAutoFit/>
          </a:bodyPr>
          <a:lstStyle/>
          <a:p>
            <a:pPr algn="just"/>
            <a:r>
              <a:rPr lang="en-IN" sz="2800" b="1" dirty="0">
                <a:solidFill>
                  <a:schemeClr val="bg1"/>
                </a:solidFill>
                <a:effectLst>
                  <a:outerShdw blurRad="38100" dist="38100" dir="2700000" algn="tl">
                    <a:srgbClr val="000000">
                      <a:alpha val="43137"/>
                    </a:srgbClr>
                  </a:outerShdw>
                </a:effectLst>
              </a:rPr>
              <a:t>	You would of course want your doorbell to ring when someone presses either the front door switch or the back door switch.</a:t>
            </a:r>
          </a:p>
        </p:txBody>
      </p:sp>
      <p:sp>
        <p:nvSpPr>
          <p:cNvPr id="6" name="Rectangle 8"/>
          <p:cNvSpPr>
            <a:spLocks noChangeArrowheads="1"/>
          </p:cNvSpPr>
          <p:nvPr/>
        </p:nvSpPr>
        <p:spPr bwMode="auto">
          <a:xfrm>
            <a:off x="2309786" y="381000"/>
            <a:ext cx="7715304" cy="52322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square">
            <a:spAutoFit/>
          </a:bodyPr>
          <a:lstStyle/>
          <a:p>
            <a:pPr algn="ctr"/>
            <a:r>
              <a:rPr lang="en-IN" sz="2800" b="1" dirty="0">
                <a:solidFill>
                  <a:schemeClr val="bg1"/>
                </a:solidFill>
                <a:effectLst>
                  <a:outerShdw blurRad="38100" dist="38100" dir="2700000" algn="tl">
                    <a:srgbClr val="000000">
                      <a:alpha val="43137"/>
                    </a:srgbClr>
                  </a:outerShdw>
                </a:effectLst>
              </a:rPr>
              <a:t>PRACTICAL APPLICATIONS OF LOGIC GATES</a:t>
            </a:r>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p:cNvSpPr>
            <a:spLocks noChangeArrowheads="1"/>
          </p:cNvSpPr>
          <p:nvPr/>
        </p:nvSpPr>
        <p:spPr bwMode="auto">
          <a:xfrm>
            <a:off x="5524497" y="1000108"/>
            <a:ext cx="1621405" cy="523220"/>
          </a:xfrm>
          <a:prstGeom prst="rect">
            <a:avLst/>
          </a:prstGeom>
          <a:ln>
            <a:headEnd/>
            <a:tailEnd/>
          </a:ln>
        </p:spPr>
        <p:style>
          <a:lnRef idx="0">
            <a:schemeClr val="accent5"/>
          </a:lnRef>
          <a:fillRef idx="3">
            <a:schemeClr val="accent5"/>
          </a:fillRef>
          <a:effectRef idx="3">
            <a:schemeClr val="accent5"/>
          </a:effectRef>
          <a:fontRef idx="minor">
            <a:schemeClr val="lt1"/>
          </a:fontRef>
        </p:style>
        <p:txBody>
          <a:bodyPr wrap="none">
            <a:spAutoFit/>
          </a:bodyPr>
          <a:lstStyle/>
          <a:p>
            <a:pPr algn="ctr"/>
            <a:r>
              <a:rPr lang="en-US" sz="2800" b="1" dirty="0">
                <a:solidFill>
                  <a:schemeClr val="bg1"/>
                </a:solidFill>
                <a:effectLst>
                  <a:outerShdw blurRad="38100" dist="38100" dir="2700000" algn="tl">
                    <a:srgbClr val="000000">
                      <a:alpha val="43137"/>
                    </a:srgbClr>
                  </a:outerShdw>
                </a:effectLst>
              </a:rPr>
              <a:t>NOT Gate</a:t>
            </a:r>
            <a:endParaRPr lang="en-IN" sz="2800" dirty="0">
              <a:solidFill>
                <a:schemeClr val="bg1"/>
              </a:solidFill>
              <a:effectLst>
                <a:outerShdw blurRad="38100" dist="38100" dir="2700000" algn="tl">
                  <a:srgbClr val="000000">
                    <a:alpha val="43137"/>
                  </a:srgbClr>
                </a:outerShdw>
              </a:effectLst>
            </a:endParaRPr>
          </a:p>
        </p:txBody>
      </p:sp>
      <p:pic>
        <p:nvPicPr>
          <p:cNvPr id="24580" name="Picture 2"/>
          <p:cNvPicPr>
            <a:picLocks noChangeAspect="1" noChangeArrowheads="1"/>
          </p:cNvPicPr>
          <p:nvPr/>
        </p:nvPicPr>
        <p:blipFill>
          <a:blip r:embed="rId2" cstate="print"/>
          <a:srcRect/>
          <a:stretch>
            <a:fillRect/>
          </a:stretch>
        </p:blipFill>
        <p:spPr bwMode="auto">
          <a:xfrm>
            <a:off x="3667109" y="1714488"/>
            <a:ext cx="5553075" cy="3467100"/>
          </a:xfrm>
          <a:prstGeom prst="rect">
            <a:avLst/>
          </a:prstGeom>
          <a:ln>
            <a:noFill/>
          </a:ln>
          <a:effectLst>
            <a:outerShdw blurRad="292100" dist="139700" dir="2700000" algn="tl" rotWithShape="0">
              <a:srgbClr val="333333">
                <a:alpha val="65000"/>
              </a:srgbClr>
            </a:outerShdw>
          </a:effectLst>
        </p:spPr>
      </p:pic>
      <p:sp>
        <p:nvSpPr>
          <p:cNvPr id="24581" name="Rectangle 9"/>
          <p:cNvSpPr>
            <a:spLocks noChangeArrowheads="1"/>
          </p:cNvSpPr>
          <p:nvPr/>
        </p:nvSpPr>
        <p:spPr bwMode="auto">
          <a:xfrm>
            <a:off x="2952728" y="5334001"/>
            <a:ext cx="7181872" cy="1384995"/>
          </a:xfrm>
          <a:prstGeom prst="rect">
            <a:avLst/>
          </a:prstGeom>
          <a:noFill/>
          <a:ln w="9525">
            <a:noFill/>
            <a:miter lim="800000"/>
            <a:headEnd/>
            <a:tailEnd/>
          </a:ln>
        </p:spPr>
        <p:txBody>
          <a:bodyPr wrap="square">
            <a:spAutoFit/>
          </a:bodyPr>
          <a:lstStyle/>
          <a:p>
            <a:pPr algn="just"/>
            <a:r>
              <a:rPr lang="en-IN" sz="2800" b="1" dirty="0">
                <a:solidFill>
                  <a:schemeClr val="bg1"/>
                </a:solidFill>
                <a:effectLst>
                  <a:outerShdw blurRad="38100" dist="38100" dir="2700000" algn="tl">
                    <a:srgbClr val="000000">
                      <a:alpha val="43137"/>
                    </a:srgbClr>
                  </a:outerShdw>
                </a:effectLst>
              </a:rPr>
              <a:t>When the temperature falls below 20c the Not gate will set on the central heating system (cool huh).</a:t>
            </a:r>
          </a:p>
        </p:txBody>
      </p:sp>
      <p:sp>
        <p:nvSpPr>
          <p:cNvPr id="6" name="Rectangle 8"/>
          <p:cNvSpPr>
            <a:spLocks noChangeArrowheads="1"/>
          </p:cNvSpPr>
          <p:nvPr/>
        </p:nvSpPr>
        <p:spPr bwMode="auto">
          <a:xfrm>
            <a:off x="2309786" y="381000"/>
            <a:ext cx="7715304" cy="52322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square">
            <a:spAutoFit/>
          </a:bodyPr>
          <a:lstStyle/>
          <a:p>
            <a:pPr algn="ctr"/>
            <a:r>
              <a:rPr lang="en-IN" sz="2800" b="1" dirty="0">
                <a:solidFill>
                  <a:schemeClr val="bg1"/>
                </a:solidFill>
                <a:effectLst>
                  <a:outerShdw blurRad="38100" dist="38100" dir="2700000" algn="tl">
                    <a:srgbClr val="000000">
                      <a:alpha val="43137"/>
                    </a:srgbClr>
                  </a:outerShdw>
                </a:effectLst>
              </a:rPr>
              <a:t>PRACTICAL APPLICATIONS OF LOGIC GATES</a:t>
            </a:r>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8"/>
          <p:cNvSpPr>
            <a:spLocks noChangeArrowheads="1"/>
          </p:cNvSpPr>
          <p:nvPr/>
        </p:nvSpPr>
        <p:spPr bwMode="auto">
          <a:xfrm>
            <a:off x="3595670" y="285728"/>
            <a:ext cx="6143668" cy="52322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solidFill>
                  <a:schemeClr val="bg1"/>
                </a:solidFill>
                <a:effectLst>
                  <a:outerShdw blurRad="38100" dist="38100" dir="2700000" algn="tl">
                    <a:srgbClr val="000000">
                      <a:alpha val="43137"/>
                    </a:srgbClr>
                  </a:outerShdw>
                </a:effectLst>
              </a:rPr>
              <a:t>NAND Gate</a:t>
            </a:r>
          </a:p>
        </p:txBody>
      </p:sp>
      <p:sp>
        <p:nvSpPr>
          <p:cNvPr id="22" name="Rectangle 21"/>
          <p:cNvSpPr/>
          <p:nvPr/>
        </p:nvSpPr>
        <p:spPr>
          <a:xfrm>
            <a:off x="3524232" y="1857364"/>
            <a:ext cx="6500858" cy="1569660"/>
          </a:xfrm>
          <a:prstGeom prst="rect">
            <a:avLst/>
          </a:prstGeom>
        </p:spPr>
        <p:txBody>
          <a:bodyPr wrap="square">
            <a:spAutoFit/>
          </a:bodyPr>
          <a:lstStyle/>
          <a:p>
            <a:pPr algn="just"/>
            <a:r>
              <a:rPr lang="en-US" altLang="zh-CN" sz="3200" b="1" dirty="0">
                <a:solidFill>
                  <a:schemeClr val="bg1"/>
                </a:solidFill>
                <a:effectLst>
                  <a:outerShdw blurRad="38100" dist="38100" dir="2700000" algn="tl">
                    <a:srgbClr val="000000">
                      <a:alpha val="43137"/>
                    </a:srgbClr>
                  </a:outerShdw>
                </a:effectLst>
              </a:rPr>
              <a:t>	</a:t>
            </a:r>
            <a:r>
              <a:rPr lang="en-US" altLang="zh-CN" sz="3200" b="1" dirty="0">
                <a:solidFill>
                  <a:srgbClr val="FF0000"/>
                </a:solidFill>
                <a:effectLst>
                  <a:outerShdw blurRad="38100" dist="38100" dir="2700000" algn="tl">
                    <a:srgbClr val="000000">
                      <a:alpha val="43137"/>
                    </a:srgbClr>
                  </a:outerShdw>
                </a:effectLst>
              </a:rPr>
              <a:t>Known as a “universal” gate because ANY digital circuit can be implemented with NAND gates alone</a:t>
            </a:r>
            <a:r>
              <a:rPr lang="en-US" altLang="zh-CN" sz="3200" b="1" dirty="0">
                <a:solidFill>
                  <a:schemeClr val="bg1"/>
                </a:solidFill>
                <a:effectLst>
                  <a:outerShdw blurRad="38100" dist="38100" dir="2700000" algn="tl">
                    <a:srgbClr val="000000">
                      <a:alpha val="43137"/>
                    </a:srgbClr>
                  </a:outerShdw>
                </a:effectLst>
              </a:rPr>
              <a:t>.</a:t>
            </a:r>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8"/>
          <p:cNvSpPr>
            <a:spLocks noChangeArrowheads="1"/>
          </p:cNvSpPr>
          <p:nvPr/>
        </p:nvSpPr>
        <p:spPr bwMode="auto">
          <a:xfrm>
            <a:off x="3595670" y="285728"/>
            <a:ext cx="6143668" cy="52322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solidFill>
                  <a:schemeClr val="bg1"/>
                </a:solidFill>
                <a:effectLst>
                  <a:outerShdw blurRad="38100" dist="38100" dir="2700000" algn="tl">
                    <a:srgbClr val="000000">
                      <a:alpha val="43137"/>
                    </a:srgbClr>
                  </a:outerShdw>
                </a:effectLst>
              </a:rPr>
              <a:t>NAND Gate</a:t>
            </a:r>
          </a:p>
        </p:txBody>
      </p:sp>
      <p:sp>
        <p:nvSpPr>
          <p:cNvPr id="3" name="Text Box 3"/>
          <p:cNvSpPr txBox="1">
            <a:spLocks noChangeArrowheads="1"/>
          </p:cNvSpPr>
          <p:nvPr/>
        </p:nvSpPr>
        <p:spPr bwMode="auto">
          <a:xfrm>
            <a:off x="3814770" y="1757355"/>
            <a:ext cx="1233030" cy="584775"/>
          </a:xfrm>
          <a:prstGeom prst="rect">
            <a:avLst/>
          </a:prstGeom>
          <a:noFill/>
          <a:ln w="9525">
            <a:noFill/>
            <a:miter lim="800000"/>
            <a:headEnd/>
            <a:tailEnd/>
          </a:ln>
          <a:effectLst/>
        </p:spPr>
        <p:txBody>
          <a:bodyPr wrap="none">
            <a:spAutoFit/>
          </a:bodyPr>
          <a:lstStyle/>
          <a:p>
            <a:r>
              <a:rPr lang="en-US" sz="3200" b="1" dirty="0">
                <a:solidFill>
                  <a:srgbClr val="FF0000"/>
                </a:solidFill>
                <a:effectLst>
                  <a:outerShdw blurRad="38100" dist="38100" dir="2700000" algn="tl">
                    <a:srgbClr val="000000">
                      <a:alpha val="43137"/>
                    </a:srgbClr>
                  </a:outerShdw>
                </a:effectLst>
              </a:rPr>
              <a:t>NAND</a:t>
            </a:r>
          </a:p>
        </p:txBody>
      </p:sp>
      <p:sp>
        <p:nvSpPr>
          <p:cNvPr id="4" name="Text Box 4"/>
          <p:cNvSpPr txBox="1">
            <a:spLocks noChangeArrowheads="1"/>
          </p:cNvSpPr>
          <p:nvPr/>
        </p:nvSpPr>
        <p:spPr bwMode="auto">
          <a:xfrm>
            <a:off x="2778133" y="2605080"/>
            <a:ext cx="410690" cy="584775"/>
          </a:xfrm>
          <a:prstGeom prst="rect">
            <a:avLst/>
          </a:prstGeom>
          <a:noFill/>
          <a:ln w="9525">
            <a:noFill/>
            <a:miter lim="800000"/>
            <a:headEnd/>
            <a:tailEnd/>
          </a:ln>
          <a:effectLst/>
        </p:spPr>
        <p:txBody>
          <a:bodyPr wrap="none">
            <a:spAutoFit/>
          </a:bodyPr>
          <a:lstStyle/>
          <a:p>
            <a:r>
              <a:rPr lang="en-US" sz="3200" b="1" dirty="0">
                <a:solidFill>
                  <a:srgbClr val="FF0000"/>
                </a:solidFill>
                <a:effectLst>
                  <a:outerShdw blurRad="38100" dist="38100" dir="2700000" algn="tl">
                    <a:srgbClr val="000000">
                      <a:alpha val="43137"/>
                    </a:srgbClr>
                  </a:outerShdw>
                </a:effectLst>
              </a:rPr>
              <a:t>X</a:t>
            </a:r>
          </a:p>
        </p:txBody>
      </p:sp>
      <p:sp>
        <p:nvSpPr>
          <p:cNvPr id="5" name="Text Box 5"/>
          <p:cNvSpPr txBox="1">
            <a:spLocks noChangeArrowheads="1"/>
          </p:cNvSpPr>
          <p:nvPr/>
        </p:nvSpPr>
        <p:spPr bwMode="auto">
          <a:xfrm>
            <a:off x="2845702" y="3648574"/>
            <a:ext cx="397866" cy="584775"/>
          </a:xfrm>
          <a:prstGeom prst="rect">
            <a:avLst/>
          </a:prstGeom>
          <a:noFill/>
          <a:ln w="9525">
            <a:noFill/>
            <a:miter lim="800000"/>
            <a:headEnd/>
            <a:tailEnd/>
          </a:ln>
          <a:effectLst/>
        </p:spPr>
        <p:txBody>
          <a:bodyPr wrap="none">
            <a:spAutoFit/>
          </a:bodyPr>
          <a:lstStyle/>
          <a:p>
            <a:r>
              <a:rPr lang="en-US" sz="3200" b="1" dirty="0">
                <a:solidFill>
                  <a:srgbClr val="FF0000"/>
                </a:solidFill>
                <a:effectLst>
                  <a:outerShdw blurRad="38100" dist="38100" dir="2700000" algn="tl">
                    <a:srgbClr val="000000">
                      <a:alpha val="43137"/>
                    </a:srgbClr>
                  </a:outerShdw>
                </a:effectLst>
              </a:rPr>
              <a:t>Y</a:t>
            </a:r>
          </a:p>
        </p:txBody>
      </p:sp>
      <p:sp>
        <p:nvSpPr>
          <p:cNvPr id="6" name="Text Box 6"/>
          <p:cNvSpPr txBox="1">
            <a:spLocks noChangeArrowheads="1"/>
          </p:cNvSpPr>
          <p:nvPr/>
        </p:nvSpPr>
        <p:spPr bwMode="auto">
          <a:xfrm>
            <a:off x="5902333" y="3138480"/>
            <a:ext cx="380232" cy="584775"/>
          </a:xfrm>
          <a:prstGeom prst="rect">
            <a:avLst/>
          </a:prstGeom>
          <a:noFill/>
          <a:ln w="9525">
            <a:noFill/>
            <a:miter lim="800000"/>
            <a:headEnd/>
            <a:tailEnd/>
          </a:ln>
          <a:effectLst/>
        </p:spPr>
        <p:txBody>
          <a:bodyPr wrap="none">
            <a:spAutoFit/>
          </a:bodyPr>
          <a:lstStyle/>
          <a:p>
            <a:r>
              <a:rPr lang="en-US" sz="3200" b="1">
                <a:solidFill>
                  <a:schemeClr val="bg1"/>
                </a:solidFill>
                <a:effectLst>
                  <a:outerShdw blurRad="38100" dist="38100" dir="2700000" algn="tl">
                    <a:srgbClr val="000000">
                      <a:alpha val="43137"/>
                    </a:srgbClr>
                  </a:outerShdw>
                </a:effectLst>
              </a:rPr>
              <a:t>Z</a:t>
            </a:r>
          </a:p>
        </p:txBody>
      </p:sp>
      <p:sp>
        <p:nvSpPr>
          <p:cNvPr id="7" name="Text Box 8"/>
          <p:cNvSpPr txBox="1">
            <a:spLocks noChangeArrowheads="1"/>
          </p:cNvSpPr>
          <p:nvPr/>
        </p:nvSpPr>
        <p:spPr bwMode="auto">
          <a:xfrm>
            <a:off x="7167570" y="2214555"/>
            <a:ext cx="1191352" cy="2554545"/>
          </a:xfrm>
          <a:prstGeom prst="rect">
            <a:avLst/>
          </a:prstGeom>
          <a:noFill/>
          <a:ln w="9525">
            <a:noFill/>
            <a:miter lim="800000"/>
            <a:headEnd/>
            <a:tailEnd/>
          </a:ln>
          <a:effectLst/>
        </p:spPr>
        <p:txBody>
          <a:bodyPr wrap="none">
            <a:spAutoFit/>
          </a:bodyPr>
          <a:lstStyle/>
          <a:p>
            <a:r>
              <a:rPr lang="en-US" sz="3200" b="1" dirty="0">
                <a:solidFill>
                  <a:srgbClr val="FF0000"/>
                </a:solidFill>
                <a:effectLst>
                  <a:outerShdw blurRad="38100" dist="38100" dir="2700000" algn="tl">
                    <a:srgbClr val="000000">
                      <a:alpha val="43137"/>
                    </a:srgbClr>
                  </a:outerShdw>
                </a:effectLst>
              </a:rPr>
              <a:t>X  Y  Z</a:t>
            </a:r>
          </a:p>
          <a:p>
            <a:r>
              <a:rPr lang="en-US" sz="3200" b="1" dirty="0">
                <a:solidFill>
                  <a:srgbClr val="FF0000"/>
                </a:solidFill>
                <a:effectLst>
                  <a:outerShdw blurRad="38100" dist="38100" dir="2700000" algn="tl">
                    <a:srgbClr val="000000">
                      <a:alpha val="43137"/>
                    </a:srgbClr>
                  </a:outerShdw>
                </a:effectLst>
              </a:rPr>
              <a:t>0  0  1</a:t>
            </a:r>
          </a:p>
          <a:p>
            <a:r>
              <a:rPr lang="en-US" sz="3200" b="1" dirty="0">
                <a:solidFill>
                  <a:srgbClr val="FF0000"/>
                </a:solidFill>
                <a:effectLst>
                  <a:outerShdw blurRad="38100" dist="38100" dir="2700000" algn="tl">
                    <a:srgbClr val="000000">
                      <a:alpha val="43137"/>
                    </a:srgbClr>
                  </a:outerShdw>
                </a:effectLst>
              </a:rPr>
              <a:t>0  1  1</a:t>
            </a:r>
          </a:p>
          <a:p>
            <a:r>
              <a:rPr lang="en-US" sz="3200" b="1" dirty="0">
                <a:solidFill>
                  <a:srgbClr val="FF0000"/>
                </a:solidFill>
                <a:effectLst>
                  <a:outerShdw blurRad="38100" dist="38100" dir="2700000" algn="tl">
                    <a:srgbClr val="000000">
                      <a:alpha val="43137"/>
                    </a:srgbClr>
                  </a:outerShdw>
                </a:effectLst>
              </a:rPr>
              <a:t>1  0  1</a:t>
            </a:r>
          </a:p>
          <a:p>
            <a:r>
              <a:rPr lang="en-US" sz="3200" b="1" dirty="0">
                <a:solidFill>
                  <a:srgbClr val="FF0000"/>
                </a:solidFill>
                <a:effectLst>
                  <a:outerShdw blurRad="38100" dist="38100" dir="2700000" algn="tl">
                    <a:srgbClr val="000000">
                      <a:alpha val="43137"/>
                    </a:srgbClr>
                  </a:outerShdw>
                </a:effectLst>
              </a:rPr>
              <a:t>1  1  0</a:t>
            </a:r>
          </a:p>
        </p:txBody>
      </p:sp>
      <p:sp>
        <p:nvSpPr>
          <p:cNvPr id="9" name="Line 10"/>
          <p:cNvSpPr>
            <a:spLocks noChangeShapeType="1"/>
          </p:cNvSpPr>
          <p:nvPr/>
        </p:nvSpPr>
        <p:spPr bwMode="auto">
          <a:xfrm>
            <a:off x="6777054" y="2776534"/>
            <a:ext cx="1676400" cy="0"/>
          </a:xfrm>
          <a:prstGeom prst="line">
            <a:avLst/>
          </a:prstGeom>
          <a:noFill/>
          <a:ln w="38100">
            <a:solidFill>
              <a:schemeClr val="bg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10" name="Line 11"/>
          <p:cNvSpPr>
            <a:spLocks noChangeShapeType="1"/>
          </p:cNvSpPr>
          <p:nvPr/>
        </p:nvSpPr>
        <p:spPr bwMode="auto">
          <a:xfrm>
            <a:off x="7924360" y="2214555"/>
            <a:ext cx="45719" cy="2490805"/>
          </a:xfrm>
          <a:prstGeom prst="line">
            <a:avLst/>
          </a:prstGeom>
          <a:noFill/>
          <a:ln w="38100">
            <a:solidFill>
              <a:schemeClr val="bg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grpSp>
        <p:nvGrpSpPr>
          <p:cNvPr id="2" name="Group 12"/>
          <p:cNvGrpSpPr>
            <a:grpSpLocks/>
          </p:cNvGrpSpPr>
          <p:nvPr/>
        </p:nvGrpSpPr>
        <p:grpSpPr bwMode="auto">
          <a:xfrm>
            <a:off x="3221045" y="2452679"/>
            <a:ext cx="2590800" cy="1828800"/>
            <a:chOff x="816" y="1488"/>
            <a:chExt cx="1632" cy="1152"/>
          </a:xfrm>
        </p:grpSpPr>
        <p:sp>
          <p:nvSpPr>
            <p:cNvPr id="12" name="Arc 13"/>
            <p:cNvSpPr>
              <a:spLocks/>
            </p:cNvSpPr>
            <p:nvPr/>
          </p:nvSpPr>
          <p:spPr bwMode="auto">
            <a:xfrm>
              <a:off x="1392" y="1488"/>
              <a:ext cx="576" cy="57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13" name="Arc 14"/>
            <p:cNvSpPr>
              <a:spLocks/>
            </p:cNvSpPr>
            <p:nvPr/>
          </p:nvSpPr>
          <p:spPr bwMode="auto">
            <a:xfrm flipV="1">
              <a:off x="1392" y="2064"/>
              <a:ext cx="576" cy="57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14" name="Line 15"/>
            <p:cNvSpPr>
              <a:spLocks noChangeShapeType="1"/>
            </p:cNvSpPr>
            <p:nvPr/>
          </p:nvSpPr>
          <p:spPr bwMode="auto">
            <a:xfrm flipH="1">
              <a:off x="1152" y="1488"/>
              <a:ext cx="240" cy="0"/>
            </a:xfrm>
            <a:prstGeom prst="line">
              <a:avLst/>
            </a:pr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15" name="Line 16"/>
            <p:cNvSpPr>
              <a:spLocks noChangeShapeType="1"/>
            </p:cNvSpPr>
            <p:nvPr/>
          </p:nvSpPr>
          <p:spPr bwMode="auto">
            <a:xfrm flipH="1">
              <a:off x="1152" y="2640"/>
              <a:ext cx="240" cy="0"/>
            </a:xfrm>
            <a:prstGeom prst="line">
              <a:avLst/>
            </a:pr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16" name="Line 17"/>
            <p:cNvSpPr>
              <a:spLocks noChangeShapeType="1"/>
            </p:cNvSpPr>
            <p:nvPr/>
          </p:nvSpPr>
          <p:spPr bwMode="auto">
            <a:xfrm>
              <a:off x="1152" y="1488"/>
              <a:ext cx="0" cy="1152"/>
            </a:xfrm>
            <a:prstGeom prst="line">
              <a:avLst/>
            </a:pr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17" name="Line 18"/>
            <p:cNvSpPr>
              <a:spLocks noChangeShapeType="1"/>
            </p:cNvSpPr>
            <p:nvPr/>
          </p:nvSpPr>
          <p:spPr bwMode="auto">
            <a:xfrm flipH="1">
              <a:off x="816" y="1728"/>
              <a:ext cx="336" cy="0"/>
            </a:xfrm>
            <a:prstGeom prst="line">
              <a:avLst/>
            </a:pr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18" name="Line 19"/>
            <p:cNvSpPr>
              <a:spLocks noChangeShapeType="1"/>
            </p:cNvSpPr>
            <p:nvPr/>
          </p:nvSpPr>
          <p:spPr bwMode="auto">
            <a:xfrm flipH="1">
              <a:off x="816" y="2400"/>
              <a:ext cx="336" cy="0"/>
            </a:xfrm>
            <a:prstGeom prst="line">
              <a:avLst/>
            </a:pr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19" name="Line 20"/>
            <p:cNvSpPr>
              <a:spLocks noChangeShapeType="1"/>
            </p:cNvSpPr>
            <p:nvPr/>
          </p:nvSpPr>
          <p:spPr bwMode="auto">
            <a:xfrm flipH="1">
              <a:off x="2112" y="2064"/>
              <a:ext cx="336" cy="0"/>
            </a:xfrm>
            <a:prstGeom prst="line">
              <a:avLst/>
            </a:pr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20" name="Oval 21"/>
            <p:cNvSpPr>
              <a:spLocks noChangeArrowheads="1"/>
            </p:cNvSpPr>
            <p:nvPr/>
          </p:nvSpPr>
          <p:spPr bwMode="auto">
            <a:xfrm>
              <a:off x="1968" y="2016"/>
              <a:ext cx="144" cy="144"/>
            </a:xfrm>
            <a:prstGeom prst="ellipse">
              <a:avLst/>
            </a:pr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grpSp>
      <p:sp>
        <p:nvSpPr>
          <p:cNvPr id="21" name="Text Box 22"/>
          <p:cNvSpPr txBox="1">
            <a:spLocks noChangeArrowheads="1"/>
          </p:cNvSpPr>
          <p:nvPr/>
        </p:nvSpPr>
        <p:spPr bwMode="auto">
          <a:xfrm>
            <a:off x="3146433" y="4514842"/>
            <a:ext cx="2146742" cy="1077218"/>
          </a:xfrm>
          <a:prstGeom prst="rect">
            <a:avLst/>
          </a:prstGeom>
          <a:noFill/>
          <a:ln w="9525">
            <a:noFill/>
            <a:miter lim="800000"/>
            <a:headEnd/>
            <a:tailEnd/>
          </a:ln>
          <a:effectLst/>
        </p:spPr>
        <p:txBody>
          <a:bodyPr wrap="none">
            <a:spAutoFit/>
          </a:bodyPr>
          <a:lstStyle/>
          <a:p>
            <a:r>
              <a:rPr lang="en-US" sz="3200" b="1" dirty="0">
                <a:solidFill>
                  <a:srgbClr val="FF0000"/>
                </a:solidFill>
                <a:effectLst>
                  <a:outerShdw blurRad="38100" dist="38100" dir="2700000" algn="tl">
                    <a:srgbClr val="000000">
                      <a:alpha val="43137"/>
                    </a:srgbClr>
                  </a:outerShdw>
                </a:effectLst>
              </a:rPr>
              <a:t>Z = ~(X &amp; Y)</a:t>
            </a:r>
          </a:p>
          <a:p>
            <a:r>
              <a:rPr lang="en-US" sz="3200" b="1" dirty="0" err="1">
                <a:solidFill>
                  <a:srgbClr val="FF0000"/>
                </a:solidFill>
                <a:effectLst>
                  <a:outerShdw blurRad="38100" dist="38100" dir="2700000" algn="tl">
                    <a:srgbClr val="000000">
                      <a:alpha val="43137"/>
                    </a:srgbClr>
                  </a:outerShdw>
                </a:effectLst>
              </a:rPr>
              <a:t>nand</a:t>
            </a:r>
            <a:r>
              <a:rPr lang="en-US" sz="3200" b="1" dirty="0">
                <a:solidFill>
                  <a:srgbClr val="FF0000"/>
                </a:solidFill>
                <a:effectLst>
                  <a:outerShdw blurRad="38100" dist="38100" dir="2700000" algn="tl">
                    <a:srgbClr val="000000">
                      <a:alpha val="43137"/>
                    </a:srgbClr>
                  </a:outerShdw>
                </a:effectLst>
              </a:rPr>
              <a:t>(Z,X,Y)</a:t>
            </a:r>
          </a:p>
        </p:txBody>
      </p:sp>
    </p:spTree>
  </p:cSld>
  <p:clrMapOvr>
    <a:masterClrMapping/>
  </p:clrMapOvr>
  <p:transition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8"/>
          <p:cNvSpPr>
            <a:spLocks noChangeArrowheads="1"/>
          </p:cNvSpPr>
          <p:nvPr/>
        </p:nvSpPr>
        <p:spPr bwMode="auto">
          <a:xfrm>
            <a:off x="3595670" y="285728"/>
            <a:ext cx="6143668" cy="52322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solidFill>
                  <a:schemeClr val="bg1"/>
                </a:solidFill>
                <a:effectLst>
                  <a:outerShdw blurRad="38100" dist="38100" dir="2700000" algn="tl">
                    <a:srgbClr val="000000">
                      <a:alpha val="43137"/>
                    </a:srgbClr>
                  </a:outerShdw>
                </a:effectLst>
              </a:rPr>
              <a:t>NAND Gate</a:t>
            </a:r>
          </a:p>
        </p:txBody>
      </p:sp>
      <p:grpSp>
        <p:nvGrpSpPr>
          <p:cNvPr id="2" name="Group 3"/>
          <p:cNvGrpSpPr>
            <a:grpSpLocks/>
          </p:cNvGrpSpPr>
          <p:nvPr/>
        </p:nvGrpSpPr>
        <p:grpSpPr bwMode="auto">
          <a:xfrm>
            <a:off x="1738282" y="1927691"/>
            <a:ext cx="6043594" cy="3776839"/>
            <a:chOff x="384" y="1214"/>
            <a:chExt cx="3888" cy="2332"/>
          </a:xfrm>
        </p:grpSpPr>
        <p:grpSp>
          <p:nvGrpSpPr>
            <p:cNvPr id="3" name="Group 4"/>
            <p:cNvGrpSpPr>
              <a:grpSpLocks/>
            </p:cNvGrpSpPr>
            <p:nvPr/>
          </p:nvGrpSpPr>
          <p:grpSpPr bwMode="auto">
            <a:xfrm>
              <a:off x="384" y="1214"/>
              <a:ext cx="3093" cy="2332"/>
              <a:chOff x="384" y="1075"/>
              <a:chExt cx="3517" cy="2525"/>
            </a:xfrm>
          </p:grpSpPr>
          <p:sp>
            <p:nvSpPr>
              <p:cNvPr id="27" name="AutoShape 5"/>
              <p:cNvSpPr>
                <a:spLocks noChangeArrowheads="1"/>
              </p:cNvSpPr>
              <p:nvPr/>
            </p:nvSpPr>
            <p:spPr bwMode="auto">
              <a:xfrm>
                <a:off x="1132" y="1152"/>
                <a:ext cx="429" cy="365"/>
              </a:xfrm>
              <a:prstGeom prst="flowChartDelay">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28" name="Line 6"/>
              <p:cNvSpPr>
                <a:spLocks noChangeShapeType="1"/>
              </p:cNvSpPr>
              <p:nvPr/>
            </p:nvSpPr>
            <p:spPr bwMode="auto">
              <a:xfrm>
                <a:off x="783" y="1233"/>
                <a:ext cx="349"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29" name="Line 7"/>
              <p:cNvSpPr>
                <a:spLocks noChangeShapeType="1"/>
              </p:cNvSpPr>
              <p:nvPr/>
            </p:nvSpPr>
            <p:spPr bwMode="auto">
              <a:xfrm>
                <a:off x="1644" y="1333"/>
                <a:ext cx="349"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30" name="Line 8"/>
              <p:cNvSpPr>
                <a:spLocks noChangeShapeType="1"/>
              </p:cNvSpPr>
              <p:nvPr/>
            </p:nvSpPr>
            <p:spPr bwMode="auto">
              <a:xfrm>
                <a:off x="783" y="1437"/>
                <a:ext cx="349"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31" name="Oval 9"/>
              <p:cNvSpPr>
                <a:spLocks noChangeArrowheads="1"/>
              </p:cNvSpPr>
              <p:nvPr/>
            </p:nvSpPr>
            <p:spPr bwMode="auto">
              <a:xfrm>
                <a:off x="1561" y="1287"/>
                <a:ext cx="84" cy="92"/>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nvGrpSpPr>
              <p:cNvPr id="4" name="Group 31"/>
              <p:cNvGrpSpPr>
                <a:grpSpLocks/>
              </p:cNvGrpSpPr>
              <p:nvPr/>
            </p:nvGrpSpPr>
            <p:grpSpPr bwMode="auto">
              <a:xfrm>
                <a:off x="419" y="1939"/>
                <a:ext cx="1209" cy="365"/>
                <a:chOff x="375" y="1363"/>
                <a:chExt cx="2227" cy="652"/>
              </a:xfrm>
            </p:grpSpPr>
            <p:sp>
              <p:nvSpPr>
                <p:cNvPr id="72" name="AutoShape 11"/>
                <p:cNvSpPr>
                  <a:spLocks noChangeArrowheads="1"/>
                </p:cNvSpPr>
                <p:nvPr/>
              </p:nvSpPr>
              <p:spPr bwMode="auto">
                <a:xfrm>
                  <a:off x="1018" y="1363"/>
                  <a:ext cx="788" cy="652"/>
                </a:xfrm>
                <a:prstGeom prst="flowChartDelay">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73" name="Line 12"/>
                <p:cNvSpPr>
                  <a:spLocks noChangeShapeType="1"/>
                </p:cNvSpPr>
                <p:nvPr/>
              </p:nvSpPr>
              <p:spPr bwMode="auto">
                <a:xfrm>
                  <a:off x="375" y="1507"/>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74" name="Line 13"/>
                <p:cNvSpPr>
                  <a:spLocks noChangeShapeType="1"/>
                </p:cNvSpPr>
                <p:nvPr/>
              </p:nvSpPr>
              <p:spPr bwMode="auto">
                <a:xfrm>
                  <a:off x="1959" y="1686"/>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75" name="Line 14"/>
                <p:cNvSpPr>
                  <a:spLocks noChangeShapeType="1"/>
                </p:cNvSpPr>
                <p:nvPr/>
              </p:nvSpPr>
              <p:spPr bwMode="auto">
                <a:xfrm>
                  <a:off x="375" y="1872"/>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76" name="Oval 15"/>
                <p:cNvSpPr>
                  <a:spLocks noChangeArrowheads="1"/>
                </p:cNvSpPr>
                <p:nvPr/>
              </p:nvSpPr>
              <p:spPr bwMode="auto">
                <a:xfrm>
                  <a:off x="1807" y="1605"/>
                  <a:ext cx="154" cy="164"/>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grpSp>
            <p:nvGrpSpPr>
              <p:cNvPr id="5" name="Group 16"/>
              <p:cNvGrpSpPr>
                <a:grpSpLocks/>
              </p:cNvGrpSpPr>
              <p:nvPr/>
            </p:nvGrpSpPr>
            <p:grpSpPr bwMode="auto">
              <a:xfrm>
                <a:off x="1609" y="1939"/>
                <a:ext cx="1209" cy="365"/>
                <a:chOff x="375" y="1363"/>
                <a:chExt cx="2227" cy="652"/>
              </a:xfrm>
            </p:grpSpPr>
            <p:sp>
              <p:nvSpPr>
                <p:cNvPr id="67" name="AutoShape 17"/>
                <p:cNvSpPr>
                  <a:spLocks noChangeArrowheads="1"/>
                </p:cNvSpPr>
                <p:nvPr/>
              </p:nvSpPr>
              <p:spPr bwMode="auto">
                <a:xfrm>
                  <a:off x="1018" y="1363"/>
                  <a:ext cx="788" cy="652"/>
                </a:xfrm>
                <a:prstGeom prst="flowChartDelay">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68" name="Line 18"/>
                <p:cNvSpPr>
                  <a:spLocks noChangeShapeType="1"/>
                </p:cNvSpPr>
                <p:nvPr/>
              </p:nvSpPr>
              <p:spPr bwMode="auto">
                <a:xfrm>
                  <a:off x="375" y="1507"/>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69" name="Line 19"/>
                <p:cNvSpPr>
                  <a:spLocks noChangeShapeType="1"/>
                </p:cNvSpPr>
                <p:nvPr/>
              </p:nvSpPr>
              <p:spPr bwMode="auto">
                <a:xfrm>
                  <a:off x="1959" y="1686"/>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70" name="Line 20"/>
                <p:cNvSpPr>
                  <a:spLocks noChangeShapeType="1"/>
                </p:cNvSpPr>
                <p:nvPr/>
              </p:nvSpPr>
              <p:spPr bwMode="auto">
                <a:xfrm>
                  <a:off x="375" y="1872"/>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71" name="Oval 21"/>
                <p:cNvSpPr>
                  <a:spLocks noChangeArrowheads="1"/>
                </p:cNvSpPr>
                <p:nvPr/>
              </p:nvSpPr>
              <p:spPr bwMode="auto">
                <a:xfrm>
                  <a:off x="1807" y="1605"/>
                  <a:ext cx="154" cy="164"/>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grpSp>
            <p:nvGrpSpPr>
              <p:cNvPr id="6" name="Group 22"/>
              <p:cNvGrpSpPr>
                <a:grpSpLocks/>
              </p:cNvGrpSpPr>
              <p:nvPr/>
            </p:nvGrpSpPr>
            <p:grpSpPr bwMode="auto">
              <a:xfrm>
                <a:off x="758" y="2707"/>
                <a:ext cx="1209" cy="365"/>
                <a:chOff x="375" y="1363"/>
                <a:chExt cx="2227" cy="652"/>
              </a:xfrm>
            </p:grpSpPr>
            <p:sp>
              <p:nvSpPr>
                <p:cNvPr id="62" name="AutoShape 23"/>
                <p:cNvSpPr>
                  <a:spLocks noChangeArrowheads="1"/>
                </p:cNvSpPr>
                <p:nvPr/>
              </p:nvSpPr>
              <p:spPr bwMode="auto">
                <a:xfrm>
                  <a:off x="1018" y="1363"/>
                  <a:ext cx="788" cy="652"/>
                </a:xfrm>
                <a:prstGeom prst="flowChartDelay">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63" name="Line 24"/>
                <p:cNvSpPr>
                  <a:spLocks noChangeShapeType="1"/>
                </p:cNvSpPr>
                <p:nvPr/>
              </p:nvSpPr>
              <p:spPr bwMode="auto">
                <a:xfrm>
                  <a:off x="375" y="1507"/>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64" name="Line 25"/>
                <p:cNvSpPr>
                  <a:spLocks noChangeShapeType="1"/>
                </p:cNvSpPr>
                <p:nvPr/>
              </p:nvSpPr>
              <p:spPr bwMode="auto">
                <a:xfrm>
                  <a:off x="1959" y="1686"/>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65" name="Line 26"/>
                <p:cNvSpPr>
                  <a:spLocks noChangeShapeType="1"/>
                </p:cNvSpPr>
                <p:nvPr/>
              </p:nvSpPr>
              <p:spPr bwMode="auto">
                <a:xfrm>
                  <a:off x="375" y="1872"/>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66" name="Oval 27"/>
                <p:cNvSpPr>
                  <a:spLocks noChangeArrowheads="1"/>
                </p:cNvSpPr>
                <p:nvPr/>
              </p:nvSpPr>
              <p:spPr bwMode="auto">
                <a:xfrm>
                  <a:off x="1807" y="1605"/>
                  <a:ext cx="154" cy="164"/>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grpSp>
            <p:nvGrpSpPr>
              <p:cNvPr id="7" name="Group 28"/>
              <p:cNvGrpSpPr>
                <a:grpSpLocks/>
              </p:cNvGrpSpPr>
              <p:nvPr/>
            </p:nvGrpSpPr>
            <p:grpSpPr bwMode="auto">
              <a:xfrm>
                <a:off x="768" y="3235"/>
                <a:ext cx="1209" cy="365"/>
                <a:chOff x="375" y="1363"/>
                <a:chExt cx="2227" cy="652"/>
              </a:xfrm>
            </p:grpSpPr>
            <p:sp>
              <p:nvSpPr>
                <p:cNvPr id="57" name="AutoShape 29"/>
                <p:cNvSpPr>
                  <a:spLocks noChangeArrowheads="1"/>
                </p:cNvSpPr>
                <p:nvPr/>
              </p:nvSpPr>
              <p:spPr bwMode="auto">
                <a:xfrm>
                  <a:off x="1018" y="1363"/>
                  <a:ext cx="788" cy="652"/>
                </a:xfrm>
                <a:prstGeom prst="flowChartDelay">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58" name="Line 30"/>
                <p:cNvSpPr>
                  <a:spLocks noChangeShapeType="1"/>
                </p:cNvSpPr>
                <p:nvPr/>
              </p:nvSpPr>
              <p:spPr bwMode="auto">
                <a:xfrm>
                  <a:off x="375" y="1507"/>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59" name="Line 31"/>
                <p:cNvSpPr>
                  <a:spLocks noChangeShapeType="1"/>
                </p:cNvSpPr>
                <p:nvPr/>
              </p:nvSpPr>
              <p:spPr bwMode="auto">
                <a:xfrm>
                  <a:off x="1959" y="1686"/>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60" name="Line 32"/>
                <p:cNvSpPr>
                  <a:spLocks noChangeShapeType="1"/>
                </p:cNvSpPr>
                <p:nvPr/>
              </p:nvSpPr>
              <p:spPr bwMode="auto">
                <a:xfrm>
                  <a:off x="375" y="1872"/>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61" name="Oval 33"/>
                <p:cNvSpPr>
                  <a:spLocks noChangeArrowheads="1"/>
                </p:cNvSpPr>
                <p:nvPr/>
              </p:nvSpPr>
              <p:spPr bwMode="auto">
                <a:xfrm>
                  <a:off x="1807" y="1605"/>
                  <a:ext cx="154" cy="164"/>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grpSp>
            <p:nvGrpSpPr>
              <p:cNvPr id="8" name="Group 34"/>
              <p:cNvGrpSpPr>
                <a:grpSpLocks/>
              </p:cNvGrpSpPr>
              <p:nvPr/>
            </p:nvGrpSpPr>
            <p:grpSpPr bwMode="auto">
              <a:xfrm>
                <a:off x="1958" y="2976"/>
                <a:ext cx="1209" cy="365"/>
                <a:chOff x="375" y="1363"/>
                <a:chExt cx="2227" cy="652"/>
              </a:xfrm>
            </p:grpSpPr>
            <p:sp>
              <p:nvSpPr>
                <p:cNvPr id="52" name="AutoShape 35"/>
                <p:cNvSpPr>
                  <a:spLocks noChangeArrowheads="1"/>
                </p:cNvSpPr>
                <p:nvPr/>
              </p:nvSpPr>
              <p:spPr bwMode="auto">
                <a:xfrm>
                  <a:off x="1018" y="1363"/>
                  <a:ext cx="788" cy="652"/>
                </a:xfrm>
                <a:prstGeom prst="flowChartDelay">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53" name="Line 36"/>
                <p:cNvSpPr>
                  <a:spLocks noChangeShapeType="1"/>
                </p:cNvSpPr>
                <p:nvPr/>
              </p:nvSpPr>
              <p:spPr bwMode="auto">
                <a:xfrm>
                  <a:off x="375" y="1507"/>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54" name="Line 37"/>
                <p:cNvSpPr>
                  <a:spLocks noChangeShapeType="1"/>
                </p:cNvSpPr>
                <p:nvPr/>
              </p:nvSpPr>
              <p:spPr bwMode="auto">
                <a:xfrm>
                  <a:off x="1959" y="1686"/>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55" name="Line 38"/>
                <p:cNvSpPr>
                  <a:spLocks noChangeShapeType="1"/>
                </p:cNvSpPr>
                <p:nvPr/>
              </p:nvSpPr>
              <p:spPr bwMode="auto">
                <a:xfrm>
                  <a:off x="375" y="1872"/>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56" name="Oval 39"/>
                <p:cNvSpPr>
                  <a:spLocks noChangeArrowheads="1"/>
                </p:cNvSpPr>
                <p:nvPr/>
              </p:nvSpPr>
              <p:spPr bwMode="auto">
                <a:xfrm>
                  <a:off x="1807" y="1605"/>
                  <a:ext cx="154" cy="164"/>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sp>
            <p:nvSpPr>
              <p:cNvPr id="37" name="Line 40"/>
              <p:cNvSpPr>
                <a:spLocks noChangeShapeType="1"/>
              </p:cNvSpPr>
              <p:nvPr/>
            </p:nvSpPr>
            <p:spPr bwMode="auto">
              <a:xfrm>
                <a:off x="773" y="1248"/>
                <a:ext cx="0" cy="192"/>
              </a:xfrm>
              <a:prstGeom prst="line">
                <a:avLst/>
              </a:prstGeom>
              <a:noFill/>
              <a:ln w="25400">
                <a:solidFill>
                  <a:schemeClr val="tx1"/>
                </a:solidFill>
                <a:round/>
                <a:headEnd/>
                <a:tailEnd/>
              </a:ln>
            </p:spPr>
            <p:txBody>
              <a:bodyPr/>
              <a:lstStyle/>
              <a:p>
                <a:endParaRPr lang="en-IN" b="1">
                  <a:solidFill>
                    <a:schemeClr val="bg1"/>
                  </a:solidFill>
                  <a:effectLst>
                    <a:outerShdw blurRad="38100" dist="38100" dir="2700000" algn="tl">
                      <a:srgbClr val="000000">
                        <a:alpha val="43137"/>
                      </a:srgbClr>
                    </a:outerShdw>
                  </a:effectLst>
                </a:endParaRPr>
              </a:p>
            </p:txBody>
          </p:sp>
          <p:sp>
            <p:nvSpPr>
              <p:cNvPr id="38" name="Line 41"/>
              <p:cNvSpPr>
                <a:spLocks noChangeShapeType="1"/>
              </p:cNvSpPr>
              <p:nvPr/>
            </p:nvSpPr>
            <p:spPr bwMode="auto">
              <a:xfrm>
                <a:off x="1609" y="2016"/>
                <a:ext cx="0" cy="192"/>
              </a:xfrm>
              <a:prstGeom prst="line">
                <a:avLst/>
              </a:prstGeom>
              <a:noFill/>
              <a:ln w="25400">
                <a:solidFill>
                  <a:schemeClr val="tx1"/>
                </a:solidFill>
                <a:round/>
                <a:headEnd/>
                <a:tailEnd/>
              </a:ln>
            </p:spPr>
            <p:txBody>
              <a:bodyPr/>
              <a:lstStyle/>
              <a:p>
                <a:endParaRPr lang="en-IN" b="1">
                  <a:solidFill>
                    <a:schemeClr val="bg1"/>
                  </a:solidFill>
                  <a:effectLst>
                    <a:outerShdw blurRad="38100" dist="38100" dir="2700000" algn="tl">
                      <a:srgbClr val="000000">
                        <a:alpha val="43137"/>
                      </a:srgbClr>
                    </a:outerShdw>
                  </a:effectLst>
                </a:endParaRPr>
              </a:p>
            </p:txBody>
          </p:sp>
          <p:sp>
            <p:nvSpPr>
              <p:cNvPr id="39" name="Line 42"/>
              <p:cNvSpPr>
                <a:spLocks noChangeShapeType="1"/>
              </p:cNvSpPr>
              <p:nvPr/>
            </p:nvSpPr>
            <p:spPr bwMode="auto">
              <a:xfrm>
                <a:off x="758" y="2784"/>
                <a:ext cx="0" cy="192"/>
              </a:xfrm>
              <a:prstGeom prst="line">
                <a:avLst/>
              </a:prstGeom>
              <a:noFill/>
              <a:ln w="25400">
                <a:solidFill>
                  <a:schemeClr val="tx1"/>
                </a:solidFill>
                <a:round/>
                <a:headEnd/>
                <a:tailEnd/>
              </a:ln>
            </p:spPr>
            <p:txBody>
              <a:bodyPr/>
              <a:lstStyle/>
              <a:p>
                <a:endParaRPr lang="en-IN" b="1">
                  <a:solidFill>
                    <a:schemeClr val="bg1"/>
                  </a:solidFill>
                  <a:effectLst>
                    <a:outerShdw blurRad="38100" dist="38100" dir="2700000" algn="tl">
                      <a:srgbClr val="000000">
                        <a:alpha val="43137"/>
                      </a:srgbClr>
                    </a:outerShdw>
                  </a:effectLst>
                </a:endParaRPr>
              </a:p>
            </p:txBody>
          </p:sp>
          <p:sp>
            <p:nvSpPr>
              <p:cNvPr id="40" name="Line 43"/>
              <p:cNvSpPr>
                <a:spLocks noChangeShapeType="1"/>
              </p:cNvSpPr>
              <p:nvPr/>
            </p:nvSpPr>
            <p:spPr bwMode="auto">
              <a:xfrm>
                <a:off x="758" y="3312"/>
                <a:ext cx="0" cy="192"/>
              </a:xfrm>
              <a:prstGeom prst="line">
                <a:avLst/>
              </a:prstGeom>
              <a:noFill/>
              <a:ln w="25400">
                <a:solidFill>
                  <a:schemeClr val="tx1"/>
                </a:solidFill>
                <a:round/>
                <a:headEnd/>
                <a:tailEnd/>
              </a:ln>
            </p:spPr>
            <p:txBody>
              <a:bodyPr/>
              <a:lstStyle/>
              <a:p>
                <a:endParaRPr lang="en-IN" b="1">
                  <a:solidFill>
                    <a:schemeClr val="bg1"/>
                  </a:solidFill>
                  <a:effectLst>
                    <a:outerShdw blurRad="38100" dist="38100" dir="2700000" algn="tl">
                      <a:srgbClr val="000000">
                        <a:alpha val="43137"/>
                      </a:srgbClr>
                    </a:outerShdw>
                  </a:effectLst>
                </a:endParaRPr>
              </a:p>
            </p:txBody>
          </p:sp>
          <p:sp>
            <p:nvSpPr>
              <p:cNvPr id="41" name="Line 44"/>
              <p:cNvSpPr>
                <a:spLocks noChangeShapeType="1"/>
              </p:cNvSpPr>
              <p:nvPr/>
            </p:nvSpPr>
            <p:spPr bwMode="auto">
              <a:xfrm>
                <a:off x="409" y="1344"/>
                <a:ext cx="349"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42" name="Line 45"/>
              <p:cNvSpPr>
                <a:spLocks noChangeShapeType="1"/>
              </p:cNvSpPr>
              <p:nvPr/>
            </p:nvSpPr>
            <p:spPr bwMode="auto">
              <a:xfrm>
                <a:off x="409" y="2880"/>
                <a:ext cx="349"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43" name="Line 46"/>
              <p:cNvSpPr>
                <a:spLocks noChangeShapeType="1"/>
              </p:cNvSpPr>
              <p:nvPr/>
            </p:nvSpPr>
            <p:spPr bwMode="auto">
              <a:xfrm>
                <a:off x="409" y="3408"/>
                <a:ext cx="349"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44" name="Line 47"/>
              <p:cNvSpPr>
                <a:spLocks noChangeShapeType="1"/>
              </p:cNvSpPr>
              <p:nvPr/>
            </p:nvSpPr>
            <p:spPr bwMode="auto">
              <a:xfrm>
                <a:off x="1958" y="2880"/>
                <a:ext cx="0" cy="192"/>
              </a:xfrm>
              <a:prstGeom prst="line">
                <a:avLst/>
              </a:prstGeom>
              <a:noFill/>
              <a:ln w="25400">
                <a:solidFill>
                  <a:schemeClr val="tx1"/>
                </a:solidFill>
                <a:round/>
                <a:headEnd/>
                <a:tailEnd/>
              </a:ln>
            </p:spPr>
            <p:txBody>
              <a:bodyPr/>
              <a:lstStyle/>
              <a:p>
                <a:endParaRPr lang="en-IN" b="1">
                  <a:solidFill>
                    <a:schemeClr val="bg1"/>
                  </a:solidFill>
                  <a:effectLst>
                    <a:outerShdw blurRad="38100" dist="38100" dir="2700000" algn="tl">
                      <a:srgbClr val="000000">
                        <a:alpha val="43137"/>
                      </a:srgbClr>
                    </a:outerShdw>
                  </a:effectLst>
                </a:endParaRPr>
              </a:p>
            </p:txBody>
          </p:sp>
          <p:sp>
            <p:nvSpPr>
              <p:cNvPr id="45" name="Line 48"/>
              <p:cNvSpPr>
                <a:spLocks noChangeShapeType="1"/>
              </p:cNvSpPr>
              <p:nvPr/>
            </p:nvSpPr>
            <p:spPr bwMode="auto">
              <a:xfrm>
                <a:off x="1958" y="3264"/>
                <a:ext cx="0" cy="144"/>
              </a:xfrm>
              <a:prstGeom prst="line">
                <a:avLst/>
              </a:prstGeom>
              <a:noFill/>
              <a:ln w="25400">
                <a:solidFill>
                  <a:schemeClr val="tx1"/>
                </a:solidFill>
                <a:round/>
                <a:headEnd/>
                <a:tailEnd/>
              </a:ln>
            </p:spPr>
            <p:txBody>
              <a:bodyPr/>
              <a:lstStyle/>
              <a:p>
                <a:endParaRPr lang="en-IN" b="1">
                  <a:solidFill>
                    <a:schemeClr val="bg1"/>
                  </a:solidFill>
                  <a:effectLst>
                    <a:outerShdw blurRad="38100" dist="38100" dir="2700000" algn="tl">
                      <a:srgbClr val="000000">
                        <a:alpha val="43137"/>
                      </a:srgbClr>
                    </a:outerShdw>
                  </a:effectLst>
                </a:endParaRPr>
              </a:p>
            </p:txBody>
          </p:sp>
          <p:sp>
            <p:nvSpPr>
              <p:cNvPr id="46" name="Text Box 49"/>
              <p:cNvSpPr txBox="1">
                <a:spLocks noChangeArrowheads="1"/>
              </p:cNvSpPr>
              <p:nvPr/>
            </p:nvSpPr>
            <p:spPr bwMode="auto">
              <a:xfrm>
                <a:off x="384" y="1152"/>
                <a:ext cx="288" cy="247"/>
              </a:xfrm>
              <a:prstGeom prst="rect">
                <a:avLst/>
              </a:prstGeom>
              <a:noFill/>
              <a:ln w="9525">
                <a:noFill/>
                <a:miter lim="800000"/>
                <a:headEnd/>
                <a:tailEnd/>
              </a:ln>
            </p:spPr>
            <p:txBody>
              <a:bodyPr>
                <a:spAutoFit/>
              </a:bodyPr>
              <a:lstStyle/>
              <a:p>
                <a:r>
                  <a:rPr lang="en-US" altLang="zh-CN" b="1" dirty="0">
                    <a:solidFill>
                      <a:srgbClr val="FF0000"/>
                    </a:solidFill>
                    <a:effectLst>
                      <a:outerShdw blurRad="38100" dist="38100" dir="2700000" algn="tl">
                        <a:srgbClr val="000000">
                          <a:alpha val="43137"/>
                        </a:srgbClr>
                      </a:outerShdw>
                    </a:effectLst>
                  </a:rPr>
                  <a:t>X</a:t>
                </a:r>
              </a:p>
            </p:txBody>
          </p:sp>
          <p:sp>
            <p:nvSpPr>
              <p:cNvPr id="47" name="Text Box 50"/>
              <p:cNvSpPr txBox="1">
                <a:spLocks noChangeArrowheads="1"/>
              </p:cNvSpPr>
              <p:nvPr/>
            </p:nvSpPr>
            <p:spPr bwMode="auto">
              <a:xfrm>
                <a:off x="384" y="2697"/>
                <a:ext cx="288" cy="247"/>
              </a:xfrm>
              <a:prstGeom prst="rect">
                <a:avLst/>
              </a:prstGeom>
              <a:noFill/>
              <a:ln w="9525">
                <a:noFill/>
                <a:miter lim="800000"/>
                <a:headEnd/>
                <a:tailEnd/>
              </a:ln>
            </p:spPr>
            <p:txBody>
              <a:bodyPr>
                <a:spAutoFit/>
              </a:bodyPr>
              <a:lstStyle/>
              <a:p>
                <a:r>
                  <a:rPr lang="en-US" altLang="zh-CN" b="1" dirty="0">
                    <a:solidFill>
                      <a:srgbClr val="FF0000"/>
                    </a:solidFill>
                    <a:effectLst>
                      <a:outerShdw blurRad="38100" dist="38100" dir="2700000" algn="tl">
                        <a:srgbClr val="000000">
                          <a:alpha val="43137"/>
                        </a:srgbClr>
                      </a:outerShdw>
                    </a:effectLst>
                  </a:rPr>
                  <a:t>X</a:t>
                </a:r>
              </a:p>
            </p:txBody>
          </p:sp>
          <p:sp>
            <p:nvSpPr>
              <p:cNvPr id="48" name="Text Box 51"/>
              <p:cNvSpPr txBox="1">
                <a:spLocks noChangeArrowheads="1"/>
              </p:cNvSpPr>
              <p:nvPr/>
            </p:nvSpPr>
            <p:spPr bwMode="auto">
              <a:xfrm>
                <a:off x="2271" y="1075"/>
                <a:ext cx="1630" cy="617"/>
              </a:xfrm>
              <a:prstGeom prst="rect">
                <a:avLst/>
              </a:prstGeom>
              <a:noFill/>
              <a:ln w="9525">
                <a:noFill/>
                <a:miter lim="800000"/>
                <a:headEnd/>
                <a:tailEnd/>
              </a:ln>
              <a:effectLst/>
            </p:spPr>
            <p:txBody>
              <a:bodyPr>
                <a:spAutoFit/>
              </a:bodyPr>
              <a:lstStyle/>
              <a:p>
                <a:pPr>
                  <a:defRPr/>
                </a:pPr>
                <a:r>
                  <a:rPr lang="en-US" altLang="zh-CN" b="1" dirty="0">
                    <a:solidFill>
                      <a:srgbClr val="FF0000"/>
                    </a:solidFill>
                    <a:effectLst>
                      <a:outerShdw blurRad="38100" dist="38100" dir="2700000" algn="tl">
                        <a:srgbClr val="000000">
                          <a:alpha val="43137"/>
                        </a:srgbClr>
                      </a:outerShdw>
                    </a:effectLst>
                  </a:rPr>
                  <a:t>F = (X•X)’ </a:t>
                </a:r>
              </a:p>
              <a:p>
                <a:pPr>
                  <a:defRPr/>
                </a:pPr>
                <a:r>
                  <a:rPr lang="en-US" altLang="zh-CN" b="1" dirty="0">
                    <a:solidFill>
                      <a:srgbClr val="FF0000"/>
                    </a:solidFill>
                    <a:effectLst>
                      <a:outerShdw blurRad="38100" dist="38100" dir="2700000" algn="tl">
                        <a:srgbClr val="000000">
                          <a:alpha val="43137"/>
                        </a:srgbClr>
                      </a:outerShdw>
                    </a:effectLst>
                  </a:rPr>
                  <a:t>   = X’+X’ </a:t>
                </a:r>
              </a:p>
              <a:p>
                <a:pPr>
                  <a:defRPr/>
                </a:pPr>
                <a:r>
                  <a:rPr lang="en-US" altLang="zh-CN" b="1" dirty="0">
                    <a:solidFill>
                      <a:srgbClr val="FF0000"/>
                    </a:solidFill>
                    <a:effectLst>
                      <a:outerShdw blurRad="38100" dist="38100" dir="2700000" algn="tl">
                        <a:srgbClr val="000000">
                          <a:alpha val="43137"/>
                        </a:srgbClr>
                      </a:outerShdw>
                    </a:effectLst>
                  </a:rPr>
                  <a:t>   = X’</a:t>
                </a:r>
              </a:p>
            </p:txBody>
          </p:sp>
          <p:sp>
            <p:nvSpPr>
              <p:cNvPr id="49" name="Text Box 52"/>
              <p:cNvSpPr txBox="1">
                <a:spLocks noChangeArrowheads="1"/>
              </p:cNvSpPr>
              <p:nvPr/>
            </p:nvSpPr>
            <p:spPr bwMode="auto">
              <a:xfrm>
                <a:off x="384" y="1833"/>
                <a:ext cx="288" cy="247"/>
              </a:xfrm>
              <a:prstGeom prst="rect">
                <a:avLst/>
              </a:prstGeom>
              <a:noFill/>
              <a:ln w="9525">
                <a:noFill/>
                <a:miter lim="800000"/>
                <a:headEnd/>
                <a:tailEnd/>
              </a:ln>
            </p:spPr>
            <p:txBody>
              <a:bodyPr>
                <a:spAutoFit/>
              </a:bodyPr>
              <a:lstStyle/>
              <a:p>
                <a:r>
                  <a:rPr lang="en-US" altLang="zh-CN" b="1" dirty="0">
                    <a:solidFill>
                      <a:srgbClr val="FF0000"/>
                    </a:solidFill>
                    <a:effectLst>
                      <a:outerShdw blurRad="38100" dist="38100" dir="2700000" algn="tl">
                        <a:srgbClr val="000000">
                          <a:alpha val="43137"/>
                        </a:srgbClr>
                      </a:outerShdw>
                    </a:effectLst>
                  </a:rPr>
                  <a:t>X</a:t>
                </a:r>
              </a:p>
            </p:txBody>
          </p:sp>
          <p:sp>
            <p:nvSpPr>
              <p:cNvPr id="50" name="Text Box 53"/>
              <p:cNvSpPr txBox="1">
                <a:spLocks noChangeArrowheads="1"/>
              </p:cNvSpPr>
              <p:nvPr/>
            </p:nvSpPr>
            <p:spPr bwMode="auto">
              <a:xfrm>
                <a:off x="384" y="2025"/>
                <a:ext cx="288" cy="247"/>
              </a:xfrm>
              <a:prstGeom prst="rect">
                <a:avLst/>
              </a:prstGeom>
              <a:noFill/>
              <a:ln w="9525">
                <a:noFill/>
                <a:miter lim="800000"/>
                <a:headEnd/>
                <a:tailEnd/>
              </a:ln>
            </p:spPr>
            <p:txBody>
              <a:bodyPr>
                <a:spAutoFit/>
              </a:bodyPr>
              <a:lstStyle/>
              <a:p>
                <a:r>
                  <a:rPr lang="en-US" altLang="zh-CN" b="1" dirty="0">
                    <a:solidFill>
                      <a:srgbClr val="FF0000"/>
                    </a:solidFill>
                    <a:effectLst>
                      <a:outerShdw blurRad="38100" dist="38100" dir="2700000" algn="tl">
                        <a:srgbClr val="000000">
                          <a:alpha val="43137"/>
                        </a:srgbClr>
                      </a:outerShdw>
                    </a:effectLst>
                  </a:rPr>
                  <a:t>Y</a:t>
                </a:r>
              </a:p>
            </p:txBody>
          </p:sp>
          <p:sp>
            <p:nvSpPr>
              <p:cNvPr id="51" name="Text Box 54"/>
              <p:cNvSpPr txBox="1">
                <a:spLocks noChangeArrowheads="1"/>
              </p:cNvSpPr>
              <p:nvPr/>
            </p:nvSpPr>
            <p:spPr bwMode="auto">
              <a:xfrm>
                <a:off x="384" y="3216"/>
                <a:ext cx="288" cy="247"/>
              </a:xfrm>
              <a:prstGeom prst="rect">
                <a:avLst/>
              </a:prstGeom>
              <a:noFill/>
              <a:ln w="9525">
                <a:noFill/>
                <a:miter lim="800000"/>
                <a:headEnd/>
                <a:tailEnd/>
              </a:ln>
            </p:spPr>
            <p:txBody>
              <a:bodyPr>
                <a:spAutoFit/>
              </a:bodyPr>
              <a:lstStyle/>
              <a:p>
                <a:r>
                  <a:rPr lang="en-US" altLang="zh-CN" b="1" dirty="0">
                    <a:solidFill>
                      <a:srgbClr val="FF0000"/>
                    </a:solidFill>
                    <a:effectLst>
                      <a:outerShdw blurRad="38100" dist="38100" dir="2700000" algn="tl">
                        <a:srgbClr val="000000">
                          <a:alpha val="43137"/>
                        </a:srgbClr>
                      </a:outerShdw>
                    </a:effectLst>
                  </a:rPr>
                  <a:t>Y</a:t>
                </a:r>
              </a:p>
            </p:txBody>
          </p:sp>
        </p:grpSp>
        <p:sp>
          <p:nvSpPr>
            <p:cNvPr id="25" name="Text Box 55"/>
            <p:cNvSpPr txBox="1">
              <a:spLocks noChangeArrowheads="1"/>
            </p:cNvSpPr>
            <p:nvPr/>
          </p:nvSpPr>
          <p:spPr bwMode="auto">
            <a:xfrm>
              <a:off x="2353" y="1986"/>
              <a:ext cx="1636" cy="741"/>
            </a:xfrm>
            <a:prstGeom prst="rect">
              <a:avLst/>
            </a:prstGeom>
            <a:noFill/>
            <a:ln w="9525">
              <a:noFill/>
              <a:miter lim="800000"/>
              <a:headEnd/>
              <a:tailEnd/>
            </a:ln>
            <a:effectLst/>
          </p:spPr>
          <p:txBody>
            <a:bodyPr>
              <a:spAutoFit/>
            </a:bodyPr>
            <a:lstStyle/>
            <a:p>
              <a:pPr>
                <a:defRPr/>
              </a:pPr>
              <a:r>
                <a:rPr lang="en-US" altLang="zh-CN" b="1" dirty="0">
                  <a:solidFill>
                    <a:srgbClr val="FF0000"/>
                  </a:solidFill>
                  <a:effectLst>
                    <a:outerShdw blurRad="38100" dist="38100" dir="2700000" algn="tl">
                      <a:srgbClr val="000000">
                        <a:alpha val="43137"/>
                      </a:srgbClr>
                    </a:outerShdw>
                  </a:effectLst>
                </a:rPr>
                <a:t>F = ((X•Y)’)’ </a:t>
              </a:r>
            </a:p>
            <a:p>
              <a:pPr>
                <a:defRPr/>
              </a:pPr>
              <a:r>
                <a:rPr lang="en-US" altLang="zh-CN" b="1" dirty="0">
                  <a:solidFill>
                    <a:srgbClr val="FF0000"/>
                  </a:solidFill>
                  <a:effectLst>
                    <a:outerShdw blurRad="38100" dist="38100" dir="2700000" algn="tl">
                      <a:srgbClr val="000000">
                        <a:alpha val="43137"/>
                      </a:srgbClr>
                    </a:outerShdw>
                  </a:effectLst>
                </a:rPr>
                <a:t>   = (X’+Y’)’ </a:t>
              </a:r>
            </a:p>
            <a:p>
              <a:pPr>
                <a:defRPr/>
              </a:pPr>
              <a:r>
                <a:rPr lang="en-US" altLang="zh-CN" b="1" dirty="0">
                  <a:solidFill>
                    <a:srgbClr val="FF0000"/>
                  </a:solidFill>
                  <a:effectLst>
                    <a:outerShdw blurRad="38100" dist="38100" dir="2700000" algn="tl">
                      <a:srgbClr val="000000">
                        <a:alpha val="43137"/>
                      </a:srgbClr>
                    </a:outerShdw>
                  </a:effectLst>
                </a:rPr>
                <a:t>   = X’’•Y’’</a:t>
              </a:r>
            </a:p>
            <a:p>
              <a:pPr>
                <a:defRPr/>
              </a:pPr>
              <a:r>
                <a:rPr lang="en-US" altLang="zh-CN" b="1" dirty="0">
                  <a:solidFill>
                    <a:srgbClr val="FF0000"/>
                  </a:solidFill>
                  <a:effectLst>
                    <a:outerShdw blurRad="38100" dist="38100" dir="2700000" algn="tl">
                      <a:srgbClr val="000000">
                        <a:alpha val="43137"/>
                      </a:srgbClr>
                    </a:outerShdw>
                  </a:effectLst>
                </a:rPr>
                <a:t>   = X•Y</a:t>
              </a:r>
            </a:p>
          </p:txBody>
        </p:sp>
        <p:sp>
          <p:nvSpPr>
            <p:cNvPr id="26" name="Text Box 56"/>
            <p:cNvSpPr txBox="1">
              <a:spLocks noChangeArrowheads="1"/>
            </p:cNvSpPr>
            <p:nvPr/>
          </p:nvSpPr>
          <p:spPr bwMode="auto">
            <a:xfrm>
              <a:off x="2640" y="2928"/>
              <a:ext cx="1632" cy="570"/>
            </a:xfrm>
            <a:prstGeom prst="rect">
              <a:avLst/>
            </a:prstGeom>
            <a:noFill/>
            <a:ln w="9525">
              <a:noFill/>
              <a:miter lim="800000"/>
              <a:headEnd/>
              <a:tailEnd/>
            </a:ln>
            <a:effectLst/>
          </p:spPr>
          <p:txBody>
            <a:bodyPr>
              <a:spAutoFit/>
            </a:bodyPr>
            <a:lstStyle/>
            <a:p>
              <a:pPr>
                <a:defRPr/>
              </a:pPr>
              <a:r>
                <a:rPr lang="en-US" altLang="zh-CN" b="1" dirty="0">
                  <a:solidFill>
                    <a:srgbClr val="FF0000"/>
                  </a:solidFill>
                  <a:effectLst>
                    <a:outerShdw blurRad="38100" dist="38100" dir="2700000" algn="tl">
                      <a:srgbClr val="000000">
                        <a:alpha val="43137"/>
                      </a:srgbClr>
                    </a:outerShdw>
                  </a:effectLst>
                </a:rPr>
                <a:t>F = (X’•Y’)’ </a:t>
              </a:r>
            </a:p>
            <a:p>
              <a:pPr>
                <a:defRPr/>
              </a:pPr>
              <a:r>
                <a:rPr lang="en-US" altLang="zh-CN" b="1" dirty="0">
                  <a:solidFill>
                    <a:srgbClr val="FF0000"/>
                  </a:solidFill>
                  <a:effectLst>
                    <a:outerShdw blurRad="38100" dist="38100" dir="2700000" algn="tl">
                      <a:srgbClr val="000000">
                        <a:alpha val="43137"/>
                      </a:srgbClr>
                    </a:outerShdw>
                  </a:effectLst>
                </a:rPr>
                <a:t>   = X’’+Y’’</a:t>
              </a:r>
            </a:p>
            <a:p>
              <a:pPr>
                <a:defRPr/>
              </a:pPr>
              <a:r>
                <a:rPr lang="en-US" altLang="zh-CN" b="1" dirty="0">
                  <a:solidFill>
                    <a:srgbClr val="FF0000"/>
                  </a:solidFill>
                  <a:effectLst>
                    <a:outerShdw blurRad="38100" dist="38100" dir="2700000" algn="tl">
                      <a:srgbClr val="000000">
                        <a:alpha val="43137"/>
                      </a:srgbClr>
                    </a:outerShdw>
                  </a:effectLst>
                </a:rPr>
                <a:t>   = X+Y</a:t>
              </a:r>
            </a:p>
          </p:txBody>
        </p:sp>
      </p:grpSp>
      <p:grpSp>
        <p:nvGrpSpPr>
          <p:cNvPr id="9" name="Group 57"/>
          <p:cNvGrpSpPr>
            <a:grpSpLocks/>
          </p:cNvGrpSpPr>
          <p:nvPr/>
        </p:nvGrpSpPr>
        <p:grpSpPr bwMode="auto">
          <a:xfrm>
            <a:off x="6453190" y="1919304"/>
            <a:ext cx="4024282" cy="3795712"/>
            <a:chOff x="3504" y="1209"/>
            <a:chExt cx="2544" cy="2295"/>
          </a:xfrm>
        </p:grpSpPr>
        <p:grpSp>
          <p:nvGrpSpPr>
            <p:cNvPr id="10" name="Group 58"/>
            <p:cNvGrpSpPr>
              <a:grpSpLocks/>
            </p:cNvGrpSpPr>
            <p:nvPr/>
          </p:nvGrpSpPr>
          <p:grpSpPr bwMode="auto">
            <a:xfrm>
              <a:off x="3535" y="1968"/>
              <a:ext cx="1063" cy="338"/>
              <a:chOff x="375" y="1363"/>
              <a:chExt cx="2227" cy="652"/>
            </a:xfrm>
          </p:grpSpPr>
          <p:sp>
            <p:nvSpPr>
              <p:cNvPr id="115" name="AutoShape 59"/>
              <p:cNvSpPr>
                <a:spLocks noChangeArrowheads="1"/>
              </p:cNvSpPr>
              <p:nvPr/>
            </p:nvSpPr>
            <p:spPr bwMode="auto">
              <a:xfrm>
                <a:off x="1018" y="1363"/>
                <a:ext cx="788" cy="652"/>
              </a:xfrm>
              <a:prstGeom prst="flowChartDelay">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116" name="Line 60"/>
              <p:cNvSpPr>
                <a:spLocks noChangeShapeType="1"/>
              </p:cNvSpPr>
              <p:nvPr/>
            </p:nvSpPr>
            <p:spPr bwMode="auto">
              <a:xfrm>
                <a:off x="375" y="1507"/>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117" name="Line 61"/>
              <p:cNvSpPr>
                <a:spLocks noChangeShapeType="1"/>
              </p:cNvSpPr>
              <p:nvPr/>
            </p:nvSpPr>
            <p:spPr bwMode="auto">
              <a:xfrm>
                <a:off x="1959" y="1686"/>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118" name="Line 62"/>
              <p:cNvSpPr>
                <a:spLocks noChangeShapeType="1"/>
              </p:cNvSpPr>
              <p:nvPr/>
            </p:nvSpPr>
            <p:spPr bwMode="auto">
              <a:xfrm>
                <a:off x="375" y="1872"/>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119" name="Oval 63"/>
              <p:cNvSpPr>
                <a:spLocks noChangeArrowheads="1"/>
              </p:cNvSpPr>
              <p:nvPr/>
            </p:nvSpPr>
            <p:spPr bwMode="auto">
              <a:xfrm>
                <a:off x="1807" y="1605"/>
                <a:ext cx="154" cy="164"/>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grpSp>
          <p:nvGrpSpPr>
            <p:cNvPr id="11" name="Group 64"/>
            <p:cNvGrpSpPr>
              <a:grpSpLocks/>
            </p:cNvGrpSpPr>
            <p:nvPr/>
          </p:nvGrpSpPr>
          <p:grpSpPr bwMode="auto">
            <a:xfrm>
              <a:off x="4560" y="2927"/>
              <a:ext cx="1063" cy="338"/>
              <a:chOff x="375" y="1363"/>
              <a:chExt cx="2227" cy="652"/>
            </a:xfrm>
          </p:grpSpPr>
          <p:sp>
            <p:nvSpPr>
              <p:cNvPr id="110" name="AutoShape 65"/>
              <p:cNvSpPr>
                <a:spLocks noChangeArrowheads="1"/>
              </p:cNvSpPr>
              <p:nvPr/>
            </p:nvSpPr>
            <p:spPr bwMode="auto">
              <a:xfrm>
                <a:off x="1018" y="1363"/>
                <a:ext cx="788" cy="652"/>
              </a:xfrm>
              <a:prstGeom prst="flowChartDelay">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111" name="Line 66"/>
              <p:cNvSpPr>
                <a:spLocks noChangeShapeType="1"/>
              </p:cNvSpPr>
              <p:nvPr/>
            </p:nvSpPr>
            <p:spPr bwMode="auto">
              <a:xfrm>
                <a:off x="375" y="1507"/>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112" name="Line 67"/>
              <p:cNvSpPr>
                <a:spLocks noChangeShapeType="1"/>
              </p:cNvSpPr>
              <p:nvPr/>
            </p:nvSpPr>
            <p:spPr bwMode="auto">
              <a:xfrm>
                <a:off x="1959" y="1686"/>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113" name="Line 68"/>
              <p:cNvSpPr>
                <a:spLocks noChangeShapeType="1"/>
              </p:cNvSpPr>
              <p:nvPr/>
            </p:nvSpPr>
            <p:spPr bwMode="auto">
              <a:xfrm>
                <a:off x="375" y="1872"/>
                <a:ext cx="643"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114" name="Oval 69"/>
              <p:cNvSpPr>
                <a:spLocks noChangeArrowheads="1"/>
              </p:cNvSpPr>
              <p:nvPr/>
            </p:nvSpPr>
            <p:spPr bwMode="auto">
              <a:xfrm>
                <a:off x="1807" y="1605"/>
                <a:ext cx="154" cy="164"/>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sp>
          <p:nvSpPr>
            <p:cNvPr id="80" name="Line 70"/>
            <p:cNvSpPr>
              <a:spLocks noChangeShapeType="1"/>
            </p:cNvSpPr>
            <p:nvPr/>
          </p:nvSpPr>
          <p:spPr bwMode="auto">
            <a:xfrm>
              <a:off x="4560" y="2838"/>
              <a:ext cx="0" cy="178"/>
            </a:xfrm>
            <a:prstGeom prst="line">
              <a:avLst/>
            </a:prstGeom>
            <a:noFill/>
            <a:ln w="25400">
              <a:solidFill>
                <a:schemeClr val="tx1"/>
              </a:solidFill>
              <a:round/>
              <a:headEnd/>
              <a:tailEnd/>
            </a:ln>
          </p:spPr>
          <p:txBody>
            <a:bodyPr/>
            <a:lstStyle/>
            <a:p>
              <a:endParaRPr lang="en-IN" b="1">
                <a:solidFill>
                  <a:schemeClr val="bg1"/>
                </a:solidFill>
                <a:effectLst>
                  <a:outerShdw blurRad="38100" dist="38100" dir="2700000" algn="tl">
                    <a:srgbClr val="000000">
                      <a:alpha val="43137"/>
                    </a:srgbClr>
                  </a:outerShdw>
                </a:effectLst>
              </a:endParaRPr>
            </a:p>
          </p:txBody>
        </p:sp>
        <p:sp>
          <p:nvSpPr>
            <p:cNvPr id="81" name="Line 71"/>
            <p:cNvSpPr>
              <a:spLocks noChangeShapeType="1"/>
            </p:cNvSpPr>
            <p:nvPr/>
          </p:nvSpPr>
          <p:spPr bwMode="auto">
            <a:xfrm>
              <a:off x="4560" y="3193"/>
              <a:ext cx="0" cy="133"/>
            </a:xfrm>
            <a:prstGeom prst="line">
              <a:avLst/>
            </a:prstGeom>
            <a:noFill/>
            <a:ln w="25400">
              <a:solidFill>
                <a:schemeClr val="tx1"/>
              </a:solidFill>
              <a:round/>
              <a:headEnd/>
              <a:tailEnd/>
            </a:ln>
          </p:spPr>
          <p:txBody>
            <a:bodyPr/>
            <a:lstStyle/>
            <a:p>
              <a:endParaRPr lang="en-IN" b="1">
                <a:solidFill>
                  <a:schemeClr val="bg1"/>
                </a:solidFill>
                <a:effectLst>
                  <a:outerShdw blurRad="38100" dist="38100" dir="2700000" algn="tl">
                    <a:srgbClr val="000000">
                      <a:alpha val="43137"/>
                    </a:srgbClr>
                  </a:outerShdw>
                </a:effectLst>
              </a:endParaRPr>
            </a:p>
          </p:txBody>
        </p:sp>
        <p:sp>
          <p:nvSpPr>
            <p:cNvPr id="82" name="Text Box 72"/>
            <p:cNvSpPr txBox="1">
              <a:spLocks noChangeArrowheads="1"/>
            </p:cNvSpPr>
            <p:nvPr/>
          </p:nvSpPr>
          <p:spPr bwMode="auto">
            <a:xfrm>
              <a:off x="3504" y="1248"/>
              <a:ext cx="253" cy="223"/>
            </a:xfrm>
            <a:prstGeom prst="rect">
              <a:avLst/>
            </a:prstGeom>
            <a:noFill/>
            <a:ln w="9525">
              <a:noFill/>
              <a:miter lim="800000"/>
              <a:headEnd/>
              <a:tailEnd/>
            </a:ln>
          </p:spPr>
          <p:txBody>
            <a:bodyPr>
              <a:spAutoFit/>
            </a:bodyPr>
            <a:lstStyle/>
            <a:p>
              <a:r>
                <a:rPr lang="en-US" altLang="zh-CN" b="1" dirty="0">
                  <a:solidFill>
                    <a:srgbClr val="FF0000"/>
                  </a:solidFill>
                  <a:effectLst>
                    <a:outerShdw blurRad="38100" dist="38100" dir="2700000" algn="tl">
                      <a:srgbClr val="000000">
                        <a:alpha val="43137"/>
                      </a:srgbClr>
                    </a:outerShdw>
                  </a:effectLst>
                </a:rPr>
                <a:t>X</a:t>
              </a:r>
            </a:p>
          </p:txBody>
        </p:sp>
        <p:sp>
          <p:nvSpPr>
            <p:cNvPr id="83" name="Text Box 73"/>
            <p:cNvSpPr txBox="1">
              <a:spLocks noChangeArrowheads="1"/>
            </p:cNvSpPr>
            <p:nvPr/>
          </p:nvSpPr>
          <p:spPr bwMode="auto">
            <a:xfrm>
              <a:off x="3504" y="2669"/>
              <a:ext cx="253" cy="223"/>
            </a:xfrm>
            <a:prstGeom prst="rect">
              <a:avLst/>
            </a:prstGeom>
            <a:noFill/>
            <a:ln w="9525">
              <a:noFill/>
              <a:miter lim="800000"/>
              <a:headEnd/>
              <a:tailEnd/>
            </a:ln>
          </p:spPr>
          <p:txBody>
            <a:bodyPr>
              <a:spAutoFit/>
            </a:bodyPr>
            <a:lstStyle/>
            <a:p>
              <a:r>
                <a:rPr lang="en-US" altLang="zh-CN" b="1" dirty="0">
                  <a:solidFill>
                    <a:srgbClr val="FF0000"/>
                  </a:solidFill>
                  <a:effectLst>
                    <a:outerShdw blurRad="38100" dist="38100" dir="2700000" algn="tl">
                      <a:srgbClr val="000000">
                        <a:alpha val="43137"/>
                      </a:srgbClr>
                    </a:outerShdw>
                  </a:effectLst>
                </a:rPr>
                <a:t>X</a:t>
              </a:r>
            </a:p>
          </p:txBody>
        </p:sp>
        <p:sp>
          <p:nvSpPr>
            <p:cNvPr id="84" name="Text Box 74"/>
            <p:cNvSpPr txBox="1">
              <a:spLocks noChangeArrowheads="1"/>
            </p:cNvSpPr>
            <p:nvPr/>
          </p:nvSpPr>
          <p:spPr bwMode="auto">
            <a:xfrm>
              <a:off x="4320" y="1209"/>
              <a:ext cx="1434" cy="223"/>
            </a:xfrm>
            <a:prstGeom prst="rect">
              <a:avLst/>
            </a:prstGeom>
            <a:noFill/>
            <a:ln w="9525">
              <a:noFill/>
              <a:miter lim="800000"/>
              <a:headEnd/>
              <a:tailEnd/>
            </a:ln>
            <a:effectLst/>
          </p:spPr>
          <p:txBody>
            <a:bodyPr>
              <a:spAutoFit/>
            </a:bodyPr>
            <a:lstStyle/>
            <a:p>
              <a:pPr>
                <a:defRPr/>
              </a:pPr>
              <a:r>
                <a:rPr lang="en-US" altLang="zh-CN" b="1" dirty="0">
                  <a:solidFill>
                    <a:srgbClr val="FF0000"/>
                  </a:solidFill>
                  <a:effectLst>
                    <a:outerShdw blurRad="38100" dist="38100" dir="2700000" algn="tl">
                      <a:srgbClr val="000000">
                        <a:alpha val="43137"/>
                      </a:srgbClr>
                    </a:outerShdw>
                  </a:effectLst>
                </a:rPr>
                <a:t>F = X’</a:t>
              </a:r>
            </a:p>
          </p:txBody>
        </p:sp>
        <p:sp>
          <p:nvSpPr>
            <p:cNvPr id="85" name="Text Box 75"/>
            <p:cNvSpPr txBox="1">
              <a:spLocks noChangeArrowheads="1"/>
            </p:cNvSpPr>
            <p:nvPr/>
          </p:nvSpPr>
          <p:spPr bwMode="auto">
            <a:xfrm>
              <a:off x="3504" y="1870"/>
              <a:ext cx="253" cy="223"/>
            </a:xfrm>
            <a:prstGeom prst="rect">
              <a:avLst/>
            </a:prstGeom>
            <a:noFill/>
            <a:ln w="9525">
              <a:noFill/>
              <a:miter lim="800000"/>
              <a:headEnd/>
              <a:tailEnd/>
            </a:ln>
          </p:spPr>
          <p:txBody>
            <a:bodyPr>
              <a:spAutoFit/>
            </a:bodyPr>
            <a:lstStyle/>
            <a:p>
              <a:r>
                <a:rPr lang="en-US" altLang="zh-CN" b="1" dirty="0">
                  <a:solidFill>
                    <a:srgbClr val="FF0000"/>
                  </a:solidFill>
                  <a:effectLst>
                    <a:outerShdw blurRad="38100" dist="38100" dir="2700000" algn="tl">
                      <a:srgbClr val="000000">
                        <a:alpha val="43137"/>
                      </a:srgbClr>
                    </a:outerShdw>
                  </a:effectLst>
                </a:rPr>
                <a:t>X</a:t>
              </a:r>
            </a:p>
          </p:txBody>
        </p:sp>
        <p:sp>
          <p:nvSpPr>
            <p:cNvPr id="86" name="Text Box 76"/>
            <p:cNvSpPr txBox="1">
              <a:spLocks noChangeArrowheads="1"/>
            </p:cNvSpPr>
            <p:nvPr/>
          </p:nvSpPr>
          <p:spPr bwMode="auto">
            <a:xfrm>
              <a:off x="3504" y="2048"/>
              <a:ext cx="253" cy="223"/>
            </a:xfrm>
            <a:prstGeom prst="rect">
              <a:avLst/>
            </a:prstGeom>
            <a:noFill/>
            <a:ln w="9525">
              <a:noFill/>
              <a:miter lim="800000"/>
              <a:headEnd/>
              <a:tailEnd/>
            </a:ln>
          </p:spPr>
          <p:txBody>
            <a:bodyPr>
              <a:spAutoFit/>
            </a:bodyPr>
            <a:lstStyle/>
            <a:p>
              <a:r>
                <a:rPr lang="en-US" altLang="zh-CN" b="1" dirty="0">
                  <a:solidFill>
                    <a:srgbClr val="FF0000"/>
                  </a:solidFill>
                  <a:effectLst>
                    <a:outerShdw blurRad="38100" dist="38100" dir="2700000" algn="tl">
                      <a:srgbClr val="000000">
                        <a:alpha val="43137"/>
                      </a:srgbClr>
                    </a:outerShdw>
                  </a:effectLst>
                </a:rPr>
                <a:t>Y</a:t>
              </a:r>
            </a:p>
          </p:txBody>
        </p:sp>
        <p:sp>
          <p:nvSpPr>
            <p:cNvPr id="87" name="Text Box 77"/>
            <p:cNvSpPr txBox="1">
              <a:spLocks noChangeArrowheads="1"/>
            </p:cNvSpPr>
            <p:nvPr/>
          </p:nvSpPr>
          <p:spPr bwMode="auto">
            <a:xfrm>
              <a:off x="3504" y="3149"/>
              <a:ext cx="253" cy="223"/>
            </a:xfrm>
            <a:prstGeom prst="rect">
              <a:avLst/>
            </a:prstGeom>
            <a:noFill/>
            <a:ln w="9525">
              <a:noFill/>
              <a:miter lim="800000"/>
              <a:headEnd/>
              <a:tailEnd/>
            </a:ln>
          </p:spPr>
          <p:txBody>
            <a:bodyPr>
              <a:spAutoFit/>
            </a:bodyPr>
            <a:lstStyle/>
            <a:p>
              <a:r>
                <a:rPr lang="en-US" altLang="zh-CN" b="1" dirty="0">
                  <a:solidFill>
                    <a:srgbClr val="FF0000"/>
                  </a:solidFill>
                  <a:effectLst>
                    <a:outerShdw blurRad="38100" dist="38100" dir="2700000" algn="tl">
                      <a:srgbClr val="000000">
                        <a:alpha val="43137"/>
                      </a:srgbClr>
                    </a:outerShdw>
                  </a:effectLst>
                </a:rPr>
                <a:t>Y</a:t>
              </a:r>
            </a:p>
          </p:txBody>
        </p:sp>
        <p:sp>
          <p:nvSpPr>
            <p:cNvPr id="88" name="Text Box 78"/>
            <p:cNvSpPr txBox="1">
              <a:spLocks noChangeArrowheads="1"/>
            </p:cNvSpPr>
            <p:nvPr/>
          </p:nvSpPr>
          <p:spPr bwMode="auto">
            <a:xfrm>
              <a:off x="5040" y="1929"/>
              <a:ext cx="528" cy="223"/>
            </a:xfrm>
            <a:prstGeom prst="rect">
              <a:avLst/>
            </a:prstGeom>
            <a:noFill/>
            <a:ln w="9525">
              <a:noFill/>
              <a:miter lim="800000"/>
              <a:headEnd/>
              <a:tailEnd/>
            </a:ln>
            <a:effectLst/>
          </p:spPr>
          <p:txBody>
            <a:bodyPr>
              <a:spAutoFit/>
            </a:bodyPr>
            <a:lstStyle/>
            <a:p>
              <a:pPr>
                <a:defRPr/>
              </a:pPr>
              <a:r>
                <a:rPr lang="en-US" altLang="zh-CN" b="1" dirty="0">
                  <a:solidFill>
                    <a:srgbClr val="FF0000"/>
                  </a:solidFill>
                  <a:effectLst>
                    <a:outerShdw blurRad="38100" dist="38100" dir="2700000" algn="tl">
                      <a:srgbClr val="000000">
                        <a:alpha val="43137"/>
                      </a:srgbClr>
                    </a:outerShdw>
                  </a:effectLst>
                </a:rPr>
                <a:t>F X•Y</a:t>
              </a:r>
            </a:p>
          </p:txBody>
        </p:sp>
        <p:sp>
          <p:nvSpPr>
            <p:cNvPr id="89" name="Text Box 79"/>
            <p:cNvSpPr txBox="1">
              <a:spLocks noChangeArrowheads="1"/>
            </p:cNvSpPr>
            <p:nvPr/>
          </p:nvSpPr>
          <p:spPr bwMode="auto">
            <a:xfrm>
              <a:off x="5328" y="2880"/>
              <a:ext cx="720" cy="223"/>
            </a:xfrm>
            <a:prstGeom prst="rect">
              <a:avLst/>
            </a:prstGeom>
            <a:noFill/>
            <a:ln w="9525">
              <a:noFill/>
              <a:miter lim="800000"/>
              <a:headEnd/>
              <a:tailEnd/>
            </a:ln>
            <a:effectLst/>
          </p:spPr>
          <p:txBody>
            <a:bodyPr>
              <a:spAutoFit/>
            </a:bodyPr>
            <a:lstStyle/>
            <a:p>
              <a:pPr>
                <a:defRPr/>
              </a:pPr>
              <a:r>
                <a:rPr lang="en-US" altLang="zh-CN" b="1" dirty="0">
                  <a:solidFill>
                    <a:srgbClr val="FF0000"/>
                  </a:solidFill>
                  <a:effectLst>
                    <a:outerShdw blurRad="38100" dist="38100" dir="2700000" algn="tl">
                      <a:srgbClr val="000000">
                        <a:alpha val="43137"/>
                      </a:srgbClr>
                    </a:outerShdw>
                  </a:effectLst>
                </a:rPr>
                <a:t>F = X+Y</a:t>
              </a:r>
            </a:p>
          </p:txBody>
        </p:sp>
        <p:grpSp>
          <p:nvGrpSpPr>
            <p:cNvPr id="12" name="Group 80"/>
            <p:cNvGrpSpPr>
              <a:grpSpLocks/>
            </p:cNvGrpSpPr>
            <p:nvPr/>
          </p:nvGrpSpPr>
          <p:grpSpPr bwMode="auto">
            <a:xfrm>
              <a:off x="3526" y="1255"/>
              <a:ext cx="1030" cy="336"/>
              <a:chOff x="3526" y="1255"/>
              <a:chExt cx="1030" cy="336"/>
            </a:xfrm>
          </p:grpSpPr>
          <p:sp>
            <p:nvSpPr>
              <p:cNvPr id="106" name="Line 81"/>
              <p:cNvSpPr>
                <a:spLocks noChangeShapeType="1"/>
              </p:cNvSpPr>
              <p:nvPr/>
            </p:nvSpPr>
            <p:spPr bwMode="auto">
              <a:xfrm>
                <a:off x="4249" y="1415"/>
                <a:ext cx="307"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107" name="Oval 82"/>
              <p:cNvSpPr>
                <a:spLocks noChangeArrowheads="1"/>
              </p:cNvSpPr>
              <p:nvPr/>
            </p:nvSpPr>
            <p:spPr bwMode="auto">
              <a:xfrm>
                <a:off x="4176" y="1373"/>
                <a:ext cx="74" cy="85"/>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108" name="Line 83"/>
              <p:cNvSpPr>
                <a:spLocks noChangeShapeType="1"/>
              </p:cNvSpPr>
              <p:nvPr/>
            </p:nvSpPr>
            <p:spPr bwMode="auto">
              <a:xfrm>
                <a:off x="3526" y="1425"/>
                <a:ext cx="307"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109" name="AutoShape 84"/>
              <p:cNvSpPr>
                <a:spLocks noChangeArrowheads="1"/>
              </p:cNvSpPr>
              <p:nvPr/>
            </p:nvSpPr>
            <p:spPr bwMode="auto">
              <a:xfrm rot="5400000">
                <a:off x="3840" y="1255"/>
                <a:ext cx="336" cy="336"/>
              </a:xfrm>
              <a:prstGeom prst="triangle">
                <a:avLst>
                  <a:gd name="adj" fmla="val 50000"/>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grpSp>
          <p:nvGrpSpPr>
            <p:cNvPr id="13" name="Group 85"/>
            <p:cNvGrpSpPr>
              <a:grpSpLocks/>
            </p:cNvGrpSpPr>
            <p:nvPr/>
          </p:nvGrpSpPr>
          <p:grpSpPr bwMode="auto">
            <a:xfrm>
              <a:off x="4320" y="1968"/>
              <a:ext cx="1030" cy="336"/>
              <a:chOff x="3526" y="1255"/>
              <a:chExt cx="1030" cy="336"/>
            </a:xfrm>
          </p:grpSpPr>
          <p:sp>
            <p:nvSpPr>
              <p:cNvPr id="102" name="Line 86"/>
              <p:cNvSpPr>
                <a:spLocks noChangeShapeType="1"/>
              </p:cNvSpPr>
              <p:nvPr/>
            </p:nvSpPr>
            <p:spPr bwMode="auto">
              <a:xfrm>
                <a:off x="4249" y="1415"/>
                <a:ext cx="307"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103" name="Oval 87"/>
              <p:cNvSpPr>
                <a:spLocks noChangeArrowheads="1"/>
              </p:cNvSpPr>
              <p:nvPr/>
            </p:nvSpPr>
            <p:spPr bwMode="auto">
              <a:xfrm>
                <a:off x="4176" y="1373"/>
                <a:ext cx="74" cy="85"/>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104" name="Line 88"/>
              <p:cNvSpPr>
                <a:spLocks noChangeShapeType="1"/>
              </p:cNvSpPr>
              <p:nvPr/>
            </p:nvSpPr>
            <p:spPr bwMode="auto">
              <a:xfrm>
                <a:off x="3526" y="1425"/>
                <a:ext cx="307"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105" name="AutoShape 89"/>
              <p:cNvSpPr>
                <a:spLocks noChangeArrowheads="1"/>
              </p:cNvSpPr>
              <p:nvPr/>
            </p:nvSpPr>
            <p:spPr bwMode="auto">
              <a:xfrm rot="5400000">
                <a:off x="3840" y="1255"/>
                <a:ext cx="336" cy="336"/>
              </a:xfrm>
              <a:prstGeom prst="triangle">
                <a:avLst>
                  <a:gd name="adj" fmla="val 50000"/>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grpSp>
          <p:nvGrpSpPr>
            <p:cNvPr id="14" name="Group 90"/>
            <p:cNvGrpSpPr>
              <a:grpSpLocks/>
            </p:cNvGrpSpPr>
            <p:nvPr/>
          </p:nvGrpSpPr>
          <p:grpSpPr bwMode="auto">
            <a:xfrm>
              <a:off x="3552" y="2688"/>
              <a:ext cx="1030" cy="336"/>
              <a:chOff x="3526" y="1255"/>
              <a:chExt cx="1030" cy="336"/>
            </a:xfrm>
          </p:grpSpPr>
          <p:sp>
            <p:nvSpPr>
              <p:cNvPr id="98" name="Line 91"/>
              <p:cNvSpPr>
                <a:spLocks noChangeShapeType="1"/>
              </p:cNvSpPr>
              <p:nvPr/>
            </p:nvSpPr>
            <p:spPr bwMode="auto">
              <a:xfrm>
                <a:off x="4249" y="1415"/>
                <a:ext cx="307"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99" name="Oval 92"/>
              <p:cNvSpPr>
                <a:spLocks noChangeArrowheads="1"/>
              </p:cNvSpPr>
              <p:nvPr/>
            </p:nvSpPr>
            <p:spPr bwMode="auto">
              <a:xfrm>
                <a:off x="4176" y="1373"/>
                <a:ext cx="74" cy="85"/>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100" name="Line 93"/>
              <p:cNvSpPr>
                <a:spLocks noChangeShapeType="1"/>
              </p:cNvSpPr>
              <p:nvPr/>
            </p:nvSpPr>
            <p:spPr bwMode="auto">
              <a:xfrm>
                <a:off x="3526" y="1425"/>
                <a:ext cx="307"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101" name="AutoShape 94"/>
              <p:cNvSpPr>
                <a:spLocks noChangeArrowheads="1"/>
              </p:cNvSpPr>
              <p:nvPr/>
            </p:nvSpPr>
            <p:spPr bwMode="auto">
              <a:xfrm rot="5400000">
                <a:off x="3840" y="1255"/>
                <a:ext cx="336" cy="336"/>
              </a:xfrm>
              <a:prstGeom prst="triangle">
                <a:avLst>
                  <a:gd name="adj" fmla="val 50000"/>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grpSp>
          <p:nvGrpSpPr>
            <p:cNvPr id="15" name="Group 95"/>
            <p:cNvGrpSpPr>
              <a:grpSpLocks/>
            </p:cNvGrpSpPr>
            <p:nvPr/>
          </p:nvGrpSpPr>
          <p:grpSpPr bwMode="auto">
            <a:xfrm>
              <a:off x="3552" y="3168"/>
              <a:ext cx="1030" cy="336"/>
              <a:chOff x="3526" y="1255"/>
              <a:chExt cx="1030" cy="336"/>
            </a:xfrm>
          </p:grpSpPr>
          <p:sp>
            <p:nvSpPr>
              <p:cNvPr id="94" name="Line 96"/>
              <p:cNvSpPr>
                <a:spLocks noChangeShapeType="1"/>
              </p:cNvSpPr>
              <p:nvPr/>
            </p:nvSpPr>
            <p:spPr bwMode="auto">
              <a:xfrm>
                <a:off x="4249" y="1415"/>
                <a:ext cx="307"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95" name="Oval 97"/>
              <p:cNvSpPr>
                <a:spLocks noChangeArrowheads="1"/>
              </p:cNvSpPr>
              <p:nvPr/>
            </p:nvSpPr>
            <p:spPr bwMode="auto">
              <a:xfrm>
                <a:off x="4176" y="1373"/>
                <a:ext cx="74" cy="85"/>
              </a:xfrm>
              <a:prstGeom prst="ellipse">
                <a:avLst/>
              </a:prstGeom>
              <a:noFill/>
              <a:ln w="28575">
                <a:solidFill>
                  <a:schemeClr val="tx1"/>
                </a:solidFill>
                <a:round/>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sp>
            <p:nvSpPr>
              <p:cNvPr id="96" name="Line 98"/>
              <p:cNvSpPr>
                <a:spLocks noChangeShapeType="1"/>
              </p:cNvSpPr>
              <p:nvPr/>
            </p:nvSpPr>
            <p:spPr bwMode="auto">
              <a:xfrm>
                <a:off x="3526" y="1425"/>
                <a:ext cx="307" cy="0"/>
              </a:xfrm>
              <a:prstGeom prst="line">
                <a:avLst/>
              </a:prstGeom>
              <a:noFill/>
              <a:ln w="28575">
                <a:solidFill>
                  <a:schemeClr val="tx1"/>
                </a:solidFill>
                <a:round/>
                <a:headEnd/>
                <a:tailEnd/>
              </a:ln>
            </p:spPr>
            <p:txBody>
              <a:bodyPr wrap="none" anchor="ctr"/>
              <a:lstStyle/>
              <a:p>
                <a:endParaRPr lang="en-IN" b="1">
                  <a:solidFill>
                    <a:schemeClr val="bg1"/>
                  </a:solidFill>
                  <a:effectLst>
                    <a:outerShdw blurRad="38100" dist="38100" dir="2700000" algn="tl">
                      <a:srgbClr val="000000">
                        <a:alpha val="43137"/>
                      </a:srgbClr>
                    </a:outerShdw>
                  </a:effectLst>
                </a:endParaRPr>
              </a:p>
            </p:txBody>
          </p:sp>
          <p:sp>
            <p:nvSpPr>
              <p:cNvPr id="97" name="AutoShape 99"/>
              <p:cNvSpPr>
                <a:spLocks noChangeArrowheads="1"/>
              </p:cNvSpPr>
              <p:nvPr/>
            </p:nvSpPr>
            <p:spPr bwMode="auto">
              <a:xfrm rot="5400000">
                <a:off x="3840" y="1255"/>
                <a:ext cx="336" cy="336"/>
              </a:xfrm>
              <a:prstGeom prst="triangle">
                <a:avLst>
                  <a:gd name="adj" fmla="val 50000"/>
                </a:avLst>
              </a:prstGeom>
              <a:noFill/>
              <a:ln w="28575">
                <a:solidFill>
                  <a:schemeClr val="tx1"/>
                </a:solidFill>
                <a:miter lim="800000"/>
                <a:headEnd/>
                <a:tailEnd/>
              </a:ln>
            </p:spPr>
            <p:txBody>
              <a:bodyPr wrap="none" anchor="ctr"/>
              <a:lstStyle/>
              <a:p>
                <a:endParaRPr lang="en-US" b="1">
                  <a:solidFill>
                    <a:schemeClr val="bg1"/>
                  </a:solidFill>
                  <a:effectLst>
                    <a:outerShdw blurRad="38100" dist="38100" dir="2700000" algn="tl">
                      <a:srgbClr val="000000">
                        <a:alpha val="43137"/>
                      </a:srgbClr>
                    </a:outerShdw>
                  </a:effectLst>
                </a:endParaRPr>
              </a:p>
            </p:txBody>
          </p:sp>
        </p:gr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8"/>
          <p:cNvSpPr>
            <a:spLocks noChangeArrowheads="1"/>
          </p:cNvSpPr>
          <p:nvPr/>
        </p:nvSpPr>
        <p:spPr bwMode="auto">
          <a:xfrm>
            <a:off x="3595670" y="285728"/>
            <a:ext cx="6143668" cy="52322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IN" sz="2800" b="1" dirty="0">
                <a:solidFill>
                  <a:schemeClr val="bg1"/>
                </a:solidFill>
                <a:effectLst>
                  <a:outerShdw blurRad="38100" dist="38100" dir="2700000" algn="tl">
                    <a:srgbClr val="000000">
                      <a:alpha val="43137"/>
                    </a:srgbClr>
                  </a:outerShdw>
                </a:effectLst>
              </a:rPr>
              <a:t>NOR Gate</a:t>
            </a:r>
          </a:p>
        </p:txBody>
      </p:sp>
      <p:sp>
        <p:nvSpPr>
          <p:cNvPr id="22" name="Arc 3"/>
          <p:cNvSpPr>
            <a:spLocks/>
          </p:cNvSpPr>
          <p:nvPr/>
        </p:nvSpPr>
        <p:spPr bwMode="auto">
          <a:xfrm>
            <a:off x="4533922" y="2438400"/>
            <a:ext cx="1057275" cy="908050"/>
          </a:xfrm>
          <a:custGeom>
            <a:avLst/>
            <a:gdLst>
              <a:gd name="G0" fmla="+- 0 0 0"/>
              <a:gd name="G1" fmla="+- 21600 0 0"/>
              <a:gd name="G2" fmla="+- 21600 0 0"/>
              <a:gd name="T0" fmla="*/ 0 w 20330"/>
              <a:gd name="T1" fmla="*/ 0 h 21600"/>
              <a:gd name="T2" fmla="*/ 20330 w 20330"/>
              <a:gd name="T3" fmla="*/ 14302 h 21600"/>
              <a:gd name="T4" fmla="*/ 0 w 20330"/>
              <a:gd name="T5" fmla="*/ 21600 h 21600"/>
            </a:gdLst>
            <a:ahLst/>
            <a:cxnLst>
              <a:cxn ang="0">
                <a:pos x="T0" y="T1"/>
              </a:cxn>
              <a:cxn ang="0">
                <a:pos x="T2" y="T3"/>
              </a:cxn>
              <a:cxn ang="0">
                <a:pos x="T4" y="T5"/>
              </a:cxn>
            </a:cxnLst>
            <a:rect l="0" t="0" r="r" b="b"/>
            <a:pathLst>
              <a:path w="20330" h="21600" fill="none" extrusionOk="0">
                <a:moveTo>
                  <a:pt x="-1" y="0"/>
                </a:moveTo>
                <a:cubicBezTo>
                  <a:pt x="9115" y="0"/>
                  <a:pt x="17249" y="5722"/>
                  <a:pt x="20329" y="14302"/>
                </a:cubicBezTo>
              </a:path>
              <a:path w="20330" h="21600" stroke="0" extrusionOk="0">
                <a:moveTo>
                  <a:pt x="-1" y="0"/>
                </a:moveTo>
                <a:cubicBezTo>
                  <a:pt x="9115" y="0"/>
                  <a:pt x="17249" y="5722"/>
                  <a:pt x="20329" y="14302"/>
                </a:cubicBezTo>
                <a:lnTo>
                  <a:pt x="0" y="21600"/>
                </a:lnTo>
                <a:close/>
              </a:path>
            </a:pathLst>
          </a:cu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23" name="Arc 4"/>
          <p:cNvSpPr>
            <a:spLocks/>
          </p:cNvSpPr>
          <p:nvPr/>
        </p:nvSpPr>
        <p:spPr bwMode="auto">
          <a:xfrm flipV="1">
            <a:off x="4533922" y="2735263"/>
            <a:ext cx="1057275" cy="908050"/>
          </a:xfrm>
          <a:custGeom>
            <a:avLst/>
            <a:gdLst>
              <a:gd name="G0" fmla="+- 0 0 0"/>
              <a:gd name="G1" fmla="+- 21600 0 0"/>
              <a:gd name="G2" fmla="+- 21600 0 0"/>
              <a:gd name="T0" fmla="*/ 0 w 20330"/>
              <a:gd name="T1" fmla="*/ 0 h 21600"/>
              <a:gd name="T2" fmla="*/ 20330 w 20330"/>
              <a:gd name="T3" fmla="*/ 14302 h 21600"/>
              <a:gd name="T4" fmla="*/ 0 w 20330"/>
              <a:gd name="T5" fmla="*/ 21600 h 21600"/>
            </a:gdLst>
            <a:ahLst/>
            <a:cxnLst>
              <a:cxn ang="0">
                <a:pos x="T0" y="T1"/>
              </a:cxn>
              <a:cxn ang="0">
                <a:pos x="T2" y="T3"/>
              </a:cxn>
              <a:cxn ang="0">
                <a:pos x="T4" y="T5"/>
              </a:cxn>
            </a:cxnLst>
            <a:rect l="0" t="0" r="r" b="b"/>
            <a:pathLst>
              <a:path w="20330" h="21600" fill="none" extrusionOk="0">
                <a:moveTo>
                  <a:pt x="-1" y="0"/>
                </a:moveTo>
                <a:cubicBezTo>
                  <a:pt x="9115" y="0"/>
                  <a:pt x="17249" y="5722"/>
                  <a:pt x="20329" y="14302"/>
                </a:cubicBezTo>
              </a:path>
              <a:path w="20330" h="21600" stroke="0" extrusionOk="0">
                <a:moveTo>
                  <a:pt x="-1" y="0"/>
                </a:moveTo>
                <a:cubicBezTo>
                  <a:pt x="9115" y="0"/>
                  <a:pt x="17249" y="5722"/>
                  <a:pt x="20329" y="14302"/>
                </a:cubicBezTo>
                <a:lnTo>
                  <a:pt x="0" y="21600"/>
                </a:lnTo>
                <a:close/>
              </a:path>
            </a:pathLst>
          </a:cu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24" name="Arc 5"/>
          <p:cNvSpPr>
            <a:spLocks/>
          </p:cNvSpPr>
          <p:nvPr/>
        </p:nvSpPr>
        <p:spPr bwMode="auto">
          <a:xfrm rot="2334890">
            <a:off x="3990996" y="2484439"/>
            <a:ext cx="914400" cy="941387"/>
          </a:xfrm>
          <a:custGeom>
            <a:avLst/>
            <a:gdLst>
              <a:gd name="G0" fmla="+- 0 0 0"/>
              <a:gd name="G1" fmla="+- 21019 0 0"/>
              <a:gd name="G2" fmla="+- 21600 0 0"/>
              <a:gd name="T0" fmla="*/ 4977 w 21600"/>
              <a:gd name="T1" fmla="*/ 0 h 22194"/>
              <a:gd name="T2" fmla="*/ 21568 w 21600"/>
              <a:gd name="T3" fmla="*/ 22194 h 22194"/>
              <a:gd name="T4" fmla="*/ 0 w 21600"/>
              <a:gd name="T5" fmla="*/ 21019 h 22194"/>
            </a:gdLst>
            <a:ahLst/>
            <a:cxnLst>
              <a:cxn ang="0">
                <a:pos x="T0" y="T1"/>
              </a:cxn>
              <a:cxn ang="0">
                <a:pos x="T2" y="T3"/>
              </a:cxn>
              <a:cxn ang="0">
                <a:pos x="T4" y="T5"/>
              </a:cxn>
            </a:cxnLst>
            <a:rect l="0" t="0" r="r" b="b"/>
            <a:pathLst>
              <a:path w="21600" h="22194" fill="none" extrusionOk="0">
                <a:moveTo>
                  <a:pt x="4976" y="0"/>
                </a:moveTo>
                <a:cubicBezTo>
                  <a:pt x="14719" y="2307"/>
                  <a:pt x="21600" y="11006"/>
                  <a:pt x="21600" y="21019"/>
                </a:cubicBezTo>
                <a:cubicBezTo>
                  <a:pt x="21600" y="21410"/>
                  <a:pt x="21589" y="21802"/>
                  <a:pt x="21568" y="22194"/>
                </a:cubicBezTo>
              </a:path>
              <a:path w="21600" h="22194" stroke="0" extrusionOk="0">
                <a:moveTo>
                  <a:pt x="4976" y="0"/>
                </a:moveTo>
                <a:cubicBezTo>
                  <a:pt x="14719" y="2307"/>
                  <a:pt x="21600" y="11006"/>
                  <a:pt x="21600" y="21019"/>
                </a:cubicBezTo>
                <a:cubicBezTo>
                  <a:pt x="21600" y="21410"/>
                  <a:pt x="21589" y="21802"/>
                  <a:pt x="21568" y="22194"/>
                </a:cubicBezTo>
                <a:lnTo>
                  <a:pt x="0" y="21019"/>
                </a:lnTo>
                <a:close/>
              </a:path>
            </a:pathLst>
          </a:cu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25" name="Line 6"/>
          <p:cNvSpPr>
            <a:spLocks noChangeShapeType="1"/>
          </p:cNvSpPr>
          <p:nvPr/>
        </p:nvSpPr>
        <p:spPr bwMode="auto">
          <a:xfrm flipH="1">
            <a:off x="4305321" y="2735263"/>
            <a:ext cx="381000" cy="0"/>
          </a:xfrm>
          <a:prstGeom prst="line">
            <a:avLst/>
          </a:pr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26" name="Line 7"/>
          <p:cNvSpPr>
            <a:spLocks noChangeShapeType="1"/>
          </p:cNvSpPr>
          <p:nvPr/>
        </p:nvSpPr>
        <p:spPr bwMode="auto">
          <a:xfrm flipH="1">
            <a:off x="4305321" y="3344863"/>
            <a:ext cx="381000" cy="0"/>
          </a:xfrm>
          <a:prstGeom prst="line">
            <a:avLst/>
          </a:pr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27" name="Line 8"/>
          <p:cNvSpPr>
            <a:spLocks noChangeShapeType="1"/>
          </p:cNvSpPr>
          <p:nvPr/>
        </p:nvSpPr>
        <p:spPr bwMode="auto">
          <a:xfrm flipH="1">
            <a:off x="5743596" y="3040063"/>
            <a:ext cx="381000" cy="0"/>
          </a:xfrm>
          <a:prstGeom prst="line">
            <a:avLst/>
          </a:prstGeom>
          <a:noFill/>
          <a:ln w="38100">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28" name="Text Box 9"/>
          <p:cNvSpPr txBox="1">
            <a:spLocks noChangeArrowheads="1"/>
          </p:cNvSpPr>
          <p:nvPr/>
        </p:nvSpPr>
        <p:spPr bwMode="auto">
          <a:xfrm>
            <a:off x="4737122" y="1895476"/>
            <a:ext cx="963725" cy="584775"/>
          </a:xfrm>
          <a:prstGeom prst="rect">
            <a:avLst/>
          </a:prstGeom>
          <a:noFill/>
          <a:ln w="9525">
            <a:noFill/>
            <a:miter lim="800000"/>
            <a:headEnd/>
            <a:tailEnd/>
          </a:ln>
          <a:effectLst/>
        </p:spPr>
        <p:txBody>
          <a:bodyPr wrap="none">
            <a:spAutoFit/>
          </a:bodyPr>
          <a:lstStyle/>
          <a:p>
            <a:r>
              <a:rPr lang="en-US" sz="3200" b="1" dirty="0">
                <a:solidFill>
                  <a:srgbClr val="FF0000"/>
                </a:solidFill>
                <a:effectLst>
                  <a:outerShdw blurRad="38100" dist="38100" dir="2700000" algn="tl">
                    <a:srgbClr val="000000">
                      <a:alpha val="43137"/>
                    </a:srgbClr>
                  </a:outerShdw>
                </a:effectLst>
              </a:rPr>
              <a:t>NOR</a:t>
            </a:r>
          </a:p>
        </p:txBody>
      </p:sp>
      <p:sp>
        <p:nvSpPr>
          <p:cNvPr id="29" name="Text Box 10"/>
          <p:cNvSpPr txBox="1">
            <a:spLocks noChangeArrowheads="1"/>
          </p:cNvSpPr>
          <p:nvPr/>
        </p:nvSpPr>
        <p:spPr bwMode="auto">
          <a:xfrm>
            <a:off x="3929084" y="2514601"/>
            <a:ext cx="410690" cy="584775"/>
          </a:xfrm>
          <a:prstGeom prst="rect">
            <a:avLst/>
          </a:prstGeom>
          <a:noFill/>
          <a:ln w="9525">
            <a:noFill/>
            <a:miter lim="800000"/>
            <a:headEnd/>
            <a:tailEnd/>
          </a:ln>
          <a:effectLst/>
        </p:spPr>
        <p:txBody>
          <a:bodyPr wrap="none">
            <a:spAutoFit/>
          </a:bodyPr>
          <a:lstStyle/>
          <a:p>
            <a:r>
              <a:rPr lang="en-US" sz="3200" b="1" dirty="0">
                <a:solidFill>
                  <a:srgbClr val="FF0000"/>
                </a:solidFill>
                <a:effectLst>
                  <a:outerShdw blurRad="38100" dist="38100" dir="2700000" algn="tl">
                    <a:srgbClr val="000000">
                      <a:alpha val="43137"/>
                    </a:srgbClr>
                  </a:outerShdw>
                </a:effectLst>
              </a:rPr>
              <a:t>X</a:t>
            </a:r>
          </a:p>
        </p:txBody>
      </p:sp>
      <p:sp>
        <p:nvSpPr>
          <p:cNvPr id="30" name="Text Box 11"/>
          <p:cNvSpPr txBox="1">
            <a:spLocks noChangeArrowheads="1"/>
          </p:cNvSpPr>
          <p:nvPr/>
        </p:nvSpPr>
        <p:spPr bwMode="auto">
          <a:xfrm>
            <a:off x="3929084" y="3124201"/>
            <a:ext cx="397866" cy="584775"/>
          </a:xfrm>
          <a:prstGeom prst="rect">
            <a:avLst/>
          </a:prstGeom>
          <a:noFill/>
          <a:ln w="9525">
            <a:noFill/>
            <a:miter lim="800000"/>
            <a:headEnd/>
            <a:tailEnd/>
          </a:ln>
          <a:effectLst/>
        </p:spPr>
        <p:txBody>
          <a:bodyPr wrap="none">
            <a:spAutoFit/>
          </a:bodyPr>
          <a:lstStyle/>
          <a:p>
            <a:r>
              <a:rPr lang="en-US" sz="3200" b="1" dirty="0">
                <a:solidFill>
                  <a:srgbClr val="FF0000"/>
                </a:solidFill>
                <a:effectLst>
                  <a:outerShdw blurRad="38100" dist="38100" dir="2700000" algn="tl">
                    <a:srgbClr val="000000">
                      <a:alpha val="43137"/>
                    </a:srgbClr>
                  </a:outerShdw>
                </a:effectLst>
              </a:rPr>
              <a:t>Y</a:t>
            </a:r>
          </a:p>
        </p:txBody>
      </p:sp>
      <p:sp>
        <p:nvSpPr>
          <p:cNvPr id="31" name="Text Box 12"/>
          <p:cNvSpPr txBox="1">
            <a:spLocks noChangeArrowheads="1"/>
          </p:cNvSpPr>
          <p:nvPr/>
        </p:nvSpPr>
        <p:spPr bwMode="auto">
          <a:xfrm>
            <a:off x="6200796" y="2819401"/>
            <a:ext cx="377026" cy="584775"/>
          </a:xfrm>
          <a:prstGeom prst="rect">
            <a:avLst/>
          </a:prstGeom>
          <a:noFill/>
          <a:ln w="9525">
            <a:noFill/>
            <a:miter lim="800000"/>
            <a:headEnd/>
            <a:tailEnd/>
          </a:ln>
          <a:effectLst/>
        </p:spPr>
        <p:txBody>
          <a:bodyPr wrap="none">
            <a:spAutoFit/>
          </a:bodyPr>
          <a:lstStyle/>
          <a:p>
            <a:r>
              <a:rPr lang="en-US" sz="3200" b="1" dirty="0">
                <a:solidFill>
                  <a:srgbClr val="FF0000"/>
                </a:solidFill>
                <a:effectLst>
                  <a:outerShdw blurRad="38100" dist="38100" dir="2700000" algn="tl">
                    <a:srgbClr val="000000">
                      <a:alpha val="43137"/>
                    </a:srgbClr>
                  </a:outerShdw>
                </a:effectLst>
              </a:rPr>
              <a:t>Z</a:t>
            </a:r>
          </a:p>
        </p:txBody>
      </p:sp>
      <p:sp>
        <p:nvSpPr>
          <p:cNvPr id="32" name="Text Box 14"/>
          <p:cNvSpPr txBox="1">
            <a:spLocks noChangeArrowheads="1"/>
          </p:cNvSpPr>
          <p:nvPr/>
        </p:nvSpPr>
        <p:spPr bwMode="auto">
          <a:xfrm>
            <a:off x="7556521" y="2124076"/>
            <a:ext cx="1181734" cy="2554545"/>
          </a:xfrm>
          <a:prstGeom prst="rect">
            <a:avLst/>
          </a:prstGeom>
          <a:noFill/>
          <a:ln w="9525">
            <a:noFill/>
            <a:miter lim="800000"/>
            <a:headEnd/>
            <a:tailEnd/>
          </a:ln>
          <a:effectLst/>
        </p:spPr>
        <p:txBody>
          <a:bodyPr wrap="none">
            <a:spAutoFit/>
          </a:bodyPr>
          <a:lstStyle/>
          <a:p>
            <a:r>
              <a:rPr lang="en-US" sz="3200" b="1" dirty="0">
                <a:solidFill>
                  <a:srgbClr val="FF0000"/>
                </a:solidFill>
                <a:effectLst>
                  <a:outerShdw blurRad="38100" dist="38100" dir="2700000" algn="tl">
                    <a:srgbClr val="000000">
                      <a:alpha val="43137"/>
                    </a:srgbClr>
                  </a:outerShdw>
                </a:effectLst>
              </a:rPr>
              <a:t>X  Y  Z</a:t>
            </a:r>
          </a:p>
          <a:p>
            <a:r>
              <a:rPr lang="en-US" sz="3200" b="1" dirty="0">
                <a:solidFill>
                  <a:srgbClr val="FF0000"/>
                </a:solidFill>
                <a:effectLst>
                  <a:outerShdw blurRad="38100" dist="38100" dir="2700000" algn="tl">
                    <a:srgbClr val="000000">
                      <a:alpha val="43137"/>
                    </a:srgbClr>
                  </a:outerShdw>
                </a:effectLst>
              </a:rPr>
              <a:t>0  0  1</a:t>
            </a:r>
          </a:p>
          <a:p>
            <a:r>
              <a:rPr lang="en-US" sz="3200" b="1" dirty="0">
                <a:solidFill>
                  <a:srgbClr val="FF0000"/>
                </a:solidFill>
                <a:effectLst>
                  <a:outerShdw blurRad="38100" dist="38100" dir="2700000" algn="tl">
                    <a:srgbClr val="000000">
                      <a:alpha val="43137"/>
                    </a:srgbClr>
                  </a:outerShdw>
                </a:effectLst>
              </a:rPr>
              <a:t>0  1  0</a:t>
            </a:r>
          </a:p>
          <a:p>
            <a:r>
              <a:rPr lang="en-US" sz="3200" b="1" dirty="0">
                <a:solidFill>
                  <a:srgbClr val="FF0000"/>
                </a:solidFill>
                <a:effectLst>
                  <a:outerShdw blurRad="38100" dist="38100" dir="2700000" algn="tl">
                    <a:srgbClr val="000000">
                      <a:alpha val="43137"/>
                    </a:srgbClr>
                  </a:outerShdw>
                </a:effectLst>
              </a:rPr>
              <a:t>1  0  0</a:t>
            </a:r>
          </a:p>
          <a:p>
            <a:r>
              <a:rPr lang="en-US" sz="3200" b="1" dirty="0">
                <a:solidFill>
                  <a:srgbClr val="FF0000"/>
                </a:solidFill>
                <a:effectLst>
                  <a:outerShdw blurRad="38100" dist="38100" dir="2700000" algn="tl">
                    <a:srgbClr val="000000">
                      <a:alpha val="43137"/>
                    </a:srgbClr>
                  </a:outerShdw>
                </a:effectLst>
              </a:rPr>
              <a:t>1  1  0</a:t>
            </a:r>
          </a:p>
        </p:txBody>
      </p:sp>
      <p:sp>
        <p:nvSpPr>
          <p:cNvPr id="33" name="Line 15"/>
          <p:cNvSpPr>
            <a:spLocks noChangeShapeType="1"/>
          </p:cNvSpPr>
          <p:nvPr/>
        </p:nvSpPr>
        <p:spPr bwMode="auto">
          <a:xfrm>
            <a:off x="7381884" y="2643182"/>
            <a:ext cx="1676400" cy="0"/>
          </a:xfrm>
          <a:prstGeom prst="line">
            <a:avLst/>
          </a:prstGeom>
          <a:noFill/>
          <a:ln w="9525">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34" name="Line 16"/>
          <p:cNvSpPr>
            <a:spLocks noChangeShapeType="1"/>
          </p:cNvSpPr>
          <p:nvPr/>
        </p:nvSpPr>
        <p:spPr bwMode="auto">
          <a:xfrm>
            <a:off x="8310578" y="2214554"/>
            <a:ext cx="71438" cy="2624142"/>
          </a:xfrm>
          <a:prstGeom prst="line">
            <a:avLst/>
          </a:prstGeom>
          <a:noFill/>
          <a:ln w="9525">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35" name="Oval 17"/>
          <p:cNvSpPr>
            <a:spLocks noChangeArrowheads="1"/>
          </p:cNvSpPr>
          <p:nvPr/>
        </p:nvSpPr>
        <p:spPr bwMode="auto">
          <a:xfrm>
            <a:off x="5591196" y="2971800"/>
            <a:ext cx="152400" cy="152400"/>
          </a:xfrm>
          <a:prstGeom prst="ellipse">
            <a:avLst/>
          </a:prstGeom>
          <a:noFill/>
          <a:ln w="9525">
            <a:solidFill>
              <a:schemeClr val="tx1"/>
            </a:solidFill>
            <a:round/>
            <a:headEnd/>
            <a:tailEnd/>
          </a:ln>
          <a:effectLst/>
        </p:spPr>
        <p:txBody>
          <a:bodyPr wrap="none" anchor="ctr"/>
          <a:lstStyle/>
          <a:p>
            <a:endParaRPr lang="en-IN" sz="3200" b="1">
              <a:solidFill>
                <a:schemeClr val="bg1"/>
              </a:solidFill>
              <a:effectLst>
                <a:outerShdw blurRad="38100" dist="38100" dir="2700000" algn="tl">
                  <a:srgbClr val="000000">
                    <a:alpha val="43137"/>
                  </a:srgbClr>
                </a:outerShdw>
              </a:effectLst>
            </a:endParaRPr>
          </a:p>
        </p:txBody>
      </p:sp>
      <p:sp>
        <p:nvSpPr>
          <p:cNvPr id="36" name="Text Box 18"/>
          <p:cNvSpPr txBox="1">
            <a:spLocks noChangeArrowheads="1"/>
          </p:cNvSpPr>
          <p:nvPr/>
        </p:nvSpPr>
        <p:spPr bwMode="auto">
          <a:xfrm>
            <a:off x="3838597" y="3838575"/>
            <a:ext cx="2053767" cy="1077218"/>
          </a:xfrm>
          <a:prstGeom prst="rect">
            <a:avLst/>
          </a:prstGeom>
          <a:noFill/>
          <a:ln w="9525">
            <a:noFill/>
            <a:miter lim="800000"/>
            <a:headEnd/>
            <a:tailEnd/>
          </a:ln>
          <a:effectLst/>
        </p:spPr>
        <p:txBody>
          <a:bodyPr wrap="none">
            <a:spAutoFit/>
          </a:bodyPr>
          <a:lstStyle/>
          <a:p>
            <a:r>
              <a:rPr lang="en-US" sz="3200" b="1" dirty="0">
                <a:solidFill>
                  <a:srgbClr val="FF0000"/>
                </a:solidFill>
                <a:effectLst>
                  <a:outerShdw blurRad="38100" dist="38100" dir="2700000" algn="tl">
                    <a:srgbClr val="000000">
                      <a:alpha val="43137"/>
                    </a:srgbClr>
                  </a:outerShdw>
                </a:effectLst>
              </a:rPr>
              <a:t>Z = ~(X | Y)</a:t>
            </a:r>
          </a:p>
          <a:p>
            <a:r>
              <a:rPr lang="en-US" sz="3200" b="1" dirty="0">
                <a:solidFill>
                  <a:srgbClr val="FF0000"/>
                </a:solidFill>
                <a:effectLst>
                  <a:outerShdw blurRad="38100" dist="38100" dir="2700000" algn="tl">
                    <a:srgbClr val="000000">
                      <a:alpha val="43137"/>
                    </a:srgbClr>
                  </a:outerShdw>
                </a:effectLst>
              </a:rPr>
              <a:t>nor(Z,X,Y)</a:t>
            </a:r>
          </a:p>
        </p:txBody>
      </p:sp>
    </p:spTree>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8"/>
          <p:cNvSpPr>
            <a:spLocks noChangeArrowheads="1"/>
          </p:cNvSpPr>
          <p:nvPr/>
        </p:nvSpPr>
        <p:spPr bwMode="auto">
          <a:xfrm>
            <a:off x="3595670" y="500043"/>
            <a:ext cx="6143668" cy="584775"/>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US" sz="3200" b="1" dirty="0">
                <a:effectLst>
                  <a:outerShdw blurRad="38100" dist="38100" dir="2700000" algn="tl">
                    <a:srgbClr val="000000">
                      <a:alpha val="43137"/>
                    </a:srgbClr>
                  </a:outerShdw>
                </a:effectLst>
              </a:rPr>
              <a:t>Exclusive-OR Gate</a:t>
            </a:r>
            <a:endParaRPr lang="en-IN" sz="3200" b="1" dirty="0">
              <a:solidFill>
                <a:schemeClr val="bg1"/>
              </a:solidFill>
              <a:effectLst>
                <a:outerShdw blurRad="38100" dist="38100" dir="2700000" algn="tl">
                  <a:srgbClr val="000000">
                    <a:alpha val="43137"/>
                  </a:srgbClr>
                </a:outerShdw>
              </a:effectLst>
            </a:endParaRPr>
          </a:p>
        </p:txBody>
      </p:sp>
      <p:sp>
        <p:nvSpPr>
          <p:cNvPr id="3" name="Rectangle 4"/>
          <p:cNvSpPr>
            <a:spLocks noChangeArrowheads="1"/>
          </p:cNvSpPr>
          <p:nvPr/>
        </p:nvSpPr>
        <p:spPr bwMode="auto">
          <a:xfrm>
            <a:off x="7977210" y="2609851"/>
            <a:ext cx="1139736" cy="615553"/>
          </a:xfrm>
          <a:prstGeom prst="rect">
            <a:avLst/>
          </a:prstGeom>
          <a:noFill/>
          <a:ln w="9525">
            <a:noFill/>
            <a:miter lim="800000"/>
            <a:headEnd/>
            <a:tailEnd/>
          </a:ln>
        </p:spPr>
        <p:txBody>
          <a:bodyPr wrap="none" lIns="0" tIns="0" rIns="0" bIns="0">
            <a:spAutoFit/>
          </a:bodyPr>
          <a:lstStyle/>
          <a:p>
            <a:r>
              <a:rPr lang="en-US" sz="4000" b="1" dirty="0">
                <a:solidFill>
                  <a:srgbClr val="FF0000"/>
                </a:solidFill>
                <a:effectLst>
                  <a:outerShdw blurRad="38100" dist="38100" dir="2700000" algn="tl">
                    <a:srgbClr val="000000">
                      <a:alpha val="43137"/>
                    </a:srgbClr>
                  </a:outerShdw>
                </a:effectLst>
              </a:rPr>
              <a:t>X Y  Z</a:t>
            </a:r>
          </a:p>
        </p:txBody>
      </p:sp>
      <p:sp>
        <p:nvSpPr>
          <p:cNvPr id="4" name="Line 125"/>
          <p:cNvSpPr>
            <a:spLocks noChangeShapeType="1"/>
          </p:cNvSpPr>
          <p:nvPr/>
        </p:nvSpPr>
        <p:spPr bwMode="auto">
          <a:xfrm>
            <a:off x="8734449" y="2546350"/>
            <a:ext cx="1587" cy="2332038"/>
          </a:xfrm>
          <a:prstGeom prst="line">
            <a:avLst/>
          </a:prstGeom>
          <a:noFill/>
          <a:ln w="25400">
            <a:solidFill>
              <a:srgbClr val="000000"/>
            </a:solidFill>
            <a:round/>
            <a:headEnd/>
            <a:tailEnd/>
          </a:ln>
        </p:spPr>
        <p:txBody>
          <a:bodyPr/>
          <a:lstStyle/>
          <a:p>
            <a:endParaRPr lang="en-IN" sz="4000" b="1">
              <a:solidFill>
                <a:schemeClr val="bg1"/>
              </a:solidFill>
              <a:effectLst>
                <a:outerShdw blurRad="38100" dist="38100" dir="2700000" algn="tl">
                  <a:srgbClr val="000000">
                    <a:alpha val="43137"/>
                  </a:srgbClr>
                </a:outerShdw>
              </a:effectLst>
            </a:endParaRPr>
          </a:p>
        </p:txBody>
      </p:sp>
      <p:sp>
        <p:nvSpPr>
          <p:cNvPr id="5" name="Rectangle 126"/>
          <p:cNvSpPr>
            <a:spLocks noChangeArrowheads="1"/>
          </p:cNvSpPr>
          <p:nvPr/>
        </p:nvSpPr>
        <p:spPr bwMode="auto">
          <a:xfrm>
            <a:off x="4360886" y="2444751"/>
            <a:ext cx="899413" cy="615553"/>
          </a:xfrm>
          <a:prstGeom prst="rect">
            <a:avLst/>
          </a:prstGeom>
          <a:noFill/>
          <a:ln w="9525">
            <a:noFill/>
            <a:miter lim="800000"/>
            <a:headEnd/>
            <a:tailEnd/>
          </a:ln>
        </p:spPr>
        <p:txBody>
          <a:bodyPr wrap="square" lIns="0" tIns="0" rIns="0" bIns="0">
            <a:spAutoFit/>
          </a:bodyPr>
          <a:lstStyle/>
          <a:p>
            <a:r>
              <a:rPr lang="en-US" sz="4000" b="1" dirty="0">
                <a:solidFill>
                  <a:srgbClr val="FF0000"/>
                </a:solidFill>
                <a:effectLst>
                  <a:outerShdw blurRad="38100" dist="38100" dir="2700000" algn="tl">
                    <a:srgbClr val="000000">
                      <a:alpha val="43137"/>
                    </a:srgbClr>
                  </a:outerShdw>
                </a:effectLst>
              </a:rPr>
              <a:t>XOR</a:t>
            </a:r>
          </a:p>
        </p:txBody>
      </p:sp>
      <p:sp>
        <p:nvSpPr>
          <p:cNvPr id="6" name="Rectangle 127"/>
          <p:cNvSpPr>
            <a:spLocks noChangeArrowheads="1"/>
          </p:cNvSpPr>
          <p:nvPr/>
        </p:nvSpPr>
        <p:spPr bwMode="auto">
          <a:xfrm>
            <a:off x="3598886" y="2971801"/>
            <a:ext cx="282129" cy="615553"/>
          </a:xfrm>
          <a:prstGeom prst="rect">
            <a:avLst/>
          </a:prstGeom>
          <a:noFill/>
          <a:ln w="9525">
            <a:noFill/>
            <a:miter lim="800000"/>
            <a:headEnd/>
            <a:tailEnd/>
          </a:ln>
        </p:spPr>
        <p:txBody>
          <a:bodyPr wrap="none" lIns="0" tIns="0" rIns="0" bIns="0">
            <a:spAutoFit/>
          </a:bodyPr>
          <a:lstStyle/>
          <a:p>
            <a:r>
              <a:rPr lang="en-US" sz="4000" b="1">
                <a:solidFill>
                  <a:schemeClr val="bg1"/>
                </a:solidFill>
                <a:effectLst>
                  <a:outerShdw blurRad="38100" dist="38100" dir="2700000" algn="tl">
                    <a:srgbClr val="000000">
                      <a:alpha val="43137"/>
                    </a:srgbClr>
                  </a:outerShdw>
                </a:effectLst>
              </a:rPr>
              <a:t>X</a:t>
            </a:r>
          </a:p>
        </p:txBody>
      </p:sp>
      <p:sp>
        <p:nvSpPr>
          <p:cNvPr id="7" name="Rectangle 128"/>
          <p:cNvSpPr>
            <a:spLocks noChangeArrowheads="1"/>
          </p:cNvSpPr>
          <p:nvPr/>
        </p:nvSpPr>
        <p:spPr bwMode="auto">
          <a:xfrm>
            <a:off x="3598885" y="3429001"/>
            <a:ext cx="266098" cy="615553"/>
          </a:xfrm>
          <a:prstGeom prst="rect">
            <a:avLst/>
          </a:prstGeom>
          <a:noFill/>
          <a:ln w="9525">
            <a:noFill/>
            <a:miter lim="800000"/>
            <a:headEnd/>
            <a:tailEnd/>
          </a:ln>
        </p:spPr>
        <p:txBody>
          <a:bodyPr wrap="none" lIns="0" tIns="0" rIns="0" bIns="0">
            <a:spAutoFit/>
          </a:bodyPr>
          <a:lstStyle/>
          <a:p>
            <a:r>
              <a:rPr lang="en-US" sz="4000" b="1">
                <a:solidFill>
                  <a:schemeClr val="bg1"/>
                </a:solidFill>
                <a:effectLst>
                  <a:outerShdw blurRad="38100" dist="38100" dir="2700000" algn="tl">
                    <a:srgbClr val="000000">
                      <a:alpha val="43137"/>
                    </a:srgbClr>
                  </a:outerShdw>
                </a:effectLst>
              </a:rPr>
              <a:t>Y</a:t>
            </a:r>
          </a:p>
        </p:txBody>
      </p:sp>
      <p:sp>
        <p:nvSpPr>
          <p:cNvPr id="8" name="Rectangle 129"/>
          <p:cNvSpPr>
            <a:spLocks noChangeArrowheads="1"/>
          </p:cNvSpPr>
          <p:nvPr/>
        </p:nvSpPr>
        <p:spPr bwMode="auto">
          <a:xfrm>
            <a:off x="5656285" y="3200401"/>
            <a:ext cx="245260" cy="615553"/>
          </a:xfrm>
          <a:prstGeom prst="rect">
            <a:avLst/>
          </a:prstGeom>
          <a:noFill/>
          <a:ln w="9525">
            <a:noFill/>
            <a:miter lim="800000"/>
            <a:headEnd/>
            <a:tailEnd/>
          </a:ln>
        </p:spPr>
        <p:txBody>
          <a:bodyPr wrap="none" lIns="0" tIns="0" rIns="0" bIns="0">
            <a:spAutoFit/>
          </a:bodyPr>
          <a:lstStyle/>
          <a:p>
            <a:r>
              <a:rPr lang="en-US" sz="4000" b="1">
                <a:solidFill>
                  <a:schemeClr val="bg1"/>
                </a:solidFill>
                <a:effectLst>
                  <a:outerShdw blurRad="38100" dist="38100" dir="2700000" algn="tl">
                    <a:srgbClr val="000000">
                      <a:alpha val="43137"/>
                    </a:srgbClr>
                  </a:outerShdw>
                </a:effectLst>
              </a:rPr>
              <a:t>Z</a:t>
            </a:r>
          </a:p>
        </p:txBody>
      </p:sp>
      <p:sp>
        <p:nvSpPr>
          <p:cNvPr id="9" name="Rectangle 132"/>
          <p:cNvSpPr>
            <a:spLocks noChangeArrowheads="1"/>
          </p:cNvSpPr>
          <p:nvPr/>
        </p:nvSpPr>
        <p:spPr bwMode="auto">
          <a:xfrm>
            <a:off x="7977210" y="3294064"/>
            <a:ext cx="1125308" cy="615553"/>
          </a:xfrm>
          <a:prstGeom prst="rect">
            <a:avLst/>
          </a:prstGeom>
          <a:noFill/>
          <a:ln w="9525">
            <a:noFill/>
            <a:miter lim="800000"/>
            <a:headEnd/>
            <a:tailEnd/>
          </a:ln>
        </p:spPr>
        <p:txBody>
          <a:bodyPr wrap="none" lIns="0" tIns="0" rIns="0" bIns="0">
            <a:spAutoFit/>
          </a:bodyPr>
          <a:lstStyle/>
          <a:p>
            <a:r>
              <a:rPr lang="en-US" sz="4000" b="1" dirty="0">
                <a:solidFill>
                  <a:srgbClr val="FF0000"/>
                </a:solidFill>
                <a:effectLst>
                  <a:outerShdw blurRad="38100" dist="38100" dir="2700000" algn="tl">
                    <a:srgbClr val="000000">
                      <a:alpha val="43137"/>
                    </a:srgbClr>
                  </a:outerShdw>
                </a:effectLst>
              </a:rPr>
              <a:t>0 0  0</a:t>
            </a:r>
          </a:p>
        </p:txBody>
      </p:sp>
      <p:sp>
        <p:nvSpPr>
          <p:cNvPr id="10" name="Rectangle 133"/>
          <p:cNvSpPr>
            <a:spLocks noChangeArrowheads="1"/>
          </p:cNvSpPr>
          <p:nvPr/>
        </p:nvSpPr>
        <p:spPr bwMode="auto">
          <a:xfrm>
            <a:off x="7977210" y="3673476"/>
            <a:ext cx="1125308" cy="615553"/>
          </a:xfrm>
          <a:prstGeom prst="rect">
            <a:avLst/>
          </a:prstGeom>
          <a:noFill/>
          <a:ln w="9525">
            <a:noFill/>
            <a:miter lim="800000"/>
            <a:headEnd/>
            <a:tailEnd/>
          </a:ln>
        </p:spPr>
        <p:txBody>
          <a:bodyPr wrap="none" lIns="0" tIns="0" rIns="0" bIns="0">
            <a:spAutoFit/>
          </a:bodyPr>
          <a:lstStyle/>
          <a:p>
            <a:r>
              <a:rPr lang="en-US" sz="4000" b="1" dirty="0">
                <a:solidFill>
                  <a:srgbClr val="FF0000"/>
                </a:solidFill>
                <a:effectLst>
                  <a:outerShdw blurRad="38100" dist="38100" dir="2700000" algn="tl">
                    <a:srgbClr val="000000">
                      <a:alpha val="43137"/>
                    </a:srgbClr>
                  </a:outerShdw>
                </a:effectLst>
              </a:rPr>
              <a:t>0 1  1</a:t>
            </a:r>
          </a:p>
        </p:txBody>
      </p:sp>
      <p:sp>
        <p:nvSpPr>
          <p:cNvPr id="11" name="Rectangle 134"/>
          <p:cNvSpPr>
            <a:spLocks noChangeArrowheads="1"/>
          </p:cNvSpPr>
          <p:nvPr/>
        </p:nvSpPr>
        <p:spPr bwMode="auto">
          <a:xfrm>
            <a:off x="7977210" y="4054476"/>
            <a:ext cx="1125308" cy="615553"/>
          </a:xfrm>
          <a:prstGeom prst="rect">
            <a:avLst/>
          </a:prstGeom>
          <a:noFill/>
          <a:ln w="9525">
            <a:noFill/>
            <a:miter lim="800000"/>
            <a:headEnd/>
            <a:tailEnd/>
          </a:ln>
        </p:spPr>
        <p:txBody>
          <a:bodyPr wrap="none" lIns="0" tIns="0" rIns="0" bIns="0">
            <a:spAutoFit/>
          </a:bodyPr>
          <a:lstStyle/>
          <a:p>
            <a:r>
              <a:rPr lang="en-US" sz="4000" b="1" dirty="0">
                <a:solidFill>
                  <a:srgbClr val="FF0000"/>
                </a:solidFill>
                <a:effectLst>
                  <a:outerShdw blurRad="38100" dist="38100" dir="2700000" algn="tl">
                    <a:srgbClr val="000000">
                      <a:alpha val="43137"/>
                    </a:srgbClr>
                  </a:outerShdw>
                </a:effectLst>
              </a:rPr>
              <a:t>1 0  1</a:t>
            </a:r>
          </a:p>
        </p:txBody>
      </p:sp>
      <p:sp>
        <p:nvSpPr>
          <p:cNvPr id="12" name="Rectangle 135"/>
          <p:cNvSpPr>
            <a:spLocks noChangeArrowheads="1"/>
          </p:cNvSpPr>
          <p:nvPr/>
        </p:nvSpPr>
        <p:spPr bwMode="auto">
          <a:xfrm>
            <a:off x="7977210" y="4433889"/>
            <a:ext cx="1125308" cy="615553"/>
          </a:xfrm>
          <a:prstGeom prst="rect">
            <a:avLst/>
          </a:prstGeom>
          <a:noFill/>
          <a:ln w="9525">
            <a:noFill/>
            <a:miter lim="800000"/>
            <a:headEnd/>
            <a:tailEnd/>
          </a:ln>
        </p:spPr>
        <p:txBody>
          <a:bodyPr wrap="none" lIns="0" tIns="0" rIns="0" bIns="0">
            <a:spAutoFit/>
          </a:bodyPr>
          <a:lstStyle/>
          <a:p>
            <a:r>
              <a:rPr lang="en-US" sz="4000" b="1" dirty="0">
                <a:solidFill>
                  <a:srgbClr val="FF0000"/>
                </a:solidFill>
                <a:effectLst>
                  <a:outerShdw blurRad="38100" dist="38100" dir="2700000" algn="tl">
                    <a:srgbClr val="000000">
                      <a:alpha val="43137"/>
                    </a:srgbClr>
                  </a:outerShdw>
                </a:effectLst>
              </a:rPr>
              <a:t>1 1  0</a:t>
            </a:r>
          </a:p>
        </p:txBody>
      </p:sp>
      <p:sp>
        <p:nvSpPr>
          <p:cNvPr id="13" name="Line 136"/>
          <p:cNvSpPr>
            <a:spLocks noChangeShapeType="1"/>
          </p:cNvSpPr>
          <p:nvPr/>
        </p:nvSpPr>
        <p:spPr bwMode="auto">
          <a:xfrm>
            <a:off x="7831160" y="3097214"/>
            <a:ext cx="1550988" cy="1587"/>
          </a:xfrm>
          <a:prstGeom prst="line">
            <a:avLst/>
          </a:prstGeom>
          <a:noFill/>
          <a:ln w="19050">
            <a:solidFill>
              <a:srgbClr val="000000"/>
            </a:solidFill>
            <a:round/>
            <a:headEnd/>
            <a:tailEnd/>
          </a:ln>
        </p:spPr>
        <p:txBody>
          <a:bodyPr/>
          <a:lstStyle/>
          <a:p>
            <a:endParaRPr lang="en-IN" sz="4000" b="1">
              <a:solidFill>
                <a:schemeClr val="bg1"/>
              </a:solidFill>
              <a:effectLst>
                <a:outerShdw blurRad="38100" dist="38100" dir="2700000" algn="tl">
                  <a:srgbClr val="000000">
                    <a:alpha val="43137"/>
                  </a:srgbClr>
                </a:outerShdw>
              </a:effectLst>
            </a:endParaRPr>
          </a:p>
        </p:txBody>
      </p:sp>
      <p:sp>
        <p:nvSpPr>
          <p:cNvPr id="14" name="Rectangle 137"/>
          <p:cNvSpPr>
            <a:spLocks noChangeArrowheads="1"/>
          </p:cNvSpPr>
          <p:nvPr/>
        </p:nvSpPr>
        <p:spPr bwMode="auto">
          <a:xfrm>
            <a:off x="3733823" y="3924300"/>
            <a:ext cx="2035942" cy="1231106"/>
          </a:xfrm>
          <a:prstGeom prst="rect">
            <a:avLst/>
          </a:prstGeom>
          <a:noFill/>
          <a:ln w="9525">
            <a:noFill/>
            <a:miter lim="800000"/>
            <a:headEnd/>
            <a:tailEnd/>
          </a:ln>
        </p:spPr>
        <p:txBody>
          <a:bodyPr wrap="none" lIns="0" tIns="0" rIns="0" bIns="0">
            <a:spAutoFit/>
          </a:bodyPr>
          <a:lstStyle/>
          <a:p>
            <a:r>
              <a:rPr lang="en-US" sz="4000" b="1" dirty="0">
                <a:solidFill>
                  <a:srgbClr val="FF0000"/>
                </a:solidFill>
                <a:effectLst>
                  <a:outerShdw blurRad="38100" dist="38100" dir="2700000" algn="tl">
                    <a:srgbClr val="000000">
                      <a:alpha val="43137"/>
                    </a:srgbClr>
                  </a:outerShdw>
                </a:effectLst>
              </a:rPr>
              <a:t>Z = X ^ Y</a:t>
            </a:r>
          </a:p>
          <a:p>
            <a:r>
              <a:rPr lang="en-US" sz="4000" b="1" dirty="0" err="1">
                <a:solidFill>
                  <a:srgbClr val="FF0000"/>
                </a:solidFill>
                <a:effectLst>
                  <a:outerShdw blurRad="38100" dist="38100" dir="2700000" algn="tl">
                    <a:srgbClr val="000000">
                      <a:alpha val="43137"/>
                    </a:srgbClr>
                  </a:outerShdw>
                </a:effectLst>
              </a:rPr>
              <a:t>xor</a:t>
            </a:r>
            <a:r>
              <a:rPr lang="en-US" sz="4000" b="1" dirty="0">
                <a:solidFill>
                  <a:srgbClr val="FF0000"/>
                </a:solidFill>
                <a:effectLst>
                  <a:outerShdw blurRad="38100" dist="38100" dir="2700000" algn="tl">
                    <a:srgbClr val="000000">
                      <a:alpha val="43137"/>
                    </a:srgbClr>
                  </a:outerShdw>
                </a:effectLst>
              </a:rPr>
              <a:t>(Z,X,Y)</a:t>
            </a:r>
          </a:p>
        </p:txBody>
      </p:sp>
      <p:graphicFrame>
        <p:nvGraphicFramePr>
          <p:cNvPr id="15" name="Object 138"/>
          <p:cNvGraphicFramePr>
            <a:graphicFrameLocks noGrp="1" noChangeAspect="1"/>
          </p:cNvGraphicFramePr>
          <p:nvPr>
            <p:ph sz="half" idx="2"/>
          </p:nvPr>
        </p:nvGraphicFramePr>
        <p:xfrm>
          <a:off x="3903663" y="2971800"/>
          <a:ext cx="1652587" cy="839788"/>
        </p:xfrm>
        <a:graphic>
          <a:graphicData uri="http://schemas.openxmlformats.org/presentationml/2006/ole">
            <mc:AlternateContent xmlns:mc="http://schemas.openxmlformats.org/markup-compatibility/2006">
              <mc:Choice xmlns:v="urn:schemas-microsoft-com:vml" Requires="v">
                <p:oleObj name="Visio" r:id="rId2" imgW="1652626" imgH="839724" progId="">
                  <p:embed/>
                </p:oleObj>
              </mc:Choice>
              <mc:Fallback>
                <p:oleObj name="Visio" r:id="rId2" imgW="1652626" imgH="839724" progId="">
                  <p:embed/>
                  <p:pic>
                    <p:nvPicPr>
                      <p:cNvPr id="15" name="Object 1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3663" y="2971800"/>
                        <a:ext cx="1652587" cy="83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advClick="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8"/>
          <p:cNvSpPr>
            <a:spLocks noChangeArrowheads="1"/>
          </p:cNvSpPr>
          <p:nvPr/>
        </p:nvSpPr>
        <p:spPr bwMode="auto">
          <a:xfrm>
            <a:off x="3667108" y="428605"/>
            <a:ext cx="6143668" cy="584775"/>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square">
            <a:spAutoFit/>
          </a:bodyPr>
          <a:lstStyle/>
          <a:p>
            <a:pPr algn="ctr"/>
            <a:r>
              <a:rPr lang="en-US" sz="3200" b="1" dirty="0">
                <a:effectLst>
                  <a:outerShdw blurRad="38100" dist="38100" dir="2700000" algn="tl">
                    <a:srgbClr val="000000">
                      <a:alpha val="43137"/>
                    </a:srgbClr>
                  </a:outerShdw>
                </a:effectLst>
              </a:rPr>
              <a:t>Exclusive-NOR Gate</a:t>
            </a:r>
            <a:endParaRPr lang="en-IN" sz="3200" b="1" dirty="0">
              <a:solidFill>
                <a:schemeClr val="bg1"/>
              </a:solidFill>
              <a:effectLst>
                <a:outerShdw blurRad="38100" dist="38100" dir="2700000" algn="tl">
                  <a:srgbClr val="000000">
                    <a:alpha val="43137"/>
                  </a:srgbClr>
                </a:outerShdw>
              </a:effectLst>
            </a:endParaRPr>
          </a:p>
        </p:txBody>
      </p:sp>
      <p:sp>
        <p:nvSpPr>
          <p:cNvPr id="3" name="Rectangle 3"/>
          <p:cNvSpPr>
            <a:spLocks noChangeArrowheads="1"/>
          </p:cNvSpPr>
          <p:nvPr/>
        </p:nvSpPr>
        <p:spPr bwMode="auto">
          <a:xfrm>
            <a:off x="7873985" y="2352671"/>
            <a:ext cx="1139736" cy="615553"/>
          </a:xfrm>
          <a:prstGeom prst="rect">
            <a:avLst/>
          </a:prstGeom>
          <a:noFill/>
          <a:ln w="9525">
            <a:noFill/>
            <a:miter lim="800000"/>
            <a:headEnd/>
            <a:tailEnd/>
          </a:ln>
        </p:spPr>
        <p:txBody>
          <a:bodyPr wrap="none" lIns="0" tIns="0" rIns="0" bIns="0">
            <a:spAutoFit/>
          </a:bodyPr>
          <a:lstStyle/>
          <a:p>
            <a:r>
              <a:rPr lang="en-US" sz="4000" b="1" dirty="0">
                <a:solidFill>
                  <a:srgbClr val="FF0000"/>
                </a:solidFill>
                <a:effectLst>
                  <a:outerShdw blurRad="38100" dist="38100" dir="2700000" algn="tl">
                    <a:srgbClr val="000000">
                      <a:alpha val="43137"/>
                    </a:srgbClr>
                  </a:outerShdw>
                </a:effectLst>
              </a:rPr>
              <a:t>X Y  Z</a:t>
            </a:r>
          </a:p>
        </p:txBody>
      </p:sp>
      <p:sp>
        <p:nvSpPr>
          <p:cNvPr id="4" name="Line 120"/>
          <p:cNvSpPr>
            <a:spLocks noChangeShapeType="1"/>
          </p:cNvSpPr>
          <p:nvPr/>
        </p:nvSpPr>
        <p:spPr bwMode="auto">
          <a:xfrm>
            <a:off x="8631224" y="2289170"/>
            <a:ext cx="1587" cy="2332038"/>
          </a:xfrm>
          <a:prstGeom prst="line">
            <a:avLst/>
          </a:prstGeom>
          <a:noFill/>
          <a:ln w="25400">
            <a:solidFill>
              <a:srgbClr val="000000"/>
            </a:solidFill>
            <a:round/>
            <a:headEnd/>
            <a:tailEnd/>
          </a:ln>
        </p:spPr>
        <p:txBody>
          <a:bodyPr/>
          <a:lstStyle/>
          <a:p>
            <a:endParaRPr lang="en-IN" sz="4000" b="1">
              <a:solidFill>
                <a:schemeClr val="bg1"/>
              </a:solidFill>
              <a:effectLst>
                <a:outerShdw blurRad="38100" dist="38100" dir="2700000" algn="tl">
                  <a:srgbClr val="000000">
                    <a:alpha val="43137"/>
                  </a:srgbClr>
                </a:outerShdw>
              </a:effectLst>
            </a:endParaRPr>
          </a:p>
        </p:txBody>
      </p:sp>
      <p:sp>
        <p:nvSpPr>
          <p:cNvPr id="5" name="Rectangle 121"/>
          <p:cNvSpPr>
            <a:spLocks noChangeArrowheads="1"/>
          </p:cNvSpPr>
          <p:nvPr/>
        </p:nvSpPr>
        <p:spPr bwMode="auto">
          <a:xfrm>
            <a:off x="4257660" y="2187571"/>
            <a:ext cx="1255152" cy="615553"/>
          </a:xfrm>
          <a:prstGeom prst="rect">
            <a:avLst/>
          </a:prstGeom>
          <a:noFill/>
          <a:ln w="9525">
            <a:noFill/>
            <a:miter lim="800000"/>
            <a:headEnd/>
            <a:tailEnd/>
          </a:ln>
        </p:spPr>
        <p:txBody>
          <a:bodyPr wrap="square" lIns="0" tIns="0" rIns="0" bIns="0">
            <a:spAutoFit/>
          </a:bodyPr>
          <a:lstStyle/>
          <a:p>
            <a:r>
              <a:rPr lang="en-US" sz="4000" b="1" dirty="0">
                <a:solidFill>
                  <a:srgbClr val="FF0000"/>
                </a:solidFill>
                <a:effectLst>
                  <a:outerShdw blurRad="38100" dist="38100" dir="2700000" algn="tl">
                    <a:srgbClr val="000000">
                      <a:alpha val="43137"/>
                    </a:srgbClr>
                  </a:outerShdw>
                </a:effectLst>
              </a:rPr>
              <a:t>XNOR</a:t>
            </a:r>
          </a:p>
        </p:txBody>
      </p:sp>
      <p:sp>
        <p:nvSpPr>
          <p:cNvPr id="6" name="Rectangle 122"/>
          <p:cNvSpPr>
            <a:spLocks noChangeArrowheads="1"/>
          </p:cNvSpPr>
          <p:nvPr/>
        </p:nvSpPr>
        <p:spPr bwMode="auto">
          <a:xfrm>
            <a:off x="3648061" y="2714621"/>
            <a:ext cx="282129" cy="615553"/>
          </a:xfrm>
          <a:prstGeom prst="rect">
            <a:avLst/>
          </a:prstGeom>
          <a:noFill/>
          <a:ln w="9525">
            <a:noFill/>
            <a:miter lim="800000"/>
            <a:headEnd/>
            <a:tailEnd/>
          </a:ln>
        </p:spPr>
        <p:txBody>
          <a:bodyPr wrap="none" lIns="0" tIns="0" rIns="0" bIns="0">
            <a:spAutoFit/>
          </a:bodyPr>
          <a:lstStyle/>
          <a:p>
            <a:r>
              <a:rPr lang="en-US" sz="4000" b="1">
                <a:solidFill>
                  <a:schemeClr val="bg1"/>
                </a:solidFill>
                <a:effectLst>
                  <a:outerShdw blurRad="38100" dist="38100" dir="2700000" algn="tl">
                    <a:srgbClr val="000000">
                      <a:alpha val="43137"/>
                    </a:srgbClr>
                  </a:outerShdw>
                </a:effectLst>
              </a:rPr>
              <a:t>X</a:t>
            </a:r>
          </a:p>
        </p:txBody>
      </p:sp>
      <p:sp>
        <p:nvSpPr>
          <p:cNvPr id="7" name="Rectangle 123"/>
          <p:cNvSpPr>
            <a:spLocks noChangeArrowheads="1"/>
          </p:cNvSpPr>
          <p:nvPr/>
        </p:nvSpPr>
        <p:spPr bwMode="auto">
          <a:xfrm>
            <a:off x="3648060" y="3171821"/>
            <a:ext cx="266098" cy="615553"/>
          </a:xfrm>
          <a:prstGeom prst="rect">
            <a:avLst/>
          </a:prstGeom>
          <a:noFill/>
          <a:ln w="9525">
            <a:noFill/>
            <a:miter lim="800000"/>
            <a:headEnd/>
            <a:tailEnd/>
          </a:ln>
        </p:spPr>
        <p:txBody>
          <a:bodyPr wrap="none" lIns="0" tIns="0" rIns="0" bIns="0">
            <a:spAutoFit/>
          </a:bodyPr>
          <a:lstStyle/>
          <a:p>
            <a:r>
              <a:rPr lang="en-US" sz="4000" b="1">
                <a:solidFill>
                  <a:schemeClr val="bg1"/>
                </a:solidFill>
                <a:effectLst>
                  <a:outerShdw blurRad="38100" dist="38100" dir="2700000" algn="tl">
                    <a:srgbClr val="000000">
                      <a:alpha val="43137"/>
                    </a:srgbClr>
                  </a:outerShdw>
                </a:effectLst>
              </a:rPr>
              <a:t>Y</a:t>
            </a:r>
          </a:p>
        </p:txBody>
      </p:sp>
      <p:sp>
        <p:nvSpPr>
          <p:cNvPr id="8" name="Rectangle 124"/>
          <p:cNvSpPr>
            <a:spLocks noChangeArrowheads="1"/>
          </p:cNvSpPr>
          <p:nvPr/>
        </p:nvSpPr>
        <p:spPr bwMode="auto">
          <a:xfrm>
            <a:off x="5705460" y="2943221"/>
            <a:ext cx="245260" cy="615553"/>
          </a:xfrm>
          <a:prstGeom prst="rect">
            <a:avLst/>
          </a:prstGeom>
          <a:noFill/>
          <a:ln w="9525">
            <a:noFill/>
            <a:miter lim="800000"/>
            <a:headEnd/>
            <a:tailEnd/>
          </a:ln>
        </p:spPr>
        <p:txBody>
          <a:bodyPr wrap="none" lIns="0" tIns="0" rIns="0" bIns="0">
            <a:spAutoFit/>
          </a:bodyPr>
          <a:lstStyle/>
          <a:p>
            <a:r>
              <a:rPr lang="en-US" sz="4000" b="1">
                <a:solidFill>
                  <a:schemeClr val="bg1"/>
                </a:solidFill>
                <a:effectLst>
                  <a:outerShdw blurRad="38100" dist="38100" dir="2700000" algn="tl">
                    <a:srgbClr val="000000">
                      <a:alpha val="43137"/>
                    </a:srgbClr>
                  </a:outerShdw>
                </a:effectLst>
              </a:rPr>
              <a:t>Z</a:t>
            </a:r>
          </a:p>
        </p:txBody>
      </p:sp>
      <p:sp>
        <p:nvSpPr>
          <p:cNvPr id="9" name="Rectangle 126"/>
          <p:cNvSpPr>
            <a:spLocks noChangeArrowheads="1"/>
          </p:cNvSpPr>
          <p:nvPr/>
        </p:nvSpPr>
        <p:spPr bwMode="auto">
          <a:xfrm>
            <a:off x="7873985" y="3036884"/>
            <a:ext cx="1125308" cy="615553"/>
          </a:xfrm>
          <a:prstGeom prst="rect">
            <a:avLst/>
          </a:prstGeom>
          <a:noFill/>
          <a:ln w="9525">
            <a:noFill/>
            <a:miter lim="800000"/>
            <a:headEnd/>
            <a:tailEnd/>
          </a:ln>
        </p:spPr>
        <p:txBody>
          <a:bodyPr wrap="square" lIns="0" tIns="0" rIns="0" bIns="0">
            <a:spAutoFit/>
          </a:bodyPr>
          <a:lstStyle/>
          <a:p>
            <a:r>
              <a:rPr lang="en-US" sz="4000" b="1" dirty="0">
                <a:solidFill>
                  <a:srgbClr val="FF0000"/>
                </a:solidFill>
                <a:effectLst>
                  <a:outerShdw blurRad="38100" dist="38100" dir="2700000" algn="tl">
                    <a:srgbClr val="000000">
                      <a:alpha val="43137"/>
                    </a:srgbClr>
                  </a:outerShdw>
                </a:effectLst>
              </a:rPr>
              <a:t>0 0  1</a:t>
            </a:r>
          </a:p>
        </p:txBody>
      </p:sp>
      <p:sp>
        <p:nvSpPr>
          <p:cNvPr id="10" name="Rectangle 127"/>
          <p:cNvSpPr>
            <a:spLocks noChangeArrowheads="1"/>
          </p:cNvSpPr>
          <p:nvPr/>
        </p:nvSpPr>
        <p:spPr bwMode="auto">
          <a:xfrm>
            <a:off x="7873985" y="3416296"/>
            <a:ext cx="1125308" cy="615553"/>
          </a:xfrm>
          <a:prstGeom prst="rect">
            <a:avLst/>
          </a:prstGeom>
          <a:noFill/>
          <a:ln w="9525">
            <a:noFill/>
            <a:miter lim="800000"/>
            <a:headEnd/>
            <a:tailEnd/>
          </a:ln>
        </p:spPr>
        <p:txBody>
          <a:bodyPr wrap="none" lIns="0" tIns="0" rIns="0" bIns="0">
            <a:spAutoFit/>
          </a:bodyPr>
          <a:lstStyle/>
          <a:p>
            <a:r>
              <a:rPr lang="en-US" sz="4000" b="1" dirty="0">
                <a:solidFill>
                  <a:srgbClr val="FF0000"/>
                </a:solidFill>
                <a:effectLst>
                  <a:outerShdw blurRad="38100" dist="38100" dir="2700000" algn="tl">
                    <a:srgbClr val="000000">
                      <a:alpha val="43137"/>
                    </a:srgbClr>
                  </a:outerShdw>
                </a:effectLst>
              </a:rPr>
              <a:t>0 1  0</a:t>
            </a:r>
          </a:p>
        </p:txBody>
      </p:sp>
      <p:sp>
        <p:nvSpPr>
          <p:cNvPr id="11" name="Rectangle 128"/>
          <p:cNvSpPr>
            <a:spLocks noChangeArrowheads="1"/>
          </p:cNvSpPr>
          <p:nvPr/>
        </p:nvSpPr>
        <p:spPr bwMode="auto">
          <a:xfrm>
            <a:off x="7873985" y="3797296"/>
            <a:ext cx="1125308" cy="615553"/>
          </a:xfrm>
          <a:prstGeom prst="rect">
            <a:avLst/>
          </a:prstGeom>
          <a:noFill/>
          <a:ln w="9525">
            <a:noFill/>
            <a:miter lim="800000"/>
            <a:headEnd/>
            <a:tailEnd/>
          </a:ln>
        </p:spPr>
        <p:txBody>
          <a:bodyPr wrap="none" lIns="0" tIns="0" rIns="0" bIns="0">
            <a:spAutoFit/>
          </a:bodyPr>
          <a:lstStyle/>
          <a:p>
            <a:r>
              <a:rPr lang="en-US" sz="4000" b="1" dirty="0">
                <a:solidFill>
                  <a:srgbClr val="FF0000"/>
                </a:solidFill>
                <a:effectLst>
                  <a:outerShdw blurRad="38100" dist="38100" dir="2700000" algn="tl">
                    <a:srgbClr val="000000">
                      <a:alpha val="43137"/>
                    </a:srgbClr>
                  </a:outerShdw>
                </a:effectLst>
              </a:rPr>
              <a:t>1 0  0</a:t>
            </a:r>
          </a:p>
        </p:txBody>
      </p:sp>
      <p:sp>
        <p:nvSpPr>
          <p:cNvPr id="12" name="Rectangle 129"/>
          <p:cNvSpPr>
            <a:spLocks noChangeArrowheads="1"/>
          </p:cNvSpPr>
          <p:nvPr/>
        </p:nvSpPr>
        <p:spPr bwMode="auto">
          <a:xfrm>
            <a:off x="7873985" y="4176709"/>
            <a:ext cx="1125308" cy="615553"/>
          </a:xfrm>
          <a:prstGeom prst="rect">
            <a:avLst/>
          </a:prstGeom>
          <a:noFill/>
          <a:ln w="9525">
            <a:noFill/>
            <a:miter lim="800000"/>
            <a:headEnd/>
            <a:tailEnd/>
          </a:ln>
        </p:spPr>
        <p:txBody>
          <a:bodyPr wrap="none" lIns="0" tIns="0" rIns="0" bIns="0">
            <a:spAutoFit/>
          </a:bodyPr>
          <a:lstStyle/>
          <a:p>
            <a:r>
              <a:rPr lang="en-US" sz="4000" b="1" dirty="0">
                <a:solidFill>
                  <a:srgbClr val="FF0000"/>
                </a:solidFill>
                <a:effectLst>
                  <a:outerShdw blurRad="38100" dist="38100" dir="2700000" algn="tl">
                    <a:srgbClr val="000000">
                      <a:alpha val="43137"/>
                    </a:srgbClr>
                  </a:outerShdw>
                </a:effectLst>
              </a:rPr>
              <a:t>1 1  </a:t>
            </a:r>
            <a:r>
              <a:rPr lang="en-US" sz="4000" b="1" dirty="0">
                <a:solidFill>
                  <a:schemeClr val="bg1"/>
                </a:solidFill>
                <a:effectLst>
                  <a:outerShdw blurRad="38100" dist="38100" dir="2700000" algn="tl">
                    <a:srgbClr val="000000">
                      <a:alpha val="43137"/>
                    </a:srgbClr>
                  </a:outerShdw>
                </a:effectLst>
              </a:rPr>
              <a:t>1</a:t>
            </a:r>
          </a:p>
        </p:txBody>
      </p:sp>
      <p:sp>
        <p:nvSpPr>
          <p:cNvPr id="13" name="Line 130"/>
          <p:cNvSpPr>
            <a:spLocks noChangeShapeType="1"/>
          </p:cNvSpPr>
          <p:nvPr/>
        </p:nvSpPr>
        <p:spPr bwMode="auto">
          <a:xfrm>
            <a:off x="7727935" y="3028716"/>
            <a:ext cx="1550988" cy="1587"/>
          </a:xfrm>
          <a:prstGeom prst="line">
            <a:avLst/>
          </a:prstGeom>
          <a:noFill/>
          <a:ln w="19050">
            <a:solidFill>
              <a:srgbClr val="000000"/>
            </a:solidFill>
            <a:round/>
            <a:headEnd/>
            <a:tailEnd/>
          </a:ln>
        </p:spPr>
        <p:txBody>
          <a:bodyPr/>
          <a:lstStyle/>
          <a:p>
            <a:endParaRPr lang="en-IN" sz="4000" b="1">
              <a:solidFill>
                <a:schemeClr val="bg1"/>
              </a:solidFill>
              <a:effectLst>
                <a:outerShdw blurRad="38100" dist="38100" dir="2700000" algn="tl">
                  <a:srgbClr val="000000">
                    <a:alpha val="43137"/>
                  </a:srgbClr>
                </a:outerShdw>
              </a:effectLst>
            </a:endParaRPr>
          </a:p>
        </p:txBody>
      </p:sp>
      <p:sp>
        <p:nvSpPr>
          <p:cNvPr id="14" name="Rectangle 131"/>
          <p:cNvSpPr>
            <a:spLocks noChangeArrowheads="1"/>
          </p:cNvSpPr>
          <p:nvPr/>
        </p:nvSpPr>
        <p:spPr bwMode="auto">
          <a:xfrm>
            <a:off x="3630598" y="3736971"/>
            <a:ext cx="2340384" cy="1846659"/>
          </a:xfrm>
          <a:prstGeom prst="rect">
            <a:avLst/>
          </a:prstGeom>
          <a:noFill/>
          <a:ln w="9525">
            <a:noFill/>
            <a:miter lim="800000"/>
            <a:headEnd/>
            <a:tailEnd/>
          </a:ln>
        </p:spPr>
        <p:txBody>
          <a:bodyPr wrap="none" lIns="0" tIns="0" rIns="0" bIns="0">
            <a:spAutoFit/>
          </a:bodyPr>
          <a:lstStyle/>
          <a:p>
            <a:r>
              <a:rPr lang="en-US" sz="4000" b="1" dirty="0">
                <a:solidFill>
                  <a:srgbClr val="FF0000"/>
                </a:solidFill>
                <a:effectLst>
                  <a:outerShdw blurRad="38100" dist="38100" dir="2700000" algn="tl">
                    <a:srgbClr val="000000">
                      <a:alpha val="43137"/>
                    </a:srgbClr>
                  </a:outerShdw>
                </a:effectLst>
              </a:rPr>
              <a:t>Z = ~(X ^ Y)</a:t>
            </a:r>
          </a:p>
          <a:p>
            <a:r>
              <a:rPr lang="en-US" sz="4000" b="1" dirty="0">
                <a:solidFill>
                  <a:srgbClr val="FF0000"/>
                </a:solidFill>
                <a:effectLst>
                  <a:outerShdw blurRad="38100" dist="38100" dir="2700000" algn="tl">
                    <a:srgbClr val="000000">
                      <a:alpha val="43137"/>
                    </a:srgbClr>
                  </a:outerShdw>
                </a:effectLst>
              </a:rPr>
              <a:t>Z = X ~^ Y</a:t>
            </a:r>
          </a:p>
          <a:p>
            <a:r>
              <a:rPr lang="en-US" sz="4000" b="1" dirty="0" err="1">
                <a:solidFill>
                  <a:srgbClr val="FF0000"/>
                </a:solidFill>
                <a:effectLst>
                  <a:outerShdw blurRad="38100" dist="38100" dir="2700000" algn="tl">
                    <a:srgbClr val="000000">
                      <a:alpha val="43137"/>
                    </a:srgbClr>
                  </a:outerShdw>
                </a:effectLst>
              </a:rPr>
              <a:t>xnor</a:t>
            </a:r>
            <a:r>
              <a:rPr lang="en-US" sz="4000" b="1" dirty="0">
                <a:solidFill>
                  <a:srgbClr val="FF0000"/>
                </a:solidFill>
                <a:effectLst>
                  <a:outerShdw blurRad="38100" dist="38100" dir="2700000" algn="tl">
                    <a:srgbClr val="000000">
                      <a:alpha val="43137"/>
                    </a:srgbClr>
                  </a:outerShdw>
                </a:effectLst>
              </a:rPr>
              <a:t>(Z,X,Y)</a:t>
            </a:r>
          </a:p>
        </p:txBody>
      </p:sp>
      <p:graphicFrame>
        <p:nvGraphicFramePr>
          <p:cNvPr id="15" name="Object 132"/>
          <p:cNvGraphicFramePr>
            <a:graphicFrameLocks noGrp="1" noChangeAspect="1"/>
          </p:cNvGraphicFramePr>
          <p:nvPr>
            <p:ph sz="half" idx="2"/>
          </p:nvPr>
        </p:nvGraphicFramePr>
        <p:xfrm>
          <a:off x="3952875" y="2714625"/>
          <a:ext cx="1652588" cy="839788"/>
        </p:xfrm>
        <a:graphic>
          <a:graphicData uri="http://schemas.openxmlformats.org/presentationml/2006/ole">
            <mc:AlternateContent xmlns:mc="http://schemas.openxmlformats.org/markup-compatibility/2006">
              <mc:Choice xmlns:v="urn:schemas-microsoft-com:vml" Requires="v">
                <p:oleObj name="Visio" r:id="rId2" imgW="1652626" imgH="839724" progId="">
                  <p:embed/>
                </p:oleObj>
              </mc:Choice>
              <mc:Fallback>
                <p:oleObj name="Visio" r:id="rId2" imgW="1652626" imgH="839724" progId="">
                  <p:embed/>
                  <p:pic>
                    <p:nvPicPr>
                      <p:cNvPr id="15" name="Object 1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75" y="2714625"/>
                        <a:ext cx="1652588" cy="83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advClick="0"/>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2952729" y="571480"/>
            <a:ext cx="6643734" cy="714380"/>
          </a:xfrm>
        </p:spPr>
        <p:style>
          <a:lnRef idx="0">
            <a:schemeClr val="accent1"/>
          </a:lnRef>
          <a:fillRef idx="3">
            <a:schemeClr val="accent1"/>
          </a:fillRef>
          <a:effectRef idx="3">
            <a:schemeClr val="accent1"/>
          </a:effectRef>
          <a:fontRef idx="minor">
            <a:schemeClr val="lt1"/>
          </a:fontRef>
        </p:style>
        <p:txBody>
          <a:bodyPr>
            <a:normAutofit/>
          </a:bodyPr>
          <a:lstStyle/>
          <a:p>
            <a:pPr eaLnBrk="1" hangingPunct="1"/>
            <a:r>
              <a:rPr lang="en-US" sz="3200" b="1" dirty="0">
                <a:solidFill>
                  <a:srgbClr val="FFFF00"/>
                </a:solidFill>
              </a:rPr>
              <a:t>Basic Theorem of Boolean Algebra</a:t>
            </a:r>
          </a:p>
        </p:txBody>
      </p:sp>
      <p:sp>
        <p:nvSpPr>
          <p:cNvPr id="36867" name="Line 4"/>
          <p:cNvSpPr>
            <a:spLocks noChangeShapeType="1"/>
          </p:cNvSpPr>
          <p:nvPr/>
        </p:nvSpPr>
        <p:spPr bwMode="auto">
          <a:xfrm>
            <a:off x="8959850" y="4848225"/>
            <a:ext cx="228600" cy="0"/>
          </a:xfrm>
          <a:prstGeom prst="line">
            <a:avLst/>
          </a:prstGeom>
          <a:noFill/>
          <a:ln w="9525">
            <a:solidFill>
              <a:schemeClr val="tx1"/>
            </a:solidFill>
            <a:round/>
            <a:headEnd/>
            <a:tailEnd/>
          </a:ln>
        </p:spPr>
        <p:txBody>
          <a:bodyPr/>
          <a:lstStyle/>
          <a:p>
            <a:endParaRPr lang="en-IN"/>
          </a:p>
        </p:txBody>
      </p:sp>
      <p:sp>
        <p:nvSpPr>
          <p:cNvPr id="36868" name="Rectangle 7"/>
          <p:cNvSpPr>
            <a:spLocks noChangeArrowheads="1"/>
          </p:cNvSpPr>
          <p:nvPr/>
        </p:nvSpPr>
        <p:spPr bwMode="auto">
          <a:xfrm>
            <a:off x="3452794" y="1857375"/>
            <a:ext cx="6529406" cy="4211638"/>
          </a:xfrm>
          <a:prstGeom prst="rect">
            <a:avLst/>
          </a:prstGeom>
          <a:noFill/>
          <a:ln w="9525">
            <a:noFill/>
            <a:miter lim="800000"/>
            <a:headEnd/>
            <a:tailEnd/>
          </a:ln>
        </p:spPr>
        <p:txBody>
          <a:bodyPr wrap="square" anchor="ctr">
            <a:spAutoFit/>
          </a:bodyPr>
          <a:lstStyle/>
          <a:p>
            <a:pPr algn="ctr"/>
            <a:endParaRPr lang="en-US" b="1" dirty="0">
              <a:solidFill>
                <a:schemeClr val="bg1"/>
              </a:solidFill>
              <a:effectLst>
                <a:outerShdw blurRad="38100" dist="38100" dir="2700000" algn="tl">
                  <a:srgbClr val="000000">
                    <a:alpha val="43137"/>
                  </a:srgbClr>
                </a:outerShdw>
              </a:effectLst>
            </a:endParaRPr>
          </a:p>
          <a:p>
            <a:r>
              <a:rPr lang="en-US" sz="3600" b="1" dirty="0">
                <a:solidFill>
                  <a:srgbClr val="FFFF00"/>
                </a:solidFill>
                <a:effectLst>
                  <a:outerShdw blurRad="38100" dist="38100" dir="2700000" algn="tl">
                    <a:srgbClr val="000000">
                      <a:alpha val="43137"/>
                    </a:srgbClr>
                  </a:outerShdw>
                </a:effectLst>
              </a:rPr>
              <a:t>T1 : Properties of 0</a:t>
            </a:r>
          </a:p>
          <a:p>
            <a:pPr lvl="1"/>
            <a:r>
              <a:rPr lang="en-US" sz="3600" b="1" dirty="0">
                <a:solidFill>
                  <a:srgbClr val="FF0000"/>
                </a:solidFill>
                <a:effectLst>
                  <a:outerShdw blurRad="38100" dist="38100" dir="2700000" algn="tl">
                    <a:srgbClr val="000000">
                      <a:alpha val="43137"/>
                    </a:srgbClr>
                  </a:outerShdw>
                </a:effectLst>
              </a:rPr>
              <a:t>(a) </a:t>
            </a:r>
            <a:r>
              <a:rPr lang="en-US" sz="3600" b="1" i="1" dirty="0">
                <a:solidFill>
                  <a:srgbClr val="FF0000"/>
                </a:solidFill>
                <a:effectLst>
                  <a:outerShdw blurRad="38100" dist="38100" dir="2700000" algn="tl">
                    <a:srgbClr val="000000">
                      <a:alpha val="43137"/>
                    </a:srgbClr>
                  </a:outerShdw>
                </a:effectLst>
              </a:rPr>
              <a:t>0 + A = A</a:t>
            </a:r>
            <a:r>
              <a:rPr lang="en-US" sz="3600" b="1" dirty="0">
                <a:solidFill>
                  <a:srgbClr val="FF0000"/>
                </a:solidFill>
                <a:effectLst>
                  <a:outerShdw blurRad="38100" dist="38100" dir="2700000" algn="tl">
                    <a:srgbClr val="000000">
                      <a:alpha val="43137"/>
                    </a:srgbClr>
                  </a:outerShdw>
                </a:effectLst>
              </a:rPr>
              <a:t> </a:t>
            </a:r>
            <a:br>
              <a:rPr lang="en-US" sz="3600" b="1" dirty="0">
                <a:solidFill>
                  <a:srgbClr val="FF0000"/>
                </a:solidFill>
                <a:effectLst>
                  <a:outerShdw blurRad="38100" dist="38100" dir="2700000" algn="tl">
                    <a:srgbClr val="000000">
                      <a:alpha val="43137"/>
                    </a:srgbClr>
                  </a:outerShdw>
                </a:effectLst>
              </a:rPr>
            </a:br>
            <a:r>
              <a:rPr lang="en-US" sz="3600" b="1" dirty="0">
                <a:solidFill>
                  <a:srgbClr val="FF0000"/>
                </a:solidFill>
                <a:effectLst>
                  <a:outerShdw blurRad="38100" dist="38100" dir="2700000" algn="tl">
                    <a:srgbClr val="000000">
                      <a:alpha val="43137"/>
                    </a:srgbClr>
                  </a:outerShdw>
                </a:effectLst>
              </a:rPr>
              <a:t>(b) </a:t>
            </a:r>
            <a:r>
              <a:rPr lang="en-US" sz="3600" b="1" i="1" dirty="0">
                <a:solidFill>
                  <a:srgbClr val="FF0000"/>
                </a:solidFill>
                <a:effectLst>
                  <a:outerShdw blurRad="38100" dist="38100" dir="2700000" algn="tl">
                    <a:srgbClr val="000000">
                      <a:alpha val="43137"/>
                    </a:srgbClr>
                  </a:outerShdw>
                </a:effectLst>
              </a:rPr>
              <a:t>0 A = 0</a:t>
            </a:r>
            <a:r>
              <a:rPr lang="en-US" sz="3600" b="1" dirty="0">
                <a:solidFill>
                  <a:srgbClr val="FF0000"/>
                </a:solidFill>
                <a:effectLst>
                  <a:outerShdw blurRad="38100" dist="38100" dir="2700000" algn="tl">
                    <a:srgbClr val="000000">
                      <a:alpha val="43137"/>
                    </a:srgbClr>
                  </a:outerShdw>
                </a:effectLst>
              </a:rPr>
              <a:t> </a:t>
            </a:r>
          </a:p>
          <a:p>
            <a:r>
              <a:rPr lang="en-US" sz="3600" b="1" dirty="0">
                <a:solidFill>
                  <a:srgbClr val="FFFF00"/>
                </a:solidFill>
                <a:effectLst>
                  <a:outerShdw blurRad="38100" dist="38100" dir="2700000" algn="tl">
                    <a:srgbClr val="000000">
                      <a:alpha val="43137"/>
                    </a:srgbClr>
                  </a:outerShdw>
                </a:effectLst>
              </a:rPr>
              <a:t>T2 : Properties of 1</a:t>
            </a:r>
          </a:p>
          <a:p>
            <a:pPr lvl="1"/>
            <a:r>
              <a:rPr lang="en-US" sz="3600" b="1" dirty="0">
                <a:solidFill>
                  <a:srgbClr val="FF0000"/>
                </a:solidFill>
                <a:effectLst>
                  <a:outerShdw blurRad="38100" dist="38100" dir="2700000" algn="tl">
                    <a:srgbClr val="000000">
                      <a:alpha val="43137"/>
                    </a:srgbClr>
                  </a:outerShdw>
                </a:effectLst>
              </a:rPr>
              <a:t>(a) </a:t>
            </a:r>
            <a:r>
              <a:rPr lang="en-US" sz="3600" b="1" i="1" dirty="0">
                <a:solidFill>
                  <a:srgbClr val="FF0000"/>
                </a:solidFill>
                <a:effectLst>
                  <a:outerShdw blurRad="38100" dist="38100" dir="2700000" algn="tl">
                    <a:srgbClr val="000000">
                      <a:alpha val="43137"/>
                    </a:srgbClr>
                  </a:outerShdw>
                </a:effectLst>
              </a:rPr>
              <a:t>1 + A = 1</a:t>
            </a:r>
            <a:r>
              <a:rPr lang="en-US" sz="3600" b="1" dirty="0">
                <a:solidFill>
                  <a:srgbClr val="FF0000"/>
                </a:solidFill>
                <a:effectLst>
                  <a:outerShdw blurRad="38100" dist="38100" dir="2700000" algn="tl">
                    <a:srgbClr val="000000">
                      <a:alpha val="43137"/>
                    </a:srgbClr>
                  </a:outerShdw>
                </a:effectLst>
              </a:rPr>
              <a:t> </a:t>
            </a:r>
            <a:br>
              <a:rPr lang="en-US" sz="3600" b="1" dirty="0">
                <a:solidFill>
                  <a:srgbClr val="FF0000"/>
                </a:solidFill>
                <a:effectLst>
                  <a:outerShdw blurRad="38100" dist="38100" dir="2700000" algn="tl">
                    <a:srgbClr val="000000">
                      <a:alpha val="43137"/>
                    </a:srgbClr>
                  </a:outerShdw>
                </a:effectLst>
              </a:rPr>
            </a:br>
            <a:r>
              <a:rPr lang="en-US" sz="3600" b="1" dirty="0">
                <a:solidFill>
                  <a:srgbClr val="FF0000"/>
                </a:solidFill>
                <a:effectLst>
                  <a:outerShdw blurRad="38100" dist="38100" dir="2700000" algn="tl">
                    <a:srgbClr val="000000">
                      <a:alpha val="43137"/>
                    </a:srgbClr>
                  </a:outerShdw>
                </a:effectLst>
              </a:rPr>
              <a:t>(b) </a:t>
            </a:r>
            <a:r>
              <a:rPr lang="en-US" sz="3600" b="1" i="1" dirty="0">
                <a:solidFill>
                  <a:srgbClr val="FF0000"/>
                </a:solidFill>
                <a:effectLst>
                  <a:outerShdw blurRad="38100" dist="38100" dir="2700000" algn="tl">
                    <a:srgbClr val="000000">
                      <a:alpha val="43137"/>
                    </a:srgbClr>
                  </a:outerShdw>
                </a:effectLst>
              </a:rPr>
              <a:t>1 A = A</a:t>
            </a:r>
            <a:r>
              <a:rPr lang="en-US" sz="3600" b="1" dirty="0">
                <a:solidFill>
                  <a:srgbClr val="FF0000"/>
                </a:solidFill>
                <a:effectLst>
                  <a:outerShdw blurRad="38100" dist="38100" dir="2700000" algn="tl">
                    <a:srgbClr val="000000">
                      <a:alpha val="43137"/>
                    </a:srgbClr>
                  </a:outerShdw>
                </a:effectLst>
              </a:rPr>
              <a:t> </a:t>
            </a:r>
          </a:p>
          <a:p>
            <a:pPr algn="ctr"/>
            <a:endParaRPr lang="en-US" sz="3600" b="1" dirty="0">
              <a:solidFill>
                <a:schemeClr val="bg1"/>
              </a:solidFill>
              <a:effectLst>
                <a:outerShdw blurRad="38100" dist="38100" dir="2700000" algn="tl">
                  <a:srgbClr val="000000">
                    <a:alpha val="43137"/>
                  </a:srgbClr>
                </a:outerShdw>
              </a:effectLst>
              <a:latin typeface="Arial" charset="0"/>
            </a:endParaRPr>
          </a:p>
        </p:txBody>
      </p:sp>
    </p:spTree>
  </p:cSld>
  <p:clrMapOvr>
    <a:masterClrMapping/>
  </p:clrMapOvr>
  <p:transition advClick="0"/>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2952728" y="428605"/>
            <a:ext cx="7143744" cy="642942"/>
          </a:xfrm>
        </p:spPr>
        <p:style>
          <a:lnRef idx="0">
            <a:schemeClr val="accent3"/>
          </a:lnRef>
          <a:fillRef idx="3">
            <a:schemeClr val="accent3"/>
          </a:fillRef>
          <a:effectRef idx="3">
            <a:schemeClr val="accent3"/>
          </a:effectRef>
          <a:fontRef idx="minor">
            <a:schemeClr val="lt1"/>
          </a:fontRef>
        </p:style>
        <p:txBody>
          <a:bodyPr>
            <a:normAutofit/>
          </a:bodyPr>
          <a:lstStyle/>
          <a:p>
            <a:pPr eaLnBrk="1" hangingPunct="1"/>
            <a:r>
              <a:rPr lang="en-US" sz="3200" b="1" dirty="0">
                <a:solidFill>
                  <a:schemeClr val="bg1"/>
                </a:solidFill>
              </a:rPr>
              <a:t>Basic Theorem of Boolean Algebra</a:t>
            </a:r>
          </a:p>
        </p:txBody>
      </p:sp>
      <p:sp>
        <p:nvSpPr>
          <p:cNvPr id="37891" name="Line 3"/>
          <p:cNvSpPr>
            <a:spLocks noChangeShapeType="1"/>
          </p:cNvSpPr>
          <p:nvPr/>
        </p:nvSpPr>
        <p:spPr bwMode="auto">
          <a:xfrm>
            <a:off x="8959850" y="4848225"/>
            <a:ext cx="228600" cy="0"/>
          </a:xfrm>
          <a:prstGeom prst="line">
            <a:avLst/>
          </a:prstGeom>
          <a:noFill/>
          <a:ln w="9525">
            <a:solidFill>
              <a:schemeClr val="tx1"/>
            </a:solidFill>
            <a:round/>
            <a:headEnd/>
            <a:tailEnd/>
          </a:ln>
        </p:spPr>
        <p:txBody>
          <a:bodyPr/>
          <a:lstStyle/>
          <a:p>
            <a:endParaRPr lang="en-IN"/>
          </a:p>
        </p:txBody>
      </p:sp>
      <p:sp>
        <p:nvSpPr>
          <p:cNvPr id="37892" name="Rectangle 5"/>
          <p:cNvSpPr>
            <a:spLocks noChangeArrowheads="1"/>
          </p:cNvSpPr>
          <p:nvPr/>
        </p:nvSpPr>
        <p:spPr bwMode="auto">
          <a:xfrm>
            <a:off x="2952728" y="1412875"/>
            <a:ext cx="7029472" cy="5016758"/>
          </a:xfrm>
          <a:prstGeom prst="rect">
            <a:avLst/>
          </a:prstGeom>
          <a:noFill/>
          <a:ln w="9525">
            <a:noFill/>
            <a:miter lim="800000"/>
            <a:headEnd/>
            <a:tailEnd/>
          </a:ln>
        </p:spPr>
        <p:txBody>
          <a:bodyPr wrap="square" anchor="ctr">
            <a:spAutoFit/>
          </a:bodyPr>
          <a:lstStyle/>
          <a:p>
            <a:r>
              <a:rPr lang="en-US" sz="3200" b="1" dirty="0">
                <a:solidFill>
                  <a:srgbClr val="FFFF00"/>
                </a:solidFill>
                <a:effectLst>
                  <a:outerShdw blurRad="38100" dist="38100" dir="2700000" algn="tl">
                    <a:srgbClr val="000000">
                      <a:alpha val="43137"/>
                    </a:srgbClr>
                  </a:outerShdw>
                </a:effectLst>
              </a:rPr>
              <a:t>T3 : Commutative Law </a:t>
            </a:r>
          </a:p>
          <a:p>
            <a:pPr lvl="1"/>
            <a:r>
              <a:rPr lang="en-US" sz="3200" b="1" dirty="0">
                <a:solidFill>
                  <a:srgbClr val="FF0000"/>
                </a:solidFill>
                <a:effectLst>
                  <a:outerShdw blurRad="38100" dist="38100" dir="2700000" algn="tl">
                    <a:srgbClr val="000000">
                      <a:alpha val="43137"/>
                    </a:srgbClr>
                  </a:outerShdw>
                </a:effectLst>
              </a:rPr>
              <a:t>(a) </a:t>
            </a:r>
            <a:r>
              <a:rPr lang="en-US" sz="3200" b="1" i="1" dirty="0">
                <a:solidFill>
                  <a:srgbClr val="FF0000"/>
                </a:solidFill>
                <a:effectLst>
                  <a:outerShdw blurRad="38100" dist="38100" dir="2700000" algn="tl">
                    <a:srgbClr val="000000">
                      <a:alpha val="43137"/>
                    </a:srgbClr>
                  </a:outerShdw>
                </a:effectLst>
              </a:rPr>
              <a:t>A + B = B + A</a:t>
            </a:r>
            <a:br>
              <a:rPr lang="en-US" sz="3200" b="1" dirty="0">
                <a:solidFill>
                  <a:srgbClr val="FF000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(b) </a:t>
            </a:r>
            <a:r>
              <a:rPr lang="en-US" sz="3200" b="1" i="1" dirty="0">
                <a:solidFill>
                  <a:srgbClr val="FF0000"/>
                </a:solidFill>
                <a:effectLst>
                  <a:outerShdw blurRad="38100" dist="38100" dir="2700000" algn="tl">
                    <a:srgbClr val="000000">
                      <a:alpha val="43137"/>
                    </a:srgbClr>
                  </a:outerShdw>
                </a:effectLst>
              </a:rPr>
              <a:t>A B = B A</a:t>
            </a:r>
            <a:r>
              <a:rPr lang="en-US" sz="3200" b="1" dirty="0">
                <a:solidFill>
                  <a:srgbClr val="FF0000"/>
                </a:solidFill>
                <a:effectLst>
                  <a:outerShdw blurRad="38100" dist="38100" dir="2700000" algn="tl">
                    <a:srgbClr val="000000">
                      <a:alpha val="43137"/>
                    </a:srgbClr>
                  </a:outerShdw>
                </a:effectLst>
              </a:rPr>
              <a:t> </a:t>
            </a:r>
          </a:p>
          <a:p>
            <a:r>
              <a:rPr lang="en-US" sz="3200" b="1" dirty="0">
                <a:solidFill>
                  <a:srgbClr val="FFFF00"/>
                </a:solidFill>
                <a:effectLst>
                  <a:outerShdw blurRad="38100" dist="38100" dir="2700000" algn="tl">
                    <a:srgbClr val="000000">
                      <a:alpha val="43137"/>
                    </a:srgbClr>
                  </a:outerShdw>
                </a:effectLst>
              </a:rPr>
              <a:t>T4 : Associate Law </a:t>
            </a:r>
          </a:p>
          <a:p>
            <a:pPr lvl="1"/>
            <a:r>
              <a:rPr lang="en-US" sz="3200" b="1" dirty="0">
                <a:solidFill>
                  <a:srgbClr val="FF0000"/>
                </a:solidFill>
                <a:effectLst>
                  <a:outerShdw blurRad="38100" dist="38100" dir="2700000" algn="tl">
                    <a:srgbClr val="000000">
                      <a:alpha val="43137"/>
                    </a:srgbClr>
                  </a:outerShdw>
                </a:effectLst>
              </a:rPr>
              <a:t>(a) </a:t>
            </a:r>
            <a:r>
              <a:rPr lang="en-US" sz="3200" b="1" i="1" dirty="0">
                <a:solidFill>
                  <a:srgbClr val="FF0000"/>
                </a:solidFill>
                <a:effectLst>
                  <a:outerShdw blurRad="38100" dist="38100" dir="2700000" algn="tl">
                    <a:srgbClr val="000000">
                      <a:alpha val="43137"/>
                    </a:srgbClr>
                  </a:outerShdw>
                </a:effectLst>
              </a:rPr>
              <a:t>(A + B) + C = A + (B + C)</a:t>
            </a:r>
            <a:r>
              <a:rPr lang="en-US" sz="3200" b="1" dirty="0">
                <a:solidFill>
                  <a:srgbClr val="FF0000"/>
                </a:solidFill>
                <a:effectLst>
                  <a:outerShdw blurRad="38100" dist="38100" dir="2700000" algn="tl">
                    <a:srgbClr val="000000">
                      <a:alpha val="43137"/>
                    </a:srgbClr>
                  </a:outerShdw>
                </a:effectLst>
              </a:rPr>
              <a:t> </a:t>
            </a:r>
            <a:br>
              <a:rPr lang="en-US" sz="3200" b="1" dirty="0">
                <a:solidFill>
                  <a:srgbClr val="FF000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(b) </a:t>
            </a:r>
            <a:r>
              <a:rPr lang="en-US" sz="3200" b="1" i="1" dirty="0">
                <a:solidFill>
                  <a:srgbClr val="FF0000"/>
                </a:solidFill>
                <a:effectLst>
                  <a:outerShdw blurRad="38100" dist="38100" dir="2700000" algn="tl">
                    <a:srgbClr val="000000">
                      <a:alpha val="43137"/>
                    </a:srgbClr>
                  </a:outerShdw>
                </a:effectLst>
              </a:rPr>
              <a:t>(A B) C = A (B C)</a:t>
            </a:r>
            <a:r>
              <a:rPr lang="en-US" sz="3200" b="1" dirty="0">
                <a:solidFill>
                  <a:srgbClr val="FF0000"/>
                </a:solidFill>
                <a:effectLst>
                  <a:outerShdw blurRad="38100" dist="38100" dir="2700000" algn="tl">
                    <a:srgbClr val="000000">
                      <a:alpha val="43137"/>
                    </a:srgbClr>
                  </a:outerShdw>
                </a:effectLst>
              </a:rPr>
              <a:t> </a:t>
            </a:r>
          </a:p>
          <a:p>
            <a:r>
              <a:rPr lang="en-US" sz="3200" b="1" dirty="0">
                <a:solidFill>
                  <a:srgbClr val="FFFF00"/>
                </a:solidFill>
                <a:effectLst>
                  <a:outerShdw blurRad="38100" dist="38100" dir="2700000" algn="tl">
                    <a:srgbClr val="000000">
                      <a:alpha val="43137"/>
                    </a:srgbClr>
                  </a:outerShdw>
                </a:effectLst>
              </a:rPr>
              <a:t>T5 : Distributive Law </a:t>
            </a:r>
          </a:p>
          <a:p>
            <a:pPr lvl="1"/>
            <a:r>
              <a:rPr lang="en-US" sz="3200" b="1" dirty="0">
                <a:solidFill>
                  <a:srgbClr val="FF0000"/>
                </a:solidFill>
                <a:effectLst>
                  <a:outerShdw blurRad="38100" dist="38100" dir="2700000" algn="tl">
                    <a:srgbClr val="000000">
                      <a:alpha val="43137"/>
                    </a:srgbClr>
                  </a:outerShdw>
                </a:effectLst>
              </a:rPr>
              <a:t>(a) </a:t>
            </a:r>
            <a:r>
              <a:rPr lang="en-US" sz="3200" b="1" i="1" dirty="0">
                <a:solidFill>
                  <a:srgbClr val="FF0000"/>
                </a:solidFill>
                <a:effectLst>
                  <a:outerShdw blurRad="38100" dist="38100" dir="2700000" algn="tl">
                    <a:srgbClr val="000000">
                      <a:alpha val="43137"/>
                    </a:srgbClr>
                  </a:outerShdw>
                </a:effectLst>
              </a:rPr>
              <a:t>A (B + C) = A B + A C</a:t>
            </a:r>
            <a:br>
              <a:rPr lang="en-US" sz="3200" b="1" dirty="0">
                <a:solidFill>
                  <a:srgbClr val="FF000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(b) </a:t>
            </a:r>
            <a:r>
              <a:rPr lang="en-US" sz="3200" b="1" i="1" dirty="0">
                <a:solidFill>
                  <a:srgbClr val="FF0000"/>
                </a:solidFill>
                <a:effectLst>
                  <a:outerShdw blurRad="38100" dist="38100" dir="2700000" algn="tl">
                    <a:srgbClr val="000000">
                      <a:alpha val="43137"/>
                    </a:srgbClr>
                  </a:outerShdw>
                </a:effectLst>
              </a:rPr>
              <a:t>A + (B C) = (A + B) (A + C)</a:t>
            </a:r>
            <a:r>
              <a:rPr lang="en-US" sz="3200" b="1" dirty="0">
                <a:solidFill>
                  <a:srgbClr val="FF0000"/>
                </a:solidFill>
                <a:effectLst>
                  <a:outerShdw blurRad="38100" dist="38100" dir="2700000" algn="tl">
                    <a:srgbClr val="000000">
                      <a:alpha val="43137"/>
                    </a:srgbClr>
                  </a:outerShdw>
                </a:effectLst>
              </a:rPr>
              <a:t> </a:t>
            </a:r>
          </a:p>
          <a:p>
            <a:pPr lvl="1"/>
            <a:r>
              <a:rPr lang="en-US" sz="3200" b="1" dirty="0">
                <a:solidFill>
                  <a:srgbClr val="FF0000"/>
                </a:solidFill>
                <a:effectLst>
                  <a:outerShdw blurRad="38100" dist="38100" dir="2700000" algn="tl">
                    <a:srgbClr val="000000">
                      <a:alpha val="43137"/>
                    </a:srgbClr>
                  </a:outerShdw>
                </a:effectLst>
              </a:rPr>
              <a:t>(c) A+A’B = A+B</a:t>
            </a:r>
            <a:endParaRPr lang="en-US" sz="3200" b="1" dirty="0">
              <a:solidFill>
                <a:srgbClr val="FF0000"/>
              </a:solidFill>
              <a:effectLst>
                <a:outerShdw blurRad="38100" dist="38100" dir="2700000" algn="tl">
                  <a:srgbClr val="000000">
                    <a:alpha val="43137"/>
                  </a:srgbClr>
                </a:outerShdw>
              </a:effectLst>
              <a:latin typeface="Arial" charset="0"/>
            </a:endParaRPr>
          </a:p>
        </p:txBody>
      </p:sp>
    </p:spTree>
  </p:cSld>
  <p:clrMapOvr>
    <a:masterClrMapping/>
  </p:clrMapOvr>
  <p:transition advClick="0"/>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Line 3"/>
          <p:cNvSpPr>
            <a:spLocks noChangeShapeType="1"/>
          </p:cNvSpPr>
          <p:nvPr/>
        </p:nvSpPr>
        <p:spPr bwMode="auto">
          <a:xfrm>
            <a:off x="8959850" y="4848225"/>
            <a:ext cx="228600" cy="0"/>
          </a:xfrm>
          <a:prstGeom prst="line">
            <a:avLst/>
          </a:prstGeom>
          <a:noFill/>
          <a:ln w="9525">
            <a:solidFill>
              <a:schemeClr val="tx1"/>
            </a:solidFill>
            <a:round/>
            <a:headEnd/>
            <a:tailEnd/>
          </a:ln>
        </p:spPr>
        <p:txBody>
          <a:bodyPr/>
          <a:lstStyle/>
          <a:p>
            <a:endParaRPr lang="en-IN"/>
          </a:p>
        </p:txBody>
      </p:sp>
      <p:sp>
        <p:nvSpPr>
          <p:cNvPr id="38916" name="Rectangle 4"/>
          <p:cNvSpPr>
            <a:spLocks noChangeArrowheads="1"/>
          </p:cNvSpPr>
          <p:nvPr/>
        </p:nvSpPr>
        <p:spPr bwMode="auto">
          <a:xfrm>
            <a:off x="2881290" y="2041526"/>
            <a:ext cx="7100910" cy="4031873"/>
          </a:xfrm>
          <a:prstGeom prst="rect">
            <a:avLst/>
          </a:prstGeom>
          <a:noFill/>
          <a:ln w="9525">
            <a:noFill/>
            <a:miter lim="800000"/>
            <a:headEnd/>
            <a:tailEnd/>
          </a:ln>
        </p:spPr>
        <p:txBody>
          <a:bodyPr wrap="square" anchor="ctr">
            <a:spAutoFit/>
          </a:bodyPr>
          <a:lstStyle/>
          <a:p>
            <a:endParaRPr lang="en-US" sz="3200" b="1" dirty="0">
              <a:solidFill>
                <a:schemeClr val="bg1"/>
              </a:solidFill>
              <a:effectLst>
                <a:outerShdw blurRad="38100" dist="38100" dir="2700000" algn="tl">
                  <a:srgbClr val="000000">
                    <a:alpha val="43137"/>
                  </a:srgbClr>
                </a:outerShdw>
              </a:effectLst>
            </a:endParaRPr>
          </a:p>
          <a:p>
            <a:r>
              <a:rPr lang="en-US" sz="3200" b="1" dirty="0">
                <a:solidFill>
                  <a:srgbClr val="FFFF00"/>
                </a:solidFill>
                <a:effectLst>
                  <a:outerShdw blurRad="38100" dist="38100" dir="2700000" algn="tl">
                    <a:srgbClr val="000000">
                      <a:alpha val="43137"/>
                    </a:srgbClr>
                  </a:outerShdw>
                </a:effectLst>
              </a:rPr>
              <a:t>T6 : </a:t>
            </a:r>
            <a:r>
              <a:rPr lang="en-US" sz="3200" b="1" dirty="0" err="1">
                <a:solidFill>
                  <a:srgbClr val="FFFF00"/>
                </a:solidFill>
                <a:effectLst>
                  <a:outerShdw blurRad="38100" dist="38100" dir="2700000" algn="tl">
                    <a:srgbClr val="000000">
                      <a:alpha val="43137"/>
                    </a:srgbClr>
                  </a:outerShdw>
                </a:effectLst>
              </a:rPr>
              <a:t>Indempotence</a:t>
            </a:r>
            <a:r>
              <a:rPr lang="en-US" sz="3200" b="1" dirty="0">
                <a:solidFill>
                  <a:srgbClr val="FFFF00"/>
                </a:solidFill>
                <a:effectLst>
                  <a:outerShdw blurRad="38100" dist="38100" dir="2700000" algn="tl">
                    <a:srgbClr val="000000">
                      <a:alpha val="43137"/>
                    </a:srgbClr>
                  </a:outerShdw>
                </a:effectLst>
              </a:rPr>
              <a:t> (Identity ) Law </a:t>
            </a:r>
          </a:p>
          <a:p>
            <a:pPr lvl="1"/>
            <a:r>
              <a:rPr lang="en-US" sz="3200" b="1" dirty="0">
                <a:solidFill>
                  <a:srgbClr val="FF0000"/>
                </a:solidFill>
                <a:effectLst>
                  <a:outerShdw blurRad="38100" dist="38100" dir="2700000" algn="tl">
                    <a:srgbClr val="000000">
                      <a:alpha val="43137"/>
                    </a:srgbClr>
                  </a:outerShdw>
                </a:effectLst>
              </a:rPr>
              <a:t>(a) </a:t>
            </a:r>
            <a:r>
              <a:rPr lang="en-US" sz="3200" b="1" i="1" dirty="0">
                <a:solidFill>
                  <a:srgbClr val="FF0000"/>
                </a:solidFill>
                <a:effectLst>
                  <a:outerShdw blurRad="38100" dist="38100" dir="2700000" algn="tl">
                    <a:srgbClr val="000000">
                      <a:alpha val="43137"/>
                    </a:srgbClr>
                  </a:outerShdw>
                </a:effectLst>
              </a:rPr>
              <a:t>A + A = A</a:t>
            </a:r>
            <a:r>
              <a:rPr lang="en-US" sz="3200" b="1" dirty="0">
                <a:solidFill>
                  <a:srgbClr val="FF0000"/>
                </a:solidFill>
                <a:effectLst>
                  <a:outerShdw blurRad="38100" dist="38100" dir="2700000" algn="tl">
                    <a:srgbClr val="000000">
                      <a:alpha val="43137"/>
                    </a:srgbClr>
                  </a:outerShdw>
                </a:effectLst>
              </a:rPr>
              <a:t> </a:t>
            </a:r>
            <a:br>
              <a:rPr lang="en-US" sz="3200" b="1" dirty="0">
                <a:solidFill>
                  <a:srgbClr val="FF000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(b) </a:t>
            </a:r>
            <a:r>
              <a:rPr lang="en-US" sz="3200" b="1" i="1" dirty="0">
                <a:solidFill>
                  <a:srgbClr val="FF0000"/>
                </a:solidFill>
                <a:effectLst>
                  <a:outerShdw blurRad="38100" dist="38100" dir="2700000" algn="tl">
                    <a:srgbClr val="000000">
                      <a:alpha val="43137"/>
                    </a:srgbClr>
                  </a:outerShdw>
                </a:effectLst>
              </a:rPr>
              <a:t>A </a:t>
            </a:r>
            <a:r>
              <a:rPr lang="en-US" sz="3200" b="1" i="1" dirty="0" err="1">
                <a:solidFill>
                  <a:srgbClr val="FF0000"/>
                </a:solidFill>
                <a:effectLst>
                  <a:outerShdw blurRad="38100" dist="38100" dir="2700000" algn="tl">
                    <a:srgbClr val="000000">
                      <a:alpha val="43137"/>
                    </a:srgbClr>
                  </a:outerShdw>
                </a:effectLst>
              </a:rPr>
              <a:t>A</a:t>
            </a:r>
            <a:r>
              <a:rPr lang="en-US" sz="3200" b="1" i="1" dirty="0">
                <a:solidFill>
                  <a:srgbClr val="FF0000"/>
                </a:solidFill>
                <a:effectLst>
                  <a:outerShdw blurRad="38100" dist="38100" dir="2700000" algn="tl">
                    <a:srgbClr val="000000">
                      <a:alpha val="43137"/>
                    </a:srgbClr>
                  </a:outerShdw>
                </a:effectLst>
              </a:rPr>
              <a:t> = A</a:t>
            </a:r>
            <a:r>
              <a:rPr lang="en-US" sz="3200" b="1" dirty="0">
                <a:solidFill>
                  <a:srgbClr val="FF0000"/>
                </a:solidFill>
                <a:effectLst>
                  <a:outerShdw blurRad="38100" dist="38100" dir="2700000" algn="tl">
                    <a:srgbClr val="000000">
                      <a:alpha val="43137"/>
                    </a:srgbClr>
                  </a:outerShdw>
                </a:effectLst>
              </a:rPr>
              <a:t> </a:t>
            </a:r>
          </a:p>
          <a:p>
            <a:pPr lvl="2"/>
            <a:endParaRPr lang="en-US" sz="3200" b="1" dirty="0">
              <a:solidFill>
                <a:schemeClr val="bg1"/>
              </a:solidFill>
              <a:effectLst>
                <a:outerShdw blurRad="38100" dist="38100" dir="2700000" algn="tl">
                  <a:srgbClr val="000000">
                    <a:alpha val="43137"/>
                  </a:srgbClr>
                </a:outerShdw>
              </a:effectLst>
            </a:endParaRPr>
          </a:p>
          <a:p>
            <a:r>
              <a:rPr lang="en-US" sz="3200" b="1" dirty="0">
                <a:solidFill>
                  <a:srgbClr val="FFFF00"/>
                </a:solidFill>
                <a:effectLst>
                  <a:outerShdw blurRad="38100" dist="38100" dir="2700000" algn="tl">
                    <a:srgbClr val="000000">
                      <a:alpha val="43137"/>
                    </a:srgbClr>
                  </a:outerShdw>
                </a:effectLst>
              </a:rPr>
              <a:t>T7 : Absorption (</a:t>
            </a:r>
            <a:r>
              <a:rPr lang="en-US" sz="3200" b="1" dirty="0" err="1">
                <a:solidFill>
                  <a:srgbClr val="FFFF00"/>
                </a:solidFill>
                <a:effectLst>
                  <a:outerShdw blurRad="38100" dist="38100" dir="2700000" algn="tl">
                    <a:srgbClr val="000000">
                      <a:alpha val="43137"/>
                    </a:srgbClr>
                  </a:outerShdw>
                </a:effectLst>
              </a:rPr>
              <a:t>Redundance</a:t>
            </a:r>
            <a:r>
              <a:rPr lang="en-US" sz="3200" b="1" dirty="0">
                <a:solidFill>
                  <a:srgbClr val="FFFF00"/>
                </a:solidFill>
                <a:effectLst>
                  <a:outerShdw blurRad="38100" dist="38100" dir="2700000" algn="tl">
                    <a:srgbClr val="000000">
                      <a:alpha val="43137"/>
                    </a:srgbClr>
                  </a:outerShdw>
                </a:effectLst>
              </a:rPr>
              <a:t>) Law </a:t>
            </a:r>
          </a:p>
          <a:p>
            <a:pPr lvl="1"/>
            <a:r>
              <a:rPr lang="en-US" sz="3200" b="1" dirty="0">
                <a:solidFill>
                  <a:srgbClr val="FF0000"/>
                </a:solidFill>
                <a:effectLst>
                  <a:outerShdw blurRad="38100" dist="38100" dir="2700000" algn="tl">
                    <a:srgbClr val="000000">
                      <a:alpha val="43137"/>
                    </a:srgbClr>
                  </a:outerShdw>
                </a:effectLst>
              </a:rPr>
              <a:t>(a) </a:t>
            </a:r>
            <a:r>
              <a:rPr lang="en-US" sz="3200" b="1" i="1" dirty="0">
                <a:solidFill>
                  <a:srgbClr val="FF0000"/>
                </a:solidFill>
                <a:effectLst>
                  <a:outerShdw blurRad="38100" dist="38100" dir="2700000" algn="tl">
                    <a:srgbClr val="000000">
                      <a:alpha val="43137"/>
                    </a:srgbClr>
                  </a:outerShdw>
                </a:effectLst>
              </a:rPr>
              <a:t>A + A B = A</a:t>
            </a:r>
            <a:r>
              <a:rPr lang="en-US" sz="3200" b="1" dirty="0">
                <a:solidFill>
                  <a:srgbClr val="FF0000"/>
                </a:solidFill>
                <a:effectLst>
                  <a:outerShdw blurRad="38100" dist="38100" dir="2700000" algn="tl">
                    <a:srgbClr val="000000">
                      <a:alpha val="43137"/>
                    </a:srgbClr>
                  </a:outerShdw>
                </a:effectLst>
              </a:rPr>
              <a:t> </a:t>
            </a:r>
            <a:br>
              <a:rPr lang="en-US" sz="3200" b="1" dirty="0">
                <a:solidFill>
                  <a:srgbClr val="FF0000"/>
                </a:solidFill>
                <a:effectLst>
                  <a:outerShdw blurRad="38100" dist="38100" dir="2700000" algn="tl">
                    <a:srgbClr val="000000">
                      <a:alpha val="43137"/>
                    </a:srgbClr>
                  </a:outerShdw>
                </a:effectLst>
              </a:rPr>
            </a:br>
            <a:r>
              <a:rPr lang="en-US" sz="3200" b="1" dirty="0">
                <a:solidFill>
                  <a:srgbClr val="FF0000"/>
                </a:solidFill>
                <a:effectLst>
                  <a:outerShdw blurRad="38100" dist="38100" dir="2700000" algn="tl">
                    <a:srgbClr val="000000">
                      <a:alpha val="43137"/>
                    </a:srgbClr>
                  </a:outerShdw>
                </a:effectLst>
              </a:rPr>
              <a:t>(b) </a:t>
            </a:r>
            <a:r>
              <a:rPr lang="en-US" sz="3200" b="1" i="1" dirty="0">
                <a:solidFill>
                  <a:srgbClr val="FF0000"/>
                </a:solidFill>
                <a:effectLst>
                  <a:outerShdw blurRad="38100" dist="38100" dir="2700000" algn="tl">
                    <a:srgbClr val="000000">
                      <a:alpha val="43137"/>
                    </a:srgbClr>
                  </a:outerShdw>
                </a:effectLst>
              </a:rPr>
              <a:t>A (A + B) = A</a:t>
            </a:r>
            <a:r>
              <a:rPr lang="en-US" sz="3200" b="1" dirty="0">
                <a:solidFill>
                  <a:srgbClr val="FF0000"/>
                </a:solidFill>
                <a:effectLst>
                  <a:outerShdw blurRad="38100" dist="38100" dir="2700000" algn="tl">
                    <a:srgbClr val="000000">
                      <a:alpha val="43137"/>
                    </a:srgbClr>
                  </a:outerShdw>
                </a:effectLst>
              </a:rPr>
              <a:t> </a:t>
            </a:r>
            <a:endParaRPr lang="en-US" sz="3200" b="1" dirty="0">
              <a:solidFill>
                <a:srgbClr val="FF0000"/>
              </a:solidFill>
              <a:effectLst>
                <a:outerShdw blurRad="38100" dist="38100" dir="2700000" algn="tl">
                  <a:srgbClr val="000000">
                    <a:alpha val="43137"/>
                  </a:srgbClr>
                </a:outerShdw>
              </a:effectLst>
              <a:latin typeface="Arial" charset="0"/>
            </a:endParaRPr>
          </a:p>
        </p:txBody>
      </p:sp>
      <p:sp>
        <p:nvSpPr>
          <p:cNvPr id="6" name="Rectangle 2"/>
          <p:cNvSpPr>
            <a:spLocks noGrp="1" noChangeArrowheads="1"/>
          </p:cNvSpPr>
          <p:nvPr>
            <p:ph type="title"/>
          </p:nvPr>
        </p:nvSpPr>
        <p:spPr>
          <a:xfrm>
            <a:off x="2952728" y="428605"/>
            <a:ext cx="7143744" cy="642942"/>
          </a:xfrm>
        </p:spPr>
        <p:style>
          <a:lnRef idx="0">
            <a:schemeClr val="accent3"/>
          </a:lnRef>
          <a:fillRef idx="3">
            <a:schemeClr val="accent3"/>
          </a:fillRef>
          <a:effectRef idx="3">
            <a:schemeClr val="accent3"/>
          </a:effectRef>
          <a:fontRef idx="minor">
            <a:schemeClr val="lt1"/>
          </a:fontRef>
        </p:style>
        <p:txBody>
          <a:bodyPr>
            <a:normAutofit/>
          </a:bodyPr>
          <a:lstStyle/>
          <a:p>
            <a:pPr eaLnBrk="1" hangingPunct="1"/>
            <a:r>
              <a:rPr lang="en-US" sz="3200" b="1" dirty="0">
                <a:solidFill>
                  <a:schemeClr val="bg1"/>
                </a:solidFill>
              </a:rPr>
              <a:t>Basic Theorem of Boolean Algebra</a:t>
            </a:r>
          </a:p>
        </p:txBody>
      </p:sp>
    </p:spTree>
  </p:cSld>
  <p:clrMapOvr>
    <a:masterClrMapping/>
  </p:clrMapOvr>
  <p:transition advClick="0"/>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9" name="Rectangle 3"/>
          <p:cNvSpPr>
            <a:spLocks noChangeArrowheads="1"/>
          </p:cNvSpPr>
          <p:nvPr/>
        </p:nvSpPr>
        <p:spPr bwMode="auto">
          <a:xfrm>
            <a:off x="2809852" y="1828801"/>
            <a:ext cx="7172348" cy="4524315"/>
          </a:xfrm>
          <a:prstGeom prst="rect">
            <a:avLst/>
          </a:prstGeom>
          <a:noFill/>
          <a:ln w="9525">
            <a:noFill/>
            <a:miter lim="800000"/>
            <a:headEnd/>
            <a:tailEnd/>
          </a:ln>
        </p:spPr>
        <p:txBody>
          <a:bodyPr wrap="square" anchor="ctr">
            <a:spAutoFit/>
          </a:bodyPr>
          <a:lstStyle/>
          <a:p>
            <a:pPr marL="342900" indent="-342900"/>
            <a:endParaRPr lang="en-US" sz="3200" b="1" dirty="0">
              <a:solidFill>
                <a:schemeClr val="bg1"/>
              </a:solidFill>
              <a:effectLst>
                <a:outerShdw blurRad="38100" dist="38100" dir="2700000" algn="tl">
                  <a:srgbClr val="000000">
                    <a:alpha val="43137"/>
                  </a:srgbClr>
                </a:outerShdw>
              </a:effectLst>
            </a:endParaRPr>
          </a:p>
          <a:p>
            <a:pPr marL="342900" indent="-342900"/>
            <a:r>
              <a:rPr lang="en-US" sz="3200" b="1" dirty="0">
                <a:solidFill>
                  <a:srgbClr val="FFFF00"/>
                </a:solidFill>
                <a:effectLst>
                  <a:outerShdw blurRad="38100" dist="38100" dir="2700000" algn="tl">
                    <a:srgbClr val="000000">
                      <a:alpha val="43137"/>
                    </a:srgbClr>
                  </a:outerShdw>
                </a:effectLst>
              </a:rPr>
              <a:t>T8 : Complementary Law</a:t>
            </a:r>
          </a:p>
          <a:p>
            <a:pPr marL="800100" lvl="1" indent="-342900"/>
            <a:r>
              <a:rPr lang="en-US" sz="3200" b="1" dirty="0">
                <a:solidFill>
                  <a:srgbClr val="FF0000"/>
                </a:solidFill>
                <a:effectLst>
                  <a:outerShdw blurRad="38100" dist="38100" dir="2700000" algn="tl">
                    <a:srgbClr val="000000">
                      <a:alpha val="43137"/>
                    </a:srgbClr>
                  </a:outerShdw>
                </a:effectLst>
              </a:rPr>
              <a:t>(a) X+X’=1</a:t>
            </a:r>
          </a:p>
          <a:p>
            <a:pPr marL="800100" lvl="1" indent="-342900"/>
            <a:r>
              <a:rPr lang="en-US" sz="3200" b="1" dirty="0">
                <a:solidFill>
                  <a:srgbClr val="FF0000"/>
                </a:solidFill>
                <a:effectLst>
                  <a:outerShdw blurRad="38100" dist="38100" dir="2700000" algn="tl">
                    <a:srgbClr val="000000">
                      <a:alpha val="43137"/>
                    </a:srgbClr>
                  </a:outerShdw>
                </a:effectLst>
              </a:rPr>
              <a:t>(b) X.X’=0</a:t>
            </a:r>
          </a:p>
          <a:p>
            <a:pPr marL="342900" indent="-342900"/>
            <a:r>
              <a:rPr lang="en-US" sz="3200" b="1" dirty="0">
                <a:solidFill>
                  <a:srgbClr val="FFFF00"/>
                </a:solidFill>
                <a:effectLst>
                  <a:outerShdw blurRad="38100" dist="38100" dir="2700000" algn="tl">
                    <a:srgbClr val="000000">
                      <a:alpha val="43137"/>
                    </a:srgbClr>
                  </a:outerShdw>
                </a:effectLst>
              </a:rPr>
              <a:t>T9 : Involution</a:t>
            </a:r>
          </a:p>
          <a:p>
            <a:pPr marL="800100" lvl="1" indent="-342900"/>
            <a:r>
              <a:rPr lang="en-US" sz="3200" b="1" dirty="0">
                <a:solidFill>
                  <a:srgbClr val="FF0000"/>
                </a:solidFill>
                <a:effectLst>
                  <a:outerShdw blurRad="38100" dist="38100" dir="2700000" algn="tl">
                    <a:srgbClr val="000000">
                      <a:alpha val="43137"/>
                    </a:srgbClr>
                  </a:outerShdw>
                </a:effectLst>
              </a:rPr>
              <a:t>(a)  x’’   = x</a:t>
            </a:r>
          </a:p>
          <a:p>
            <a:pPr marL="342900" indent="-342900"/>
            <a:r>
              <a:rPr lang="en-US" sz="3200" b="1" dirty="0">
                <a:solidFill>
                  <a:srgbClr val="FFFF00"/>
                </a:solidFill>
                <a:effectLst>
                  <a:outerShdw blurRad="38100" dist="38100" dir="2700000" algn="tl">
                    <a:srgbClr val="000000">
                      <a:alpha val="43137"/>
                    </a:srgbClr>
                  </a:outerShdw>
                </a:effectLst>
              </a:rPr>
              <a:t>T10 : De Morgan's Theorem </a:t>
            </a:r>
          </a:p>
          <a:p>
            <a:pPr marL="800100" lvl="1" indent="-342900"/>
            <a:r>
              <a:rPr lang="en-US" sz="3200" b="1" dirty="0">
                <a:solidFill>
                  <a:srgbClr val="FF0000"/>
                </a:solidFill>
                <a:effectLst>
                  <a:outerShdw blurRad="38100" dist="38100" dir="2700000" algn="tl">
                    <a:srgbClr val="000000">
                      <a:alpha val="43137"/>
                    </a:srgbClr>
                  </a:outerShdw>
                </a:effectLst>
              </a:rPr>
              <a:t>(a) (X+Y)’=X’.Y’ </a:t>
            </a:r>
          </a:p>
          <a:p>
            <a:pPr marL="800100" lvl="1" indent="-342900"/>
            <a:r>
              <a:rPr lang="en-US" sz="3200" b="1" dirty="0">
                <a:solidFill>
                  <a:srgbClr val="FF0000"/>
                </a:solidFill>
                <a:effectLst>
                  <a:outerShdw blurRad="38100" dist="38100" dir="2700000" algn="tl">
                    <a:srgbClr val="000000">
                      <a:alpha val="43137"/>
                    </a:srgbClr>
                  </a:outerShdw>
                </a:effectLst>
              </a:rPr>
              <a:t>(b) (X.Y)’=X’+Y’</a:t>
            </a:r>
            <a:endParaRPr lang="en-US" sz="3200" b="1" dirty="0">
              <a:solidFill>
                <a:srgbClr val="FF0000"/>
              </a:solidFill>
              <a:effectLst>
                <a:outerShdw blurRad="38100" dist="38100" dir="2700000" algn="tl">
                  <a:srgbClr val="000000">
                    <a:alpha val="43137"/>
                  </a:srgbClr>
                </a:outerShdw>
              </a:effectLst>
              <a:latin typeface="Arial" charset="0"/>
            </a:endParaRPr>
          </a:p>
        </p:txBody>
      </p:sp>
      <p:sp>
        <p:nvSpPr>
          <p:cNvPr id="5" name="Rectangle 2"/>
          <p:cNvSpPr>
            <a:spLocks noGrp="1" noChangeArrowheads="1"/>
          </p:cNvSpPr>
          <p:nvPr>
            <p:ph type="title"/>
          </p:nvPr>
        </p:nvSpPr>
        <p:spPr>
          <a:xfrm>
            <a:off x="2952728" y="428605"/>
            <a:ext cx="7143744" cy="642942"/>
          </a:xfrm>
        </p:spPr>
        <p:style>
          <a:lnRef idx="0">
            <a:schemeClr val="accent3"/>
          </a:lnRef>
          <a:fillRef idx="3">
            <a:schemeClr val="accent3"/>
          </a:fillRef>
          <a:effectRef idx="3">
            <a:schemeClr val="accent3"/>
          </a:effectRef>
          <a:fontRef idx="minor">
            <a:schemeClr val="lt1"/>
          </a:fontRef>
        </p:style>
        <p:txBody>
          <a:bodyPr>
            <a:normAutofit/>
          </a:bodyPr>
          <a:lstStyle/>
          <a:p>
            <a:pPr eaLnBrk="1" hangingPunct="1"/>
            <a:r>
              <a:rPr lang="en-US" sz="3200" b="1" dirty="0">
                <a:solidFill>
                  <a:schemeClr val="bg1"/>
                </a:solidFill>
              </a:rPr>
              <a:t>Basic Theorem of Boolean Algebra</a:t>
            </a:r>
          </a:p>
        </p:txBody>
      </p:sp>
    </p:spTree>
  </p:cSld>
  <p:clrMapOvr>
    <a:masterClrMapping/>
  </p:clrMapOvr>
  <p:transition advClick="0"/>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095604" y="428604"/>
            <a:ext cx="7143744" cy="642942"/>
          </a:xfrm>
        </p:spPr>
        <p:style>
          <a:lnRef idx="0">
            <a:schemeClr val="accent3"/>
          </a:lnRef>
          <a:fillRef idx="3">
            <a:schemeClr val="accent3"/>
          </a:fillRef>
          <a:effectRef idx="3">
            <a:schemeClr val="accent3"/>
          </a:effectRef>
          <a:fontRef idx="minor">
            <a:schemeClr val="lt1"/>
          </a:fontRef>
        </p:style>
        <p:txBody>
          <a:bodyPr>
            <a:normAutofit/>
          </a:bodyPr>
          <a:lstStyle/>
          <a:p>
            <a:r>
              <a:rPr lang="en-US" sz="3200" b="1" dirty="0">
                <a:solidFill>
                  <a:schemeClr val="bg1"/>
                </a:solidFill>
                <a:effectLst>
                  <a:outerShdw blurRad="38100" dist="38100" dir="2700000" algn="tl">
                    <a:srgbClr val="000000">
                      <a:alpha val="43137"/>
                    </a:srgbClr>
                  </a:outerShdw>
                </a:effectLst>
              </a:rPr>
              <a:t>De Morgan's Theorem 1</a:t>
            </a:r>
            <a:endParaRPr lang="en-US" sz="3200" b="1" dirty="0">
              <a:solidFill>
                <a:schemeClr val="bg1"/>
              </a:solidFill>
            </a:endParaRPr>
          </a:p>
        </p:txBody>
      </p:sp>
      <p:pic>
        <p:nvPicPr>
          <p:cNvPr id="1026" name="Picture 2" descr="De Morgan Theorem 1"/>
          <p:cNvPicPr>
            <a:picLocks noChangeAspect="1" noChangeArrowheads="1"/>
          </p:cNvPicPr>
          <p:nvPr/>
        </p:nvPicPr>
        <p:blipFill>
          <a:blip r:embed="rId2" cstate="print"/>
          <a:srcRect/>
          <a:stretch>
            <a:fillRect/>
          </a:stretch>
        </p:blipFill>
        <p:spPr bwMode="auto">
          <a:xfrm>
            <a:off x="4238612" y="2643182"/>
            <a:ext cx="4776750" cy="2000264"/>
          </a:xfrm>
          <a:prstGeom prst="rect">
            <a:avLst/>
          </a:prstGeom>
          <a:ln>
            <a:noFill/>
          </a:ln>
          <a:effectLst>
            <a:outerShdw blurRad="292100" dist="139700" dir="2700000" algn="tl" rotWithShape="0">
              <a:srgbClr val="333333">
                <a:alpha val="65000"/>
              </a:srgbClr>
            </a:outerShdw>
          </a:effectLst>
        </p:spPr>
      </p:pic>
      <p:grpSp>
        <p:nvGrpSpPr>
          <p:cNvPr id="15" name="Group 14"/>
          <p:cNvGrpSpPr/>
          <p:nvPr/>
        </p:nvGrpSpPr>
        <p:grpSpPr>
          <a:xfrm>
            <a:off x="3167042" y="1428737"/>
            <a:ext cx="4857784" cy="584775"/>
            <a:chOff x="1643042" y="1428736"/>
            <a:chExt cx="4857784" cy="584775"/>
          </a:xfrm>
        </p:grpSpPr>
        <p:sp>
          <p:nvSpPr>
            <p:cNvPr id="4" name="Rectangle 3"/>
            <p:cNvSpPr/>
            <p:nvPr/>
          </p:nvSpPr>
          <p:spPr>
            <a:xfrm>
              <a:off x="1643042" y="1428736"/>
              <a:ext cx="4857784" cy="584775"/>
            </a:xfrm>
            <a:prstGeom prst="rect">
              <a:avLst/>
            </a:prstGeom>
          </p:spPr>
          <p:txBody>
            <a:bodyPr wrap="square">
              <a:spAutoFit/>
            </a:bodyPr>
            <a:lstStyle/>
            <a:p>
              <a:r>
                <a:rPr lang="en-IN" sz="3200" b="1" dirty="0">
                  <a:solidFill>
                    <a:srgbClr val="FFFF00"/>
                  </a:solidFill>
                  <a:effectLst>
                    <a:outerShdw blurRad="38100" dist="38100" dir="2700000" algn="tl">
                      <a:srgbClr val="000000">
                        <a:alpha val="43137"/>
                      </a:srgbClr>
                    </a:outerShdw>
                  </a:effectLst>
                </a:rPr>
                <a:t>Theorem 1  A . B = A + B</a:t>
              </a:r>
            </a:p>
          </p:txBody>
        </p:sp>
        <p:cxnSp>
          <p:nvCxnSpPr>
            <p:cNvPr id="7" name="Straight Connector 6"/>
            <p:cNvCxnSpPr/>
            <p:nvPr/>
          </p:nvCxnSpPr>
          <p:spPr>
            <a:xfrm>
              <a:off x="3757154" y="1472278"/>
              <a:ext cx="714380" cy="1191"/>
            </a:xfrm>
            <a:prstGeom prst="line">
              <a:avLst/>
            </a:prstGeom>
          </p:spPr>
          <p:style>
            <a:lnRef idx="3">
              <a:schemeClr val="accent6"/>
            </a:lnRef>
            <a:fillRef idx="0">
              <a:schemeClr val="accent6"/>
            </a:fillRef>
            <a:effectRef idx="2">
              <a:schemeClr val="accent6"/>
            </a:effectRef>
            <a:fontRef idx="minor">
              <a:schemeClr val="tx1"/>
            </a:fontRef>
          </p:style>
        </p:cxnSp>
        <p:cxnSp>
          <p:nvCxnSpPr>
            <p:cNvPr id="12" name="Straight Connector 11"/>
            <p:cNvCxnSpPr/>
            <p:nvPr/>
          </p:nvCxnSpPr>
          <p:spPr>
            <a:xfrm>
              <a:off x="5415874"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14" name="Straight Connector 13"/>
            <p:cNvCxnSpPr/>
            <p:nvPr/>
          </p:nvCxnSpPr>
          <p:spPr>
            <a:xfrm>
              <a:off x="4786314"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grpSp>
    </p:spTree>
  </p:cSld>
  <p:clrMapOvr>
    <a:masterClrMapping/>
  </p:clrMapOvr>
  <p:transition advClick="0"/>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095604" y="428604"/>
            <a:ext cx="7143744" cy="642942"/>
          </a:xfrm>
        </p:spPr>
        <p:style>
          <a:lnRef idx="0">
            <a:schemeClr val="accent3"/>
          </a:lnRef>
          <a:fillRef idx="3">
            <a:schemeClr val="accent3"/>
          </a:fillRef>
          <a:effectRef idx="3">
            <a:schemeClr val="accent3"/>
          </a:effectRef>
          <a:fontRef idx="minor">
            <a:schemeClr val="lt1"/>
          </a:fontRef>
        </p:style>
        <p:txBody>
          <a:bodyPr>
            <a:normAutofit/>
          </a:bodyPr>
          <a:lstStyle/>
          <a:p>
            <a:r>
              <a:rPr lang="en-US" sz="3200" b="1" dirty="0">
                <a:solidFill>
                  <a:schemeClr val="bg1"/>
                </a:solidFill>
                <a:effectLst>
                  <a:outerShdw blurRad="38100" dist="38100" dir="2700000" algn="tl">
                    <a:srgbClr val="000000">
                      <a:alpha val="43137"/>
                    </a:srgbClr>
                  </a:outerShdw>
                </a:effectLst>
              </a:rPr>
              <a:t>De Morgan's Theorem 1</a:t>
            </a:r>
            <a:endParaRPr lang="en-US" sz="3200" b="1" dirty="0">
              <a:solidFill>
                <a:schemeClr val="bg1"/>
              </a:solidFill>
            </a:endParaRPr>
          </a:p>
        </p:txBody>
      </p:sp>
      <p:pic>
        <p:nvPicPr>
          <p:cNvPr id="55298" name="Picture 2" descr="C:\Users\AdmOfficer\Desktop\dtherom1.png"/>
          <p:cNvPicPr>
            <a:picLocks noChangeAspect="1" noChangeArrowheads="1"/>
          </p:cNvPicPr>
          <p:nvPr/>
        </p:nvPicPr>
        <p:blipFill>
          <a:blip r:embed="rId2" cstate="print"/>
          <a:srcRect/>
          <a:stretch>
            <a:fillRect/>
          </a:stretch>
        </p:blipFill>
        <p:spPr bwMode="auto">
          <a:xfrm>
            <a:off x="2952728" y="2000240"/>
            <a:ext cx="7295080" cy="4429156"/>
          </a:xfrm>
          <a:prstGeom prst="rect">
            <a:avLst/>
          </a:prstGeom>
          <a:ln>
            <a:noFill/>
          </a:ln>
          <a:effectLst>
            <a:outerShdw blurRad="292100" dist="139700" dir="2700000" algn="tl" rotWithShape="0">
              <a:srgbClr val="333333">
                <a:alpha val="65000"/>
              </a:srgbClr>
            </a:outerShdw>
          </a:effectLst>
        </p:spPr>
      </p:pic>
      <p:grpSp>
        <p:nvGrpSpPr>
          <p:cNvPr id="6" name="Group 5"/>
          <p:cNvGrpSpPr/>
          <p:nvPr/>
        </p:nvGrpSpPr>
        <p:grpSpPr>
          <a:xfrm>
            <a:off x="3167042" y="1285861"/>
            <a:ext cx="4857784" cy="584775"/>
            <a:chOff x="1643042" y="1428736"/>
            <a:chExt cx="4857784" cy="584775"/>
          </a:xfrm>
        </p:grpSpPr>
        <p:sp>
          <p:nvSpPr>
            <p:cNvPr id="7" name="Rectangle 6"/>
            <p:cNvSpPr/>
            <p:nvPr/>
          </p:nvSpPr>
          <p:spPr>
            <a:xfrm>
              <a:off x="1643042" y="1428736"/>
              <a:ext cx="4857784" cy="584775"/>
            </a:xfrm>
            <a:prstGeom prst="rect">
              <a:avLst/>
            </a:prstGeom>
          </p:spPr>
          <p:txBody>
            <a:bodyPr wrap="square">
              <a:spAutoFit/>
            </a:bodyPr>
            <a:lstStyle/>
            <a:p>
              <a:r>
                <a:rPr lang="en-IN" sz="3200" b="1" dirty="0">
                  <a:solidFill>
                    <a:srgbClr val="FFFF00"/>
                  </a:solidFill>
                  <a:effectLst>
                    <a:outerShdw blurRad="38100" dist="38100" dir="2700000" algn="tl">
                      <a:srgbClr val="000000">
                        <a:alpha val="43137"/>
                      </a:srgbClr>
                    </a:outerShdw>
                  </a:effectLst>
                </a:rPr>
                <a:t>Theorem 1  A . B = A + B</a:t>
              </a:r>
            </a:p>
          </p:txBody>
        </p:sp>
        <p:cxnSp>
          <p:nvCxnSpPr>
            <p:cNvPr id="8" name="Straight Connector 7"/>
            <p:cNvCxnSpPr/>
            <p:nvPr/>
          </p:nvCxnSpPr>
          <p:spPr>
            <a:xfrm>
              <a:off x="3757154" y="1472278"/>
              <a:ext cx="714380" cy="1191"/>
            </a:xfrm>
            <a:prstGeom prst="line">
              <a:avLst/>
            </a:prstGeom>
          </p:spPr>
          <p:style>
            <a:lnRef idx="3">
              <a:schemeClr val="accent6"/>
            </a:lnRef>
            <a:fillRef idx="0">
              <a:schemeClr val="accent6"/>
            </a:fillRef>
            <a:effectRef idx="2">
              <a:schemeClr val="accent6"/>
            </a:effectRef>
            <a:fontRef idx="minor">
              <a:schemeClr val="tx1"/>
            </a:fontRef>
          </p:style>
        </p:cxnSp>
        <p:cxnSp>
          <p:nvCxnSpPr>
            <p:cNvPr id="9" name="Straight Connector 8"/>
            <p:cNvCxnSpPr/>
            <p:nvPr/>
          </p:nvCxnSpPr>
          <p:spPr>
            <a:xfrm>
              <a:off x="5415874"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10" name="Straight Connector 9"/>
            <p:cNvCxnSpPr/>
            <p:nvPr/>
          </p:nvCxnSpPr>
          <p:spPr>
            <a:xfrm>
              <a:off x="4786314"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grpSp>
    </p:spTree>
  </p:cSld>
  <p:clrMapOvr>
    <a:masterClrMapping/>
  </p:clrMapOvr>
  <p:transition advClick="0"/>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095604" y="428604"/>
            <a:ext cx="7143744" cy="642942"/>
          </a:xfrm>
        </p:spPr>
        <p:style>
          <a:lnRef idx="0">
            <a:schemeClr val="accent3"/>
          </a:lnRef>
          <a:fillRef idx="3">
            <a:schemeClr val="accent3"/>
          </a:fillRef>
          <a:effectRef idx="3">
            <a:schemeClr val="accent3"/>
          </a:effectRef>
          <a:fontRef idx="minor">
            <a:schemeClr val="lt1"/>
          </a:fontRef>
        </p:style>
        <p:txBody>
          <a:bodyPr>
            <a:normAutofit/>
          </a:bodyPr>
          <a:lstStyle/>
          <a:p>
            <a:r>
              <a:rPr lang="en-US" sz="3200" b="1" dirty="0">
                <a:solidFill>
                  <a:schemeClr val="bg1"/>
                </a:solidFill>
                <a:effectLst>
                  <a:outerShdw blurRad="38100" dist="38100" dir="2700000" algn="tl">
                    <a:srgbClr val="000000">
                      <a:alpha val="43137"/>
                    </a:srgbClr>
                  </a:outerShdw>
                </a:effectLst>
              </a:rPr>
              <a:t>De Morgan's Theorem 1 </a:t>
            </a:r>
            <a:endParaRPr lang="en-US" sz="3200" b="1" dirty="0">
              <a:solidFill>
                <a:schemeClr val="bg1"/>
              </a:solidFill>
            </a:endParaRPr>
          </a:p>
        </p:txBody>
      </p:sp>
      <p:pic>
        <p:nvPicPr>
          <p:cNvPr id="56322" name="Picture 2" descr="De Morgan Theorem 1 Verification Table"/>
          <p:cNvPicPr>
            <a:picLocks noChangeAspect="1" noChangeArrowheads="1"/>
          </p:cNvPicPr>
          <p:nvPr/>
        </p:nvPicPr>
        <p:blipFill>
          <a:blip r:embed="rId2" cstate="print"/>
          <a:srcRect/>
          <a:stretch>
            <a:fillRect/>
          </a:stretch>
        </p:blipFill>
        <p:spPr bwMode="auto">
          <a:xfrm>
            <a:off x="3238480" y="2500306"/>
            <a:ext cx="6548780" cy="3643338"/>
          </a:xfrm>
          <a:prstGeom prst="rect">
            <a:avLst/>
          </a:prstGeom>
          <a:ln>
            <a:noFill/>
          </a:ln>
          <a:effectLst>
            <a:outerShdw blurRad="292100" dist="139700" dir="2700000" algn="tl" rotWithShape="0">
              <a:srgbClr val="333333">
                <a:alpha val="65000"/>
              </a:srgbClr>
            </a:outerShdw>
          </a:effectLst>
        </p:spPr>
      </p:pic>
      <p:grpSp>
        <p:nvGrpSpPr>
          <p:cNvPr id="7" name="Group 6"/>
          <p:cNvGrpSpPr/>
          <p:nvPr/>
        </p:nvGrpSpPr>
        <p:grpSpPr>
          <a:xfrm>
            <a:off x="3167042" y="1428737"/>
            <a:ext cx="4857784" cy="584775"/>
            <a:chOff x="1643042" y="1428736"/>
            <a:chExt cx="4857784" cy="584775"/>
          </a:xfrm>
        </p:grpSpPr>
        <p:sp>
          <p:nvSpPr>
            <p:cNvPr id="8" name="Rectangle 7"/>
            <p:cNvSpPr/>
            <p:nvPr/>
          </p:nvSpPr>
          <p:spPr>
            <a:xfrm>
              <a:off x="1643042" y="1428736"/>
              <a:ext cx="4857784" cy="584775"/>
            </a:xfrm>
            <a:prstGeom prst="rect">
              <a:avLst/>
            </a:prstGeom>
          </p:spPr>
          <p:txBody>
            <a:bodyPr wrap="square">
              <a:spAutoFit/>
            </a:bodyPr>
            <a:lstStyle/>
            <a:p>
              <a:r>
                <a:rPr lang="en-IN" sz="3200" b="1" dirty="0">
                  <a:solidFill>
                    <a:srgbClr val="FFFF00"/>
                  </a:solidFill>
                  <a:effectLst>
                    <a:outerShdw blurRad="38100" dist="38100" dir="2700000" algn="tl">
                      <a:srgbClr val="000000">
                        <a:alpha val="43137"/>
                      </a:srgbClr>
                    </a:outerShdw>
                  </a:effectLst>
                </a:rPr>
                <a:t>Theorem 1  A . B = A + B</a:t>
              </a:r>
            </a:p>
          </p:txBody>
        </p:sp>
        <p:cxnSp>
          <p:nvCxnSpPr>
            <p:cNvPr id="9" name="Straight Connector 8"/>
            <p:cNvCxnSpPr/>
            <p:nvPr/>
          </p:nvCxnSpPr>
          <p:spPr>
            <a:xfrm>
              <a:off x="3757154" y="1472278"/>
              <a:ext cx="714380" cy="1191"/>
            </a:xfrm>
            <a:prstGeom prst="line">
              <a:avLst/>
            </a:prstGeom>
          </p:spPr>
          <p:style>
            <a:lnRef idx="3">
              <a:schemeClr val="accent6"/>
            </a:lnRef>
            <a:fillRef idx="0">
              <a:schemeClr val="accent6"/>
            </a:fillRef>
            <a:effectRef idx="2">
              <a:schemeClr val="accent6"/>
            </a:effectRef>
            <a:fontRef idx="minor">
              <a:schemeClr val="tx1"/>
            </a:fontRef>
          </p:style>
        </p:cxnSp>
        <p:cxnSp>
          <p:nvCxnSpPr>
            <p:cNvPr id="10" name="Straight Connector 9"/>
            <p:cNvCxnSpPr/>
            <p:nvPr/>
          </p:nvCxnSpPr>
          <p:spPr>
            <a:xfrm>
              <a:off x="5415874"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11" name="Straight Connector 10"/>
            <p:cNvCxnSpPr/>
            <p:nvPr/>
          </p:nvCxnSpPr>
          <p:spPr>
            <a:xfrm>
              <a:off x="4786314"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grpSp>
    </p:spTree>
  </p:cSld>
  <p:clrMapOvr>
    <a:masterClrMapping/>
  </p:clrMapOvr>
  <p:transition advClick="0"/>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095604" y="428604"/>
            <a:ext cx="7143744" cy="642942"/>
          </a:xfrm>
        </p:spPr>
        <p:style>
          <a:lnRef idx="0">
            <a:schemeClr val="accent3"/>
          </a:lnRef>
          <a:fillRef idx="3">
            <a:schemeClr val="accent3"/>
          </a:fillRef>
          <a:effectRef idx="3">
            <a:schemeClr val="accent3"/>
          </a:effectRef>
          <a:fontRef idx="minor">
            <a:schemeClr val="lt1"/>
          </a:fontRef>
        </p:style>
        <p:txBody>
          <a:bodyPr>
            <a:normAutofit/>
          </a:bodyPr>
          <a:lstStyle/>
          <a:p>
            <a:r>
              <a:rPr lang="en-US" sz="3200" b="1" dirty="0">
                <a:solidFill>
                  <a:schemeClr val="bg1"/>
                </a:solidFill>
                <a:effectLst>
                  <a:outerShdw blurRad="38100" dist="38100" dir="2700000" algn="tl">
                    <a:srgbClr val="000000">
                      <a:alpha val="43137"/>
                    </a:srgbClr>
                  </a:outerShdw>
                </a:effectLst>
              </a:rPr>
              <a:t>De Morgan's Theorem  2</a:t>
            </a:r>
            <a:endParaRPr lang="en-US" sz="3200" b="1" dirty="0">
              <a:solidFill>
                <a:schemeClr val="bg1"/>
              </a:solidFill>
            </a:endParaRPr>
          </a:p>
        </p:txBody>
      </p:sp>
      <p:pic>
        <p:nvPicPr>
          <p:cNvPr id="57346" name="Picture 2" descr="De Morgan Theorem 2"/>
          <p:cNvPicPr>
            <a:picLocks noChangeAspect="1" noChangeArrowheads="1"/>
          </p:cNvPicPr>
          <p:nvPr/>
        </p:nvPicPr>
        <p:blipFill>
          <a:blip r:embed="rId2" cstate="print"/>
          <a:srcRect/>
          <a:stretch>
            <a:fillRect/>
          </a:stretch>
        </p:blipFill>
        <p:spPr bwMode="auto">
          <a:xfrm>
            <a:off x="4595803" y="3071810"/>
            <a:ext cx="4356739" cy="2000264"/>
          </a:xfrm>
          <a:prstGeom prst="rect">
            <a:avLst/>
          </a:prstGeom>
          <a:ln>
            <a:noFill/>
          </a:ln>
          <a:effectLst>
            <a:outerShdw blurRad="292100" dist="139700" dir="2700000" algn="tl" rotWithShape="0">
              <a:srgbClr val="333333">
                <a:alpha val="65000"/>
              </a:srgbClr>
            </a:outerShdw>
          </a:effectLst>
        </p:spPr>
      </p:pic>
      <p:grpSp>
        <p:nvGrpSpPr>
          <p:cNvPr id="12" name="Group 6"/>
          <p:cNvGrpSpPr/>
          <p:nvPr/>
        </p:nvGrpSpPr>
        <p:grpSpPr>
          <a:xfrm>
            <a:off x="3452794" y="1571613"/>
            <a:ext cx="4857784" cy="584775"/>
            <a:chOff x="1643042" y="1428736"/>
            <a:chExt cx="4857784" cy="584775"/>
          </a:xfrm>
        </p:grpSpPr>
        <p:sp>
          <p:nvSpPr>
            <p:cNvPr id="13" name="Rectangle 12"/>
            <p:cNvSpPr/>
            <p:nvPr/>
          </p:nvSpPr>
          <p:spPr>
            <a:xfrm>
              <a:off x="1643042" y="1428736"/>
              <a:ext cx="4857784" cy="584775"/>
            </a:xfrm>
            <a:prstGeom prst="rect">
              <a:avLst/>
            </a:prstGeom>
          </p:spPr>
          <p:txBody>
            <a:bodyPr wrap="square">
              <a:spAutoFit/>
            </a:bodyPr>
            <a:lstStyle/>
            <a:p>
              <a:r>
                <a:rPr lang="en-IN" sz="3200" b="1" dirty="0">
                  <a:solidFill>
                    <a:srgbClr val="FFFF00"/>
                  </a:solidFill>
                  <a:effectLst>
                    <a:outerShdw blurRad="38100" dist="38100" dir="2700000" algn="tl">
                      <a:srgbClr val="000000">
                        <a:alpha val="43137"/>
                      </a:srgbClr>
                    </a:outerShdw>
                  </a:effectLst>
                </a:rPr>
                <a:t>Theorem 2  A + B = A . B</a:t>
              </a:r>
            </a:p>
          </p:txBody>
        </p:sp>
        <p:cxnSp>
          <p:nvCxnSpPr>
            <p:cNvPr id="14" name="Straight Connector 13"/>
            <p:cNvCxnSpPr/>
            <p:nvPr/>
          </p:nvCxnSpPr>
          <p:spPr>
            <a:xfrm>
              <a:off x="3757154" y="1472278"/>
              <a:ext cx="714380" cy="1191"/>
            </a:xfrm>
            <a:prstGeom prst="line">
              <a:avLst/>
            </a:prstGeom>
          </p:spPr>
          <p:style>
            <a:lnRef idx="3">
              <a:schemeClr val="accent6"/>
            </a:lnRef>
            <a:fillRef idx="0">
              <a:schemeClr val="accent6"/>
            </a:fillRef>
            <a:effectRef idx="2">
              <a:schemeClr val="accent6"/>
            </a:effectRef>
            <a:fontRef idx="minor">
              <a:schemeClr val="tx1"/>
            </a:fontRef>
          </p:style>
        </p:cxnSp>
        <p:cxnSp>
          <p:nvCxnSpPr>
            <p:cNvPr id="15" name="Straight Connector 14"/>
            <p:cNvCxnSpPr/>
            <p:nvPr/>
          </p:nvCxnSpPr>
          <p:spPr>
            <a:xfrm>
              <a:off x="5415874"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16" name="Straight Connector 15"/>
            <p:cNvCxnSpPr/>
            <p:nvPr/>
          </p:nvCxnSpPr>
          <p:spPr>
            <a:xfrm>
              <a:off x="4857752"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grpSp>
    </p:spTree>
  </p:cSld>
  <p:clrMapOvr>
    <a:masterClrMapping/>
  </p:clrMapOvr>
  <p:transition advClick="0"/>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095604" y="428604"/>
            <a:ext cx="7143744" cy="642942"/>
          </a:xfrm>
        </p:spPr>
        <p:style>
          <a:lnRef idx="0">
            <a:schemeClr val="accent3"/>
          </a:lnRef>
          <a:fillRef idx="3">
            <a:schemeClr val="accent3"/>
          </a:fillRef>
          <a:effectRef idx="3">
            <a:schemeClr val="accent3"/>
          </a:effectRef>
          <a:fontRef idx="minor">
            <a:schemeClr val="lt1"/>
          </a:fontRef>
        </p:style>
        <p:txBody>
          <a:bodyPr>
            <a:normAutofit/>
          </a:bodyPr>
          <a:lstStyle/>
          <a:p>
            <a:r>
              <a:rPr lang="en-US" sz="3200" b="1" dirty="0">
                <a:solidFill>
                  <a:schemeClr val="bg1"/>
                </a:solidFill>
                <a:effectLst>
                  <a:outerShdw blurRad="38100" dist="38100" dir="2700000" algn="tl">
                    <a:srgbClr val="000000">
                      <a:alpha val="43137"/>
                    </a:srgbClr>
                  </a:outerShdw>
                </a:effectLst>
              </a:rPr>
              <a:t>De Morgan's Theorem  2</a:t>
            </a:r>
            <a:endParaRPr lang="en-US" sz="3200" b="1" dirty="0">
              <a:solidFill>
                <a:schemeClr val="bg1"/>
              </a:solidFill>
            </a:endParaRPr>
          </a:p>
        </p:txBody>
      </p:sp>
      <p:grpSp>
        <p:nvGrpSpPr>
          <p:cNvPr id="2" name="Group 6"/>
          <p:cNvGrpSpPr/>
          <p:nvPr/>
        </p:nvGrpSpPr>
        <p:grpSpPr>
          <a:xfrm>
            <a:off x="3452794" y="1571613"/>
            <a:ext cx="4857784" cy="584775"/>
            <a:chOff x="1643042" y="1428736"/>
            <a:chExt cx="4857784" cy="584775"/>
          </a:xfrm>
        </p:grpSpPr>
        <p:sp>
          <p:nvSpPr>
            <p:cNvPr id="13" name="Rectangle 12"/>
            <p:cNvSpPr/>
            <p:nvPr/>
          </p:nvSpPr>
          <p:spPr>
            <a:xfrm>
              <a:off x="1643042" y="1428736"/>
              <a:ext cx="4857784" cy="584775"/>
            </a:xfrm>
            <a:prstGeom prst="rect">
              <a:avLst/>
            </a:prstGeom>
          </p:spPr>
          <p:txBody>
            <a:bodyPr wrap="square">
              <a:spAutoFit/>
            </a:bodyPr>
            <a:lstStyle/>
            <a:p>
              <a:r>
                <a:rPr lang="en-IN" sz="3200" b="1" dirty="0">
                  <a:solidFill>
                    <a:srgbClr val="FFFF00"/>
                  </a:solidFill>
                  <a:effectLst>
                    <a:outerShdw blurRad="38100" dist="38100" dir="2700000" algn="tl">
                      <a:srgbClr val="000000">
                        <a:alpha val="43137"/>
                      </a:srgbClr>
                    </a:outerShdw>
                  </a:effectLst>
                </a:rPr>
                <a:t>Theorem 2  A + B = A . B</a:t>
              </a:r>
            </a:p>
          </p:txBody>
        </p:sp>
        <p:cxnSp>
          <p:nvCxnSpPr>
            <p:cNvPr id="14" name="Straight Connector 13"/>
            <p:cNvCxnSpPr/>
            <p:nvPr/>
          </p:nvCxnSpPr>
          <p:spPr>
            <a:xfrm>
              <a:off x="3757154" y="1472278"/>
              <a:ext cx="714380" cy="1191"/>
            </a:xfrm>
            <a:prstGeom prst="line">
              <a:avLst/>
            </a:prstGeom>
          </p:spPr>
          <p:style>
            <a:lnRef idx="3">
              <a:schemeClr val="accent6"/>
            </a:lnRef>
            <a:fillRef idx="0">
              <a:schemeClr val="accent6"/>
            </a:fillRef>
            <a:effectRef idx="2">
              <a:schemeClr val="accent6"/>
            </a:effectRef>
            <a:fontRef idx="minor">
              <a:schemeClr val="tx1"/>
            </a:fontRef>
          </p:style>
        </p:cxnSp>
        <p:cxnSp>
          <p:nvCxnSpPr>
            <p:cNvPr id="15" name="Straight Connector 14"/>
            <p:cNvCxnSpPr/>
            <p:nvPr/>
          </p:nvCxnSpPr>
          <p:spPr>
            <a:xfrm>
              <a:off x="5415874"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16" name="Straight Connector 15"/>
            <p:cNvCxnSpPr/>
            <p:nvPr/>
          </p:nvCxnSpPr>
          <p:spPr>
            <a:xfrm>
              <a:off x="4857752"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grpSp>
      <p:pic>
        <p:nvPicPr>
          <p:cNvPr id="58370" name="Picture 2" descr="De Morgan Theorem 2 Diagram"/>
          <p:cNvPicPr>
            <a:picLocks noChangeAspect="1" noChangeArrowheads="1"/>
          </p:cNvPicPr>
          <p:nvPr/>
        </p:nvPicPr>
        <p:blipFill>
          <a:blip r:embed="rId2" cstate="print"/>
          <a:srcRect/>
          <a:stretch>
            <a:fillRect/>
          </a:stretch>
        </p:blipFill>
        <p:spPr bwMode="auto">
          <a:xfrm>
            <a:off x="4024298" y="2571745"/>
            <a:ext cx="5072098" cy="3795039"/>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advClick="0"/>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3095604" y="428604"/>
            <a:ext cx="7143744" cy="642942"/>
          </a:xfrm>
        </p:spPr>
        <p:style>
          <a:lnRef idx="0">
            <a:schemeClr val="accent3"/>
          </a:lnRef>
          <a:fillRef idx="3">
            <a:schemeClr val="accent3"/>
          </a:fillRef>
          <a:effectRef idx="3">
            <a:schemeClr val="accent3"/>
          </a:effectRef>
          <a:fontRef idx="minor">
            <a:schemeClr val="lt1"/>
          </a:fontRef>
        </p:style>
        <p:txBody>
          <a:bodyPr>
            <a:normAutofit/>
          </a:bodyPr>
          <a:lstStyle/>
          <a:p>
            <a:r>
              <a:rPr lang="en-US" sz="3200" b="1" dirty="0">
                <a:solidFill>
                  <a:schemeClr val="bg1"/>
                </a:solidFill>
                <a:effectLst>
                  <a:outerShdw blurRad="38100" dist="38100" dir="2700000" algn="tl">
                    <a:srgbClr val="000000">
                      <a:alpha val="43137"/>
                    </a:srgbClr>
                  </a:outerShdw>
                </a:effectLst>
              </a:rPr>
              <a:t>De Morgan's Theorem  2</a:t>
            </a:r>
            <a:endParaRPr lang="en-US" sz="3200" b="1" dirty="0">
              <a:solidFill>
                <a:schemeClr val="bg1"/>
              </a:solidFill>
            </a:endParaRPr>
          </a:p>
        </p:txBody>
      </p:sp>
      <p:grpSp>
        <p:nvGrpSpPr>
          <p:cNvPr id="2" name="Group 6"/>
          <p:cNvGrpSpPr/>
          <p:nvPr/>
        </p:nvGrpSpPr>
        <p:grpSpPr>
          <a:xfrm>
            <a:off x="3452794" y="1571613"/>
            <a:ext cx="4857784" cy="584775"/>
            <a:chOff x="1643042" y="1428736"/>
            <a:chExt cx="4857784" cy="584775"/>
          </a:xfrm>
        </p:grpSpPr>
        <p:sp>
          <p:nvSpPr>
            <p:cNvPr id="13" name="Rectangle 12"/>
            <p:cNvSpPr/>
            <p:nvPr/>
          </p:nvSpPr>
          <p:spPr>
            <a:xfrm>
              <a:off x="1643042" y="1428736"/>
              <a:ext cx="4857784" cy="584775"/>
            </a:xfrm>
            <a:prstGeom prst="rect">
              <a:avLst/>
            </a:prstGeom>
          </p:spPr>
          <p:txBody>
            <a:bodyPr wrap="square">
              <a:spAutoFit/>
            </a:bodyPr>
            <a:lstStyle/>
            <a:p>
              <a:r>
                <a:rPr lang="en-IN" sz="3200" b="1" dirty="0">
                  <a:solidFill>
                    <a:srgbClr val="FFFF00"/>
                  </a:solidFill>
                  <a:effectLst>
                    <a:outerShdw blurRad="38100" dist="38100" dir="2700000" algn="tl">
                      <a:srgbClr val="000000">
                        <a:alpha val="43137"/>
                      </a:srgbClr>
                    </a:outerShdw>
                  </a:effectLst>
                </a:rPr>
                <a:t>Theorem 2  A + B = A . B</a:t>
              </a:r>
            </a:p>
          </p:txBody>
        </p:sp>
        <p:cxnSp>
          <p:nvCxnSpPr>
            <p:cNvPr id="14" name="Straight Connector 13"/>
            <p:cNvCxnSpPr/>
            <p:nvPr/>
          </p:nvCxnSpPr>
          <p:spPr>
            <a:xfrm>
              <a:off x="3757154" y="1472278"/>
              <a:ext cx="714380" cy="1191"/>
            </a:xfrm>
            <a:prstGeom prst="line">
              <a:avLst/>
            </a:prstGeom>
          </p:spPr>
          <p:style>
            <a:lnRef idx="3">
              <a:schemeClr val="accent6"/>
            </a:lnRef>
            <a:fillRef idx="0">
              <a:schemeClr val="accent6"/>
            </a:fillRef>
            <a:effectRef idx="2">
              <a:schemeClr val="accent6"/>
            </a:effectRef>
            <a:fontRef idx="minor">
              <a:schemeClr val="tx1"/>
            </a:fontRef>
          </p:style>
        </p:cxnSp>
        <p:cxnSp>
          <p:nvCxnSpPr>
            <p:cNvPr id="15" name="Straight Connector 14"/>
            <p:cNvCxnSpPr/>
            <p:nvPr/>
          </p:nvCxnSpPr>
          <p:spPr>
            <a:xfrm>
              <a:off x="5415874"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cxnSp>
          <p:nvCxnSpPr>
            <p:cNvPr id="16" name="Straight Connector 15"/>
            <p:cNvCxnSpPr/>
            <p:nvPr/>
          </p:nvCxnSpPr>
          <p:spPr>
            <a:xfrm>
              <a:off x="4929190" y="1500174"/>
              <a:ext cx="357190" cy="1588"/>
            </a:xfrm>
            <a:prstGeom prst="line">
              <a:avLst/>
            </a:prstGeom>
          </p:spPr>
          <p:style>
            <a:lnRef idx="3">
              <a:schemeClr val="accent6"/>
            </a:lnRef>
            <a:fillRef idx="0">
              <a:schemeClr val="accent6"/>
            </a:fillRef>
            <a:effectRef idx="2">
              <a:schemeClr val="accent6"/>
            </a:effectRef>
            <a:fontRef idx="minor">
              <a:schemeClr val="tx1"/>
            </a:fontRef>
          </p:style>
        </p:cxnSp>
      </p:grpSp>
      <p:pic>
        <p:nvPicPr>
          <p:cNvPr id="60418" name="Picture 2" descr="De Morgan Theorem 2 Verification Table"/>
          <p:cNvPicPr>
            <a:picLocks noChangeAspect="1" noChangeArrowheads="1"/>
          </p:cNvPicPr>
          <p:nvPr/>
        </p:nvPicPr>
        <p:blipFill>
          <a:blip r:embed="rId2" cstate="print"/>
          <a:srcRect/>
          <a:stretch>
            <a:fillRect/>
          </a:stretch>
        </p:blipFill>
        <p:spPr bwMode="auto">
          <a:xfrm>
            <a:off x="3667108" y="2571744"/>
            <a:ext cx="6420373" cy="35719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advClick="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C357B05-993A-6CBB-16F0-7B581833E962}"/>
              </a:ext>
            </a:extLst>
          </p:cNvPr>
          <p:cNvSpPr>
            <a:spLocks noGrp="1"/>
          </p:cNvSpPr>
          <p:nvPr>
            <p:ph type="subTitle" idx="1"/>
          </p:nvPr>
        </p:nvSpPr>
        <p:spPr>
          <a:xfrm>
            <a:off x="1376516" y="1507766"/>
            <a:ext cx="9438968" cy="2759433"/>
          </a:xfrm>
        </p:spPr>
        <p:txBody>
          <a:bodyPr>
            <a:normAutofit/>
          </a:bodyPr>
          <a:lstStyle/>
          <a:p>
            <a:r>
              <a:rPr lang="en-US" b="0" i="0" dirty="0">
                <a:solidFill>
                  <a:srgbClr val="FF0000"/>
                </a:solidFill>
                <a:effectLst/>
                <a:latin typeface="Lato" panose="020F0502020204030203" pitchFamily="34" charset="0"/>
              </a:rPr>
              <a:t>Simplify:</a:t>
            </a:r>
          </a:p>
          <a:p>
            <a:r>
              <a:rPr lang="en-US" b="0" i="0" dirty="0">
                <a:solidFill>
                  <a:srgbClr val="414042"/>
                </a:solidFill>
                <a:effectLst/>
                <a:latin typeface="Lato" panose="020F0502020204030203" pitchFamily="34" charset="0"/>
              </a:rPr>
              <a:t>A.(A + B) =A</a:t>
            </a:r>
          </a:p>
          <a:p>
            <a:r>
              <a:rPr lang="en-IN" b="0" i="0" dirty="0">
                <a:solidFill>
                  <a:srgbClr val="414143"/>
                </a:solidFill>
                <a:effectLst/>
                <a:latin typeface="Lato" panose="020F0502020204030203" pitchFamily="34" charset="0"/>
              </a:rPr>
              <a:t>AB(BC + AC)</a:t>
            </a:r>
          </a:p>
          <a:p>
            <a:r>
              <a:rPr lang="pt-BR" b="0" i="0" dirty="0">
                <a:solidFill>
                  <a:srgbClr val="414143"/>
                </a:solidFill>
                <a:effectLst/>
                <a:latin typeface="Lato" panose="020F0502020204030203" pitchFamily="34" charset="0"/>
              </a:rPr>
              <a:t>(A + B + C)(A +B + C)(A + B + C)</a:t>
            </a:r>
          </a:p>
          <a:p>
            <a:r>
              <a:rPr lang="en-IN" b="0" i="0" dirty="0">
                <a:solidFill>
                  <a:srgbClr val="414143"/>
                </a:solidFill>
                <a:effectLst/>
                <a:latin typeface="Lato" panose="020F0502020204030203" pitchFamily="34" charset="0"/>
              </a:rPr>
              <a:t>(A + B)(A + C)</a:t>
            </a:r>
            <a:endParaRPr lang="en-IN" dirty="0"/>
          </a:p>
        </p:txBody>
      </p:sp>
    </p:spTree>
    <p:extLst>
      <p:ext uri="{BB962C8B-B14F-4D97-AF65-F5344CB8AC3E}">
        <p14:creationId xmlns:p14="http://schemas.microsoft.com/office/powerpoint/2010/main" val="12416396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1AFC13-384A-9159-F226-EF558D6F577B}"/>
              </a:ext>
            </a:extLst>
          </p:cNvPr>
          <p:cNvPicPr>
            <a:picLocks noChangeAspect="1"/>
          </p:cNvPicPr>
          <p:nvPr/>
        </p:nvPicPr>
        <p:blipFill>
          <a:blip r:embed="rId2"/>
          <a:stretch>
            <a:fillRect/>
          </a:stretch>
        </p:blipFill>
        <p:spPr>
          <a:xfrm>
            <a:off x="1329540" y="727587"/>
            <a:ext cx="10064478" cy="5958348"/>
          </a:xfrm>
          <a:prstGeom prst="rect">
            <a:avLst/>
          </a:prstGeom>
        </p:spPr>
      </p:pic>
    </p:spTree>
    <p:extLst>
      <p:ext uri="{BB962C8B-B14F-4D97-AF65-F5344CB8AC3E}">
        <p14:creationId xmlns:p14="http://schemas.microsoft.com/office/powerpoint/2010/main" val="678734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8CD105-099E-714E-8D0D-6E8B5E82A753}"/>
              </a:ext>
            </a:extLst>
          </p:cNvPr>
          <p:cNvSpPr>
            <a:spLocks noGrp="1"/>
          </p:cNvSpPr>
          <p:nvPr>
            <p:ph type="subTitle" idx="1"/>
          </p:nvPr>
        </p:nvSpPr>
        <p:spPr>
          <a:xfrm>
            <a:off x="1524000" y="1704412"/>
            <a:ext cx="9144000" cy="1655762"/>
          </a:xfrm>
        </p:spPr>
        <p:txBody>
          <a:bodyPr>
            <a:normAutofit fontScale="92500" lnSpcReduction="10000"/>
          </a:bodyPr>
          <a:lstStyle/>
          <a:p>
            <a:r>
              <a:rPr lang="en-US" b="0" i="0" dirty="0">
                <a:solidFill>
                  <a:srgbClr val="414042"/>
                </a:solidFill>
                <a:effectLst/>
                <a:latin typeface="Lato" panose="020F0502020204030203" pitchFamily="34" charset="0"/>
              </a:rPr>
              <a:t>A.(A + B) =A</a:t>
            </a:r>
          </a:p>
          <a:p>
            <a:r>
              <a:rPr lang="en-US" b="0" i="0" dirty="0">
                <a:solidFill>
                  <a:srgbClr val="414042"/>
                </a:solidFill>
                <a:effectLst/>
                <a:latin typeface="Lato" panose="020F0502020204030203" pitchFamily="34" charset="0"/>
              </a:rPr>
              <a:t> (A + B)(A + C) = A + B.C</a:t>
            </a:r>
            <a:endParaRPr lang="en-US" dirty="0">
              <a:solidFill>
                <a:srgbClr val="414042"/>
              </a:solidFill>
              <a:latin typeface="Lato" panose="020F0502020204030203" pitchFamily="34" charset="0"/>
            </a:endParaRPr>
          </a:p>
          <a:p>
            <a:r>
              <a:rPr lang="en-US" b="0" i="0" dirty="0">
                <a:solidFill>
                  <a:srgbClr val="414042"/>
                </a:solidFill>
                <a:effectLst/>
                <a:latin typeface="Lato" panose="020F0502020204030203" pitchFamily="34" charset="0"/>
              </a:rPr>
              <a:t>AB(BC+AC) = ABC </a:t>
            </a:r>
          </a:p>
          <a:p>
            <a:r>
              <a:rPr lang="en-US" b="0" i="0" dirty="0">
                <a:solidFill>
                  <a:srgbClr val="414042"/>
                </a:solidFill>
                <a:effectLst/>
                <a:latin typeface="Lato" panose="020F0502020204030203" pitchFamily="34" charset="0"/>
              </a:rPr>
              <a:t>(A + B + C)(A +B + C)(A + B + C= A + (B C)</a:t>
            </a:r>
            <a:endParaRPr lang="en-IN" dirty="0"/>
          </a:p>
        </p:txBody>
      </p:sp>
    </p:spTree>
    <p:extLst>
      <p:ext uri="{BB962C8B-B14F-4D97-AF65-F5344CB8AC3E}">
        <p14:creationId xmlns:p14="http://schemas.microsoft.com/office/powerpoint/2010/main" val="11099740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628CA-7FBE-AB63-0C20-551CE9511A08}"/>
              </a:ext>
            </a:extLst>
          </p:cNvPr>
          <p:cNvSpPr>
            <a:spLocks noGrp="1"/>
          </p:cNvSpPr>
          <p:nvPr>
            <p:ph type="title"/>
          </p:nvPr>
        </p:nvSpPr>
        <p:spPr/>
        <p:txBody>
          <a:bodyPr/>
          <a:lstStyle/>
          <a:p>
            <a:r>
              <a:rPr lang="en-IN" dirty="0"/>
              <a:t>K-Map</a:t>
            </a:r>
          </a:p>
        </p:txBody>
      </p:sp>
      <p:sp>
        <p:nvSpPr>
          <p:cNvPr id="4" name="TextBox 3">
            <a:extLst>
              <a:ext uri="{FF2B5EF4-FFF2-40B4-BE49-F238E27FC236}">
                <a16:creationId xmlns:a16="http://schemas.microsoft.com/office/drawing/2014/main" id="{BCDF1B35-E648-CF52-E128-ACA9E544A32D}"/>
              </a:ext>
            </a:extLst>
          </p:cNvPr>
          <p:cNvSpPr txBox="1"/>
          <p:nvPr/>
        </p:nvSpPr>
        <p:spPr>
          <a:xfrm>
            <a:off x="1128656" y="1894929"/>
            <a:ext cx="9446111" cy="4524315"/>
          </a:xfrm>
          <a:prstGeom prst="rect">
            <a:avLst/>
          </a:prstGeom>
          <a:noFill/>
        </p:spPr>
        <p:txBody>
          <a:bodyPr wrap="square">
            <a:spAutoFit/>
          </a:bodyPr>
          <a:lstStyle/>
          <a:p>
            <a:pPr algn="l" fontAlgn="base"/>
            <a:r>
              <a:rPr lang="en-US" sz="2400" b="1" i="0" dirty="0">
                <a:solidFill>
                  <a:srgbClr val="273239"/>
                </a:solidFill>
                <a:effectLst/>
                <a:latin typeface="Nunito" pitchFamily="2" charset="0"/>
              </a:rPr>
              <a:t>Steps to Solve Expression using K-map</a:t>
            </a:r>
          </a:p>
          <a:p>
            <a:pPr algn="l" fontAlgn="base">
              <a:buFont typeface="+mj-lt"/>
              <a:buAutoNum type="arabicPeriod"/>
            </a:pPr>
            <a:r>
              <a:rPr lang="en-US" sz="2400" b="0" i="0" dirty="0">
                <a:solidFill>
                  <a:srgbClr val="273239"/>
                </a:solidFill>
                <a:effectLst/>
                <a:latin typeface="Nunito" pitchFamily="2" charset="0"/>
              </a:rPr>
              <a:t>Select the K-map according to the number of variables.</a:t>
            </a:r>
          </a:p>
          <a:p>
            <a:pPr algn="l" fontAlgn="base">
              <a:buFont typeface="+mj-lt"/>
              <a:buAutoNum type="arabicPeriod" startAt="2"/>
            </a:pPr>
            <a:r>
              <a:rPr lang="en-US" sz="2400" b="0" i="0" dirty="0">
                <a:solidFill>
                  <a:srgbClr val="273239"/>
                </a:solidFill>
                <a:effectLst/>
                <a:latin typeface="Nunito" pitchFamily="2" charset="0"/>
              </a:rPr>
              <a:t>Identify </a:t>
            </a:r>
            <a:r>
              <a:rPr lang="en-US" sz="2400" b="0" i="0" dirty="0" err="1">
                <a:solidFill>
                  <a:srgbClr val="273239"/>
                </a:solidFill>
                <a:effectLst/>
                <a:latin typeface="Nunito" pitchFamily="2" charset="0"/>
              </a:rPr>
              <a:t>minterms</a:t>
            </a:r>
            <a:r>
              <a:rPr lang="en-US" sz="2400" b="0" i="0" dirty="0">
                <a:solidFill>
                  <a:srgbClr val="273239"/>
                </a:solidFill>
                <a:effectLst/>
                <a:latin typeface="Nunito" pitchFamily="2" charset="0"/>
              </a:rPr>
              <a:t> or maxterms as given in the problem.</a:t>
            </a:r>
          </a:p>
          <a:p>
            <a:pPr algn="l" fontAlgn="base">
              <a:buFont typeface="+mj-lt"/>
              <a:buAutoNum type="arabicPeriod" startAt="3"/>
            </a:pPr>
            <a:r>
              <a:rPr lang="en-US" sz="2400" b="0" i="0" dirty="0">
                <a:solidFill>
                  <a:srgbClr val="273239"/>
                </a:solidFill>
                <a:effectLst/>
                <a:latin typeface="Nunito" pitchFamily="2" charset="0"/>
              </a:rPr>
              <a:t>For SOP put 1’s in blocks of K-map respective to the </a:t>
            </a:r>
            <a:r>
              <a:rPr lang="en-US" sz="2400" b="0" i="0" dirty="0" err="1">
                <a:solidFill>
                  <a:srgbClr val="273239"/>
                </a:solidFill>
                <a:effectLst/>
                <a:latin typeface="Nunito" pitchFamily="2" charset="0"/>
              </a:rPr>
              <a:t>minterms</a:t>
            </a:r>
            <a:r>
              <a:rPr lang="en-US" sz="2400" b="0" i="0" dirty="0">
                <a:solidFill>
                  <a:srgbClr val="273239"/>
                </a:solidFill>
                <a:effectLst/>
                <a:latin typeface="Nunito" pitchFamily="2" charset="0"/>
              </a:rPr>
              <a:t> (0’s elsewhere).</a:t>
            </a:r>
          </a:p>
          <a:p>
            <a:pPr algn="l" fontAlgn="base">
              <a:buFont typeface="+mj-lt"/>
              <a:buAutoNum type="arabicPeriod" startAt="4"/>
            </a:pPr>
            <a:r>
              <a:rPr lang="en-US" sz="2400" b="0" i="0" dirty="0">
                <a:solidFill>
                  <a:srgbClr val="273239"/>
                </a:solidFill>
                <a:effectLst/>
                <a:latin typeface="Nunito" pitchFamily="2" charset="0"/>
              </a:rPr>
              <a:t>For POS put 0’s in blocks of K-map respective to the max terms (1’s elsewhere).</a:t>
            </a:r>
          </a:p>
          <a:p>
            <a:pPr algn="l" fontAlgn="base">
              <a:buFont typeface="+mj-lt"/>
              <a:buAutoNum type="arabicPeriod" startAt="5"/>
            </a:pPr>
            <a:r>
              <a:rPr lang="en-US" sz="2400" b="0" i="0" dirty="0">
                <a:solidFill>
                  <a:srgbClr val="273239"/>
                </a:solidFill>
                <a:effectLst/>
                <a:latin typeface="Nunito" pitchFamily="2" charset="0"/>
              </a:rPr>
              <a:t>Make rectangular groups containing total terms in power of two like 2,4,8 ..(except 1) and try to cover as many elements as you can in one group.</a:t>
            </a:r>
          </a:p>
          <a:p>
            <a:pPr algn="l" fontAlgn="base">
              <a:buFont typeface="+mj-lt"/>
              <a:buAutoNum type="arabicPeriod" startAt="6"/>
            </a:pPr>
            <a:r>
              <a:rPr lang="en-US" sz="2400" b="0" i="0" dirty="0">
                <a:solidFill>
                  <a:srgbClr val="273239"/>
                </a:solidFill>
                <a:effectLst/>
                <a:latin typeface="Nunito" pitchFamily="2" charset="0"/>
              </a:rPr>
              <a:t>From the groups made in step 5 find the product terms and sum them up for SOP form</a:t>
            </a:r>
            <a:r>
              <a:rPr lang="en-US" b="0" i="0" dirty="0">
                <a:solidFill>
                  <a:srgbClr val="273239"/>
                </a:solidFill>
                <a:effectLst/>
                <a:latin typeface="Nunito" pitchFamily="2" charset="0"/>
              </a:rPr>
              <a:t>.</a:t>
            </a:r>
          </a:p>
        </p:txBody>
      </p:sp>
    </p:spTree>
    <p:extLst>
      <p:ext uri="{BB962C8B-B14F-4D97-AF65-F5344CB8AC3E}">
        <p14:creationId xmlns:p14="http://schemas.microsoft.com/office/powerpoint/2010/main" val="16403295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alf Adder and Full Adder Explained - ALL ABOUT ELECTRONICS">
            <a:extLst>
              <a:ext uri="{FF2B5EF4-FFF2-40B4-BE49-F238E27FC236}">
                <a16:creationId xmlns:a16="http://schemas.microsoft.com/office/drawing/2014/main" id="{D20C3DAB-C7CA-EE45-F62A-A028E8F0C4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857" y="1528763"/>
            <a:ext cx="7411332" cy="46568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77553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26C02F-EA12-1320-DB07-461E03362E14}"/>
              </a:ext>
            </a:extLst>
          </p:cNvPr>
          <p:cNvPicPr>
            <a:picLocks noChangeAspect="1"/>
          </p:cNvPicPr>
          <p:nvPr/>
        </p:nvPicPr>
        <p:blipFill>
          <a:blip r:embed="rId2"/>
          <a:stretch>
            <a:fillRect/>
          </a:stretch>
        </p:blipFill>
        <p:spPr>
          <a:xfrm>
            <a:off x="-121113" y="300988"/>
            <a:ext cx="6217114" cy="3700857"/>
          </a:xfrm>
          <a:prstGeom prst="rect">
            <a:avLst/>
          </a:prstGeom>
        </p:spPr>
      </p:pic>
      <p:pic>
        <p:nvPicPr>
          <p:cNvPr id="6" name="Picture 5">
            <a:extLst>
              <a:ext uri="{FF2B5EF4-FFF2-40B4-BE49-F238E27FC236}">
                <a16:creationId xmlns:a16="http://schemas.microsoft.com/office/drawing/2014/main" id="{52E9A4B7-BF07-F17B-2DF2-385B4FDD893C}"/>
              </a:ext>
            </a:extLst>
          </p:cNvPr>
          <p:cNvPicPr>
            <a:picLocks noChangeAspect="1"/>
          </p:cNvPicPr>
          <p:nvPr/>
        </p:nvPicPr>
        <p:blipFill>
          <a:blip r:embed="rId3"/>
          <a:stretch>
            <a:fillRect/>
          </a:stretch>
        </p:blipFill>
        <p:spPr>
          <a:xfrm>
            <a:off x="5740498" y="3534932"/>
            <a:ext cx="6348010" cy="3482642"/>
          </a:xfrm>
          <a:prstGeom prst="rect">
            <a:avLst/>
          </a:prstGeom>
        </p:spPr>
      </p:pic>
      <p:sp>
        <p:nvSpPr>
          <p:cNvPr id="7" name="Rectangle 1">
            <a:extLst>
              <a:ext uri="{FF2B5EF4-FFF2-40B4-BE49-F238E27FC236}">
                <a16:creationId xmlns:a16="http://schemas.microsoft.com/office/drawing/2014/main" id="{E67DFD03-3E70-A899-ADAC-53DD17E25E63}"/>
              </a:ext>
            </a:extLst>
          </p:cNvPr>
          <p:cNvSpPr>
            <a:spLocks noChangeArrowheads="1"/>
          </p:cNvSpPr>
          <p:nvPr/>
        </p:nvSpPr>
        <p:spPr bwMode="auto">
          <a:xfrm>
            <a:off x="2997298" y="6187680"/>
            <a:ext cx="2743200" cy="553998"/>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Consolas" panose="020B0609020204030204" pitchFamily="49" charset="0"/>
              </a:rPr>
              <a:t>(A' + B’) (B’ + C’) (A + B + C)</a:t>
            </a:r>
            <a:r>
              <a:rPr kumimoji="0" lang="en-US" altLang="en-US" b="0" i="0" u="none" strike="noStrike" cap="none" normalizeH="0" baseline="0" dirty="0">
                <a:ln>
                  <a:noFill/>
                </a:ln>
                <a:solidFill>
                  <a:schemeClr val="tx1"/>
                </a:solidFill>
                <a:effectLst/>
                <a:latin typeface="Consolas" panose="020B0609020204030204" pitchFamily="49" charset="0"/>
              </a:rPr>
              <a:t> </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995329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D77CBF-A60B-593E-3BFF-11CB91DC0D47}"/>
              </a:ext>
            </a:extLst>
          </p:cNvPr>
          <p:cNvPicPr>
            <a:picLocks noChangeAspect="1"/>
          </p:cNvPicPr>
          <p:nvPr/>
        </p:nvPicPr>
        <p:blipFill>
          <a:blip r:embed="rId2"/>
          <a:stretch>
            <a:fillRect/>
          </a:stretch>
        </p:blipFill>
        <p:spPr>
          <a:xfrm>
            <a:off x="911447" y="416858"/>
            <a:ext cx="10776021" cy="6024283"/>
          </a:xfrm>
          <a:prstGeom prst="rect">
            <a:avLst/>
          </a:prstGeom>
        </p:spPr>
      </p:pic>
    </p:spTree>
    <p:extLst>
      <p:ext uri="{BB962C8B-B14F-4D97-AF65-F5344CB8AC3E}">
        <p14:creationId xmlns:p14="http://schemas.microsoft.com/office/powerpoint/2010/main" val="25955713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B46456-4C7D-A0C5-4C54-87B39E39B035}"/>
              </a:ext>
            </a:extLst>
          </p:cNvPr>
          <p:cNvPicPr>
            <a:picLocks noChangeAspect="1"/>
          </p:cNvPicPr>
          <p:nvPr/>
        </p:nvPicPr>
        <p:blipFill>
          <a:blip r:embed="rId2"/>
          <a:stretch>
            <a:fillRect/>
          </a:stretch>
        </p:blipFill>
        <p:spPr>
          <a:xfrm>
            <a:off x="1081549" y="441064"/>
            <a:ext cx="7988525" cy="4832810"/>
          </a:xfrm>
          <a:prstGeom prst="rect">
            <a:avLst/>
          </a:prstGeom>
        </p:spPr>
      </p:pic>
      <p:sp>
        <p:nvSpPr>
          <p:cNvPr id="4" name="Rectangle 1">
            <a:extLst>
              <a:ext uri="{FF2B5EF4-FFF2-40B4-BE49-F238E27FC236}">
                <a16:creationId xmlns:a16="http://schemas.microsoft.com/office/drawing/2014/main" id="{FC9E3EA3-1477-14EC-AEA1-33BFA96BA5A4}"/>
              </a:ext>
            </a:extLst>
          </p:cNvPr>
          <p:cNvSpPr>
            <a:spLocks noChangeArrowheads="1"/>
          </p:cNvSpPr>
          <p:nvPr/>
        </p:nvSpPr>
        <p:spPr bwMode="auto">
          <a:xfrm>
            <a:off x="3399416" y="5313358"/>
            <a:ext cx="4216997" cy="553998"/>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Consolas" panose="020B0609020204030204" pitchFamily="49" charset="0"/>
              </a:rPr>
              <a:t>(</a:t>
            </a:r>
            <a:r>
              <a:rPr kumimoji="0" lang="en-US" altLang="en-US" b="1" i="0" u="none" strike="noStrike" cap="none" normalizeH="0" baseline="0" dirty="0">
                <a:ln>
                  <a:noFill/>
                </a:ln>
                <a:solidFill>
                  <a:schemeClr val="tx1"/>
                </a:solidFill>
                <a:effectLst/>
                <a:latin typeface="Consolas" panose="020B0609020204030204" pitchFamily="49" charset="0"/>
              </a:rPr>
              <a:t>C+D’+B’).(C’+D’+A).(A’+C+D).(A’+B+C’)</a:t>
            </a:r>
            <a:r>
              <a:rPr kumimoji="0" lang="en-US" altLang="en-US" b="0" i="0" u="none" strike="noStrike" cap="none" normalizeH="0" baseline="0" dirty="0">
                <a:ln>
                  <a:noFill/>
                </a:ln>
                <a:solidFill>
                  <a:schemeClr val="tx1"/>
                </a:solidFill>
                <a:effectLst/>
                <a:latin typeface="Consolas" panose="020B0609020204030204" pitchFamily="49" charset="0"/>
              </a:rPr>
              <a:t> </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75136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5B1714-6640-0D12-6407-A1E33AFC0FF5}"/>
              </a:ext>
            </a:extLst>
          </p:cNvPr>
          <p:cNvPicPr>
            <a:picLocks noChangeAspect="1"/>
          </p:cNvPicPr>
          <p:nvPr/>
        </p:nvPicPr>
        <p:blipFill>
          <a:blip r:embed="rId2"/>
          <a:stretch>
            <a:fillRect/>
          </a:stretch>
        </p:blipFill>
        <p:spPr>
          <a:xfrm>
            <a:off x="1486499" y="698142"/>
            <a:ext cx="8791444" cy="6159858"/>
          </a:xfrm>
          <a:prstGeom prst="rect">
            <a:avLst/>
          </a:prstGeom>
        </p:spPr>
      </p:pic>
    </p:spTree>
    <p:extLst>
      <p:ext uri="{BB962C8B-B14F-4D97-AF65-F5344CB8AC3E}">
        <p14:creationId xmlns:p14="http://schemas.microsoft.com/office/powerpoint/2010/main" val="14980030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62250" y="914400"/>
            <a:ext cx="6667500" cy="5029200"/>
          </a:xfrm>
          <a:prstGeom prst="rect">
            <a:avLst/>
          </a:prstGeom>
        </p:spPr>
      </p:pic>
    </p:spTree>
    <p:extLst>
      <p:ext uri="{BB962C8B-B14F-4D97-AF65-F5344CB8AC3E}">
        <p14:creationId xmlns:p14="http://schemas.microsoft.com/office/powerpoint/2010/main" val="12923566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9088" y="119341"/>
            <a:ext cx="4155647" cy="3040717"/>
          </a:xfrm>
          <a:prstGeom prst="rect">
            <a:avLst/>
          </a:prstGeom>
        </p:spPr>
      </p:pic>
      <p:pic>
        <p:nvPicPr>
          <p:cNvPr id="6" name="Picture 5"/>
          <p:cNvPicPr>
            <a:picLocks noChangeAspect="1"/>
          </p:cNvPicPr>
          <p:nvPr/>
        </p:nvPicPr>
        <p:blipFill>
          <a:blip r:embed="rId3"/>
          <a:stretch>
            <a:fillRect/>
          </a:stretch>
        </p:blipFill>
        <p:spPr>
          <a:xfrm>
            <a:off x="4351852" y="597274"/>
            <a:ext cx="3488294" cy="521073"/>
          </a:xfrm>
          <a:prstGeom prst="rect">
            <a:avLst/>
          </a:prstGeom>
        </p:spPr>
      </p:pic>
      <p:pic>
        <p:nvPicPr>
          <p:cNvPr id="7" name="Picture 6"/>
          <p:cNvPicPr>
            <a:picLocks noChangeAspect="1"/>
          </p:cNvPicPr>
          <p:nvPr/>
        </p:nvPicPr>
        <p:blipFill>
          <a:blip r:embed="rId4"/>
          <a:stretch>
            <a:fillRect/>
          </a:stretch>
        </p:blipFill>
        <p:spPr>
          <a:xfrm>
            <a:off x="1480064" y="3983130"/>
            <a:ext cx="7658779" cy="2108387"/>
          </a:xfrm>
          <a:prstGeom prst="rect">
            <a:avLst/>
          </a:prstGeom>
        </p:spPr>
      </p:pic>
    </p:spTree>
    <p:extLst>
      <p:ext uri="{BB962C8B-B14F-4D97-AF65-F5344CB8AC3E}">
        <p14:creationId xmlns:p14="http://schemas.microsoft.com/office/powerpoint/2010/main" val="10968407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744E64-B331-30A9-DCE0-10BEB0B1D148}"/>
              </a:ext>
            </a:extLst>
          </p:cNvPr>
          <p:cNvPicPr>
            <a:picLocks noChangeAspect="1"/>
          </p:cNvPicPr>
          <p:nvPr/>
        </p:nvPicPr>
        <p:blipFill>
          <a:blip r:embed="rId2"/>
          <a:stretch>
            <a:fillRect/>
          </a:stretch>
        </p:blipFill>
        <p:spPr>
          <a:xfrm>
            <a:off x="892884" y="538047"/>
            <a:ext cx="9359153" cy="6510255"/>
          </a:xfrm>
          <a:prstGeom prst="rect">
            <a:avLst/>
          </a:prstGeom>
        </p:spPr>
      </p:pic>
    </p:spTree>
    <p:extLst>
      <p:ext uri="{BB962C8B-B14F-4D97-AF65-F5344CB8AC3E}">
        <p14:creationId xmlns:p14="http://schemas.microsoft.com/office/powerpoint/2010/main" val="38814482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2529" y="236809"/>
            <a:ext cx="11286185" cy="1200329"/>
          </a:xfrm>
          <a:prstGeom prst="rect">
            <a:avLst/>
          </a:prstGeom>
        </p:spPr>
        <p:txBody>
          <a:bodyPr wrap="square">
            <a:spAutoFit/>
          </a:bodyPr>
          <a:lstStyle/>
          <a:p>
            <a:r>
              <a:rPr lang="en-US" dirty="0">
                <a:solidFill>
                  <a:srgbClr val="273239"/>
                </a:solidFill>
                <a:latin typeface="Nunito"/>
              </a:rPr>
              <a:t>The </a:t>
            </a:r>
            <a:r>
              <a:rPr lang="en-US" u="sng" dirty="0">
                <a:latin typeface="Nunito"/>
                <a:hlinkClick r:id="rId2"/>
              </a:rPr>
              <a:t>DEMUX</a:t>
            </a:r>
            <a:r>
              <a:rPr lang="en-US" dirty="0">
                <a:solidFill>
                  <a:srgbClr val="273239"/>
                </a:solidFill>
                <a:latin typeface="Nunito"/>
              </a:rPr>
              <a:t> is a digital information processor. It takes input from one source and also converts the data to transmit towards various sources. The </a:t>
            </a:r>
            <a:r>
              <a:rPr lang="en-US" dirty="0" err="1">
                <a:solidFill>
                  <a:srgbClr val="273239"/>
                </a:solidFill>
                <a:latin typeface="Nunito"/>
              </a:rPr>
              <a:t>demultiplexer</a:t>
            </a:r>
            <a:r>
              <a:rPr lang="en-US" dirty="0">
                <a:solidFill>
                  <a:srgbClr val="273239"/>
                </a:solidFill>
                <a:latin typeface="Nunito"/>
              </a:rPr>
              <a:t> has one data input line. The </a:t>
            </a:r>
            <a:r>
              <a:rPr lang="en-US" dirty="0" err="1">
                <a:solidFill>
                  <a:srgbClr val="273239"/>
                </a:solidFill>
                <a:latin typeface="Nunito"/>
              </a:rPr>
              <a:t>demultiplexer</a:t>
            </a:r>
            <a:r>
              <a:rPr lang="en-US" dirty="0">
                <a:solidFill>
                  <a:srgbClr val="273239"/>
                </a:solidFill>
                <a:latin typeface="Nunito"/>
              </a:rPr>
              <a:t> has several control lines (also known as select lines). These lines determine to which output the input data should be sent. The number of control lines determines the number of output lines.</a:t>
            </a:r>
            <a:endParaRPr lang="en-IN" dirty="0"/>
          </a:p>
        </p:txBody>
      </p:sp>
      <p:pic>
        <p:nvPicPr>
          <p:cNvPr id="4" name="Picture 3"/>
          <p:cNvPicPr>
            <a:picLocks noChangeAspect="1"/>
          </p:cNvPicPr>
          <p:nvPr/>
        </p:nvPicPr>
        <p:blipFill>
          <a:blip r:embed="rId3"/>
          <a:stretch>
            <a:fillRect/>
          </a:stretch>
        </p:blipFill>
        <p:spPr>
          <a:xfrm>
            <a:off x="4361050" y="1437138"/>
            <a:ext cx="3512273" cy="2614052"/>
          </a:xfrm>
          <a:prstGeom prst="rect">
            <a:avLst/>
          </a:prstGeom>
        </p:spPr>
      </p:pic>
      <p:pic>
        <p:nvPicPr>
          <p:cNvPr id="5" name="Picture 4"/>
          <p:cNvPicPr>
            <a:picLocks noChangeAspect="1"/>
          </p:cNvPicPr>
          <p:nvPr/>
        </p:nvPicPr>
        <p:blipFill>
          <a:blip r:embed="rId4"/>
          <a:stretch>
            <a:fillRect/>
          </a:stretch>
        </p:blipFill>
        <p:spPr>
          <a:xfrm>
            <a:off x="1652026" y="1665755"/>
            <a:ext cx="2352675" cy="2800350"/>
          </a:xfrm>
          <a:prstGeom prst="rect">
            <a:avLst/>
          </a:prstGeom>
        </p:spPr>
      </p:pic>
      <p:pic>
        <p:nvPicPr>
          <p:cNvPr id="6" name="Picture 5"/>
          <p:cNvPicPr>
            <a:picLocks noChangeAspect="1"/>
          </p:cNvPicPr>
          <p:nvPr/>
        </p:nvPicPr>
        <p:blipFill>
          <a:blip r:embed="rId5"/>
          <a:stretch>
            <a:fillRect/>
          </a:stretch>
        </p:blipFill>
        <p:spPr>
          <a:xfrm>
            <a:off x="1967192" y="4694722"/>
            <a:ext cx="7069231" cy="1865813"/>
          </a:xfrm>
          <a:prstGeom prst="rect">
            <a:avLst/>
          </a:prstGeom>
        </p:spPr>
      </p:pic>
    </p:spTree>
    <p:extLst>
      <p:ext uri="{BB962C8B-B14F-4D97-AF65-F5344CB8AC3E}">
        <p14:creationId xmlns:p14="http://schemas.microsoft.com/office/powerpoint/2010/main" val="7072052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5AB98-F3C3-083D-925B-B6E96814BA51}"/>
              </a:ext>
            </a:extLst>
          </p:cNvPr>
          <p:cNvSpPr>
            <a:spLocks noGrp="1"/>
          </p:cNvSpPr>
          <p:nvPr>
            <p:ph type="title"/>
          </p:nvPr>
        </p:nvSpPr>
        <p:spPr>
          <a:xfrm>
            <a:off x="193508" y="114164"/>
            <a:ext cx="10543391" cy="1119430"/>
          </a:xfrm>
        </p:spPr>
        <p:txBody>
          <a:bodyPr/>
          <a:lstStyle/>
          <a:p>
            <a:r>
              <a:rPr lang="en-IN" dirty="0"/>
              <a:t>Difference between MUX and </a:t>
            </a:r>
            <a:r>
              <a:rPr lang="en-IN" dirty="0" err="1"/>
              <a:t>DeMUX</a:t>
            </a:r>
            <a:endParaRPr lang="en-IN" dirty="0"/>
          </a:p>
        </p:txBody>
      </p:sp>
      <p:pic>
        <p:nvPicPr>
          <p:cNvPr id="4" name="Picture 3">
            <a:extLst>
              <a:ext uri="{FF2B5EF4-FFF2-40B4-BE49-F238E27FC236}">
                <a16:creationId xmlns:a16="http://schemas.microsoft.com/office/drawing/2014/main" id="{70467AAC-CCC5-779E-DA94-967B61D574E8}"/>
              </a:ext>
            </a:extLst>
          </p:cNvPr>
          <p:cNvPicPr>
            <a:picLocks noChangeAspect="1"/>
          </p:cNvPicPr>
          <p:nvPr/>
        </p:nvPicPr>
        <p:blipFill>
          <a:blip r:embed="rId2"/>
          <a:stretch>
            <a:fillRect/>
          </a:stretch>
        </p:blipFill>
        <p:spPr>
          <a:xfrm>
            <a:off x="2616578" y="924841"/>
            <a:ext cx="8509574" cy="5818995"/>
          </a:xfrm>
          <a:prstGeom prst="rect">
            <a:avLst/>
          </a:prstGeom>
        </p:spPr>
      </p:pic>
    </p:spTree>
    <p:extLst>
      <p:ext uri="{BB962C8B-B14F-4D97-AF65-F5344CB8AC3E}">
        <p14:creationId xmlns:p14="http://schemas.microsoft.com/office/powerpoint/2010/main" val="17875574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54667" y="892263"/>
            <a:ext cx="7849942" cy="4911821"/>
          </a:xfrm>
          <a:prstGeom prst="rect">
            <a:avLst/>
          </a:prstGeom>
        </p:spPr>
      </p:pic>
    </p:spTree>
    <p:extLst>
      <p:ext uri="{BB962C8B-B14F-4D97-AF65-F5344CB8AC3E}">
        <p14:creationId xmlns:p14="http://schemas.microsoft.com/office/powerpoint/2010/main" val="10597182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9965" y="1948080"/>
            <a:ext cx="9224681" cy="3416320"/>
          </a:xfrm>
          <a:prstGeom prst="rect">
            <a:avLst/>
          </a:prstGeom>
        </p:spPr>
        <p:txBody>
          <a:bodyPr wrap="square">
            <a:spAutoFit/>
          </a:bodyPr>
          <a:lstStyle/>
          <a:p>
            <a:pPr fontAlgn="base"/>
            <a:r>
              <a:rPr lang="en-US" sz="2400" b="1" dirty="0">
                <a:solidFill>
                  <a:srgbClr val="273239"/>
                </a:solidFill>
                <a:latin typeface="Nunito"/>
              </a:rPr>
              <a:t>Applications of MUX</a:t>
            </a:r>
          </a:p>
          <a:p>
            <a:pPr algn="just" fontAlgn="base"/>
            <a:r>
              <a:rPr lang="en-US" sz="2400" dirty="0">
                <a:solidFill>
                  <a:srgbClr val="273239"/>
                </a:solidFill>
                <a:latin typeface="Nunito"/>
              </a:rPr>
              <a:t>MUX i.e., multiplexer has many applications in different fields. Some of these applications are listed below.</a:t>
            </a:r>
          </a:p>
          <a:p>
            <a:pPr fontAlgn="base">
              <a:buFont typeface="Arial" panose="020B0604020202020204" pitchFamily="34" charset="0"/>
              <a:buChar char="•"/>
            </a:pPr>
            <a:r>
              <a:rPr lang="en-US" sz="2400" dirty="0">
                <a:solidFill>
                  <a:srgbClr val="273239"/>
                </a:solidFill>
                <a:latin typeface="Nunito"/>
              </a:rPr>
              <a:t>Implementation of Digital Circuits</a:t>
            </a:r>
          </a:p>
          <a:p>
            <a:pPr fontAlgn="base">
              <a:buFont typeface="Arial" panose="020B0604020202020204" pitchFamily="34" charset="0"/>
              <a:buChar char="•"/>
            </a:pPr>
            <a:r>
              <a:rPr lang="en-US" sz="2400" dirty="0">
                <a:solidFill>
                  <a:srgbClr val="273239"/>
                </a:solidFill>
                <a:latin typeface="Nunito"/>
              </a:rPr>
              <a:t>Control Unit of CPU</a:t>
            </a:r>
          </a:p>
          <a:p>
            <a:pPr fontAlgn="base">
              <a:buFont typeface="Arial" panose="020B0604020202020204" pitchFamily="34" charset="0"/>
              <a:buChar char="•"/>
            </a:pPr>
            <a:r>
              <a:rPr lang="en-US" sz="2400" dirty="0">
                <a:solidFill>
                  <a:srgbClr val="273239"/>
                </a:solidFill>
                <a:latin typeface="Nunito"/>
              </a:rPr>
              <a:t>Parallel to Serial Data Conversion</a:t>
            </a:r>
          </a:p>
          <a:p>
            <a:pPr fontAlgn="base">
              <a:buFont typeface="Arial" panose="020B0604020202020204" pitchFamily="34" charset="0"/>
              <a:buChar char="•"/>
            </a:pPr>
            <a:r>
              <a:rPr lang="en-US" sz="2400" dirty="0">
                <a:solidFill>
                  <a:srgbClr val="273239"/>
                </a:solidFill>
                <a:latin typeface="Nunito"/>
              </a:rPr>
              <a:t>Computer Memory</a:t>
            </a:r>
          </a:p>
          <a:p>
            <a:pPr fontAlgn="base">
              <a:buFont typeface="Arial" panose="020B0604020202020204" pitchFamily="34" charset="0"/>
              <a:buChar char="•"/>
            </a:pPr>
            <a:r>
              <a:rPr lang="en-US" sz="2400" dirty="0">
                <a:solidFill>
                  <a:srgbClr val="273239"/>
                </a:solidFill>
                <a:latin typeface="Nunito"/>
              </a:rPr>
              <a:t>Data Routing</a:t>
            </a:r>
          </a:p>
          <a:p>
            <a:pPr fontAlgn="base">
              <a:buFont typeface="Arial" panose="020B0604020202020204" pitchFamily="34" charset="0"/>
              <a:buChar char="•"/>
            </a:pPr>
            <a:r>
              <a:rPr lang="en-US" sz="2400" dirty="0">
                <a:solidFill>
                  <a:srgbClr val="273239"/>
                </a:solidFill>
                <a:latin typeface="Nunito"/>
              </a:rPr>
              <a:t>Communication Systems</a:t>
            </a:r>
            <a:endParaRPr lang="en-US" sz="2400" b="0" i="0" dirty="0">
              <a:solidFill>
                <a:srgbClr val="273239"/>
              </a:solidFill>
              <a:effectLst/>
              <a:latin typeface="Nunito"/>
            </a:endParaRPr>
          </a:p>
        </p:txBody>
      </p:sp>
    </p:spTree>
    <p:extLst>
      <p:ext uri="{BB962C8B-B14F-4D97-AF65-F5344CB8AC3E}">
        <p14:creationId xmlns:p14="http://schemas.microsoft.com/office/powerpoint/2010/main" val="18192832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6859" y="889844"/>
            <a:ext cx="8727141" cy="5078313"/>
          </a:xfrm>
          <a:prstGeom prst="rect">
            <a:avLst/>
          </a:prstGeom>
        </p:spPr>
        <p:txBody>
          <a:bodyPr wrap="square">
            <a:spAutoFit/>
          </a:bodyPr>
          <a:lstStyle/>
          <a:p>
            <a:pPr fontAlgn="base"/>
            <a:r>
              <a:rPr lang="en-US" b="1" dirty="0">
                <a:solidFill>
                  <a:srgbClr val="273239"/>
                </a:solidFill>
                <a:latin typeface="Nunito"/>
              </a:rPr>
              <a:t>Applications of DEMUX</a:t>
            </a:r>
          </a:p>
          <a:p>
            <a:pPr fontAlgn="base">
              <a:buFont typeface="Arial" panose="020B0604020202020204" pitchFamily="34" charset="0"/>
              <a:buChar char="•"/>
            </a:pPr>
            <a:r>
              <a:rPr lang="en-US" dirty="0">
                <a:solidFill>
                  <a:srgbClr val="273239"/>
                </a:solidFill>
                <a:latin typeface="Nunito"/>
              </a:rPr>
              <a:t>DEMUXs are majorly used to design the ALU circuits and parallel data segments.</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r>
              <a:rPr lang="en-US" dirty="0">
                <a:solidFill>
                  <a:srgbClr val="273239"/>
                </a:solidFill>
                <a:latin typeface="Nunito"/>
              </a:rPr>
              <a:t>The DEMUXs convert the output of the MUX into the actual input. On the receiver end, the DEMUX can be used to verify the original form of the data to carry out the entire communication process.</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r>
              <a:rPr lang="en-US" dirty="0">
                <a:solidFill>
                  <a:srgbClr val="273239"/>
                </a:solidFill>
                <a:latin typeface="Nunito"/>
              </a:rPr>
              <a:t>DEMUX helps to save the output. The output generally saved to the ALU. The output will be saved in the registers and the various storage units of the system.</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r>
              <a:rPr lang="en-US" dirty="0">
                <a:solidFill>
                  <a:srgbClr val="273239"/>
                </a:solidFill>
                <a:latin typeface="Nunito"/>
              </a:rPr>
              <a:t>Each DEMUX has a connection with multiple registers which helps to store the processed data into it.</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r>
              <a:rPr lang="en-US" dirty="0">
                <a:solidFill>
                  <a:srgbClr val="273239"/>
                </a:solidFill>
                <a:latin typeface="Nunito"/>
              </a:rPr>
              <a:t>The counterpart of the DEMUX regulates the data signal at the output stage of the DEMUX operation. These data can be retrieved later to read out </a:t>
            </a:r>
            <a:r>
              <a:rPr lang="en-US" dirty="0" err="1">
                <a:solidFill>
                  <a:srgbClr val="273239"/>
                </a:solidFill>
                <a:latin typeface="Nunito"/>
              </a:rPr>
              <a:t>parallelly</a:t>
            </a:r>
            <a:r>
              <a:rPr lang="en-US" dirty="0">
                <a:solidFill>
                  <a:srgbClr val="273239"/>
                </a:solidFill>
                <a:latin typeface="Nunito"/>
              </a:rPr>
              <a:t>.</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r>
              <a:rPr lang="en-US" dirty="0">
                <a:solidFill>
                  <a:srgbClr val="273239"/>
                </a:solidFill>
                <a:latin typeface="Nunito"/>
              </a:rPr>
              <a:t>In the audio or video system, the DEMUX distributes them in different channels. In broadcasting, the DEMUX separates the composite signal into an individual one.</a:t>
            </a:r>
            <a:endParaRPr lang="en-US" b="0" i="0" dirty="0">
              <a:solidFill>
                <a:srgbClr val="273239"/>
              </a:solidFill>
              <a:effectLst/>
              <a:latin typeface="Nunito"/>
            </a:endParaRPr>
          </a:p>
        </p:txBody>
      </p:sp>
    </p:spTree>
    <p:extLst>
      <p:ext uri="{BB962C8B-B14F-4D97-AF65-F5344CB8AC3E}">
        <p14:creationId xmlns:p14="http://schemas.microsoft.com/office/powerpoint/2010/main" val="31446192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9953" y="399000"/>
            <a:ext cx="9726706" cy="2862322"/>
          </a:xfrm>
          <a:prstGeom prst="rect">
            <a:avLst/>
          </a:prstGeom>
        </p:spPr>
        <p:txBody>
          <a:bodyPr wrap="square">
            <a:spAutoFit/>
          </a:bodyPr>
          <a:lstStyle/>
          <a:p>
            <a:pPr fontAlgn="base"/>
            <a:r>
              <a:rPr lang="en-US" dirty="0">
                <a:solidFill>
                  <a:srgbClr val="273239"/>
                </a:solidFill>
                <a:latin typeface="Nunito"/>
              </a:rPr>
              <a:t>Binary code of N digits can be used to store 2</a:t>
            </a:r>
            <a:r>
              <a:rPr lang="en-US" baseline="30000" dirty="0">
                <a:solidFill>
                  <a:srgbClr val="273239"/>
                </a:solidFill>
                <a:latin typeface="Nunito"/>
              </a:rPr>
              <a:t>N </a:t>
            </a:r>
            <a:r>
              <a:rPr lang="en-US" dirty="0">
                <a:solidFill>
                  <a:srgbClr val="273239"/>
                </a:solidFill>
                <a:latin typeface="Nunito"/>
              </a:rPr>
              <a:t>distinct elements of coded information. This is what encoders and decoders are used for.</a:t>
            </a:r>
          </a:p>
          <a:p>
            <a:pPr fontAlgn="base"/>
            <a:endParaRPr lang="en-US" b="1" dirty="0">
              <a:solidFill>
                <a:srgbClr val="273239"/>
              </a:solidFill>
              <a:latin typeface="Nunito"/>
            </a:endParaRPr>
          </a:p>
          <a:p>
            <a:pPr fontAlgn="base"/>
            <a:r>
              <a:rPr lang="en-US" b="1" dirty="0">
                <a:solidFill>
                  <a:srgbClr val="273239"/>
                </a:solidFill>
                <a:latin typeface="Nunito"/>
              </a:rPr>
              <a:t>Encoders </a:t>
            </a:r>
            <a:r>
              <a:rPr lang="en-US" dirty="0">
                <a:solidFill>
                  <a:srgbClr val="273239"/>
                </a:solidFill>
                <a:latin typeface="Nunito"/>
              </a:rPr>
              <a:t>convert 2</a:t>
            </a:r>
            <a:r>
              <a:rPr lang="en-US" baseline="30000" dirty="0">
                <a:solidFill>
                  <a:srgbClr val="273239"/>
                </a:solidFill>
                <a:latin typeface="Nunito"/>
              </a:rPr>
              <a:t>N </a:t>
            </a:r>
            <a:r>
              <a:rPr lang="en-US" dirty="0">
                <a:solidFill>
                  <a:srgbClr val="273239"/>
                </a:solidFill>
                <a:latin typeface="Nunito"/>
              </a:rPr>
              <a:t>lines of input into a code of N bits and </a:t>
            </a:r>
            <a:r>
              <a:rPr lang="en-US" b="1" dirty="0">
                <a:solidFill>
                  <a:srgbClr val="273239"/>
                </a:solidFill>
                <a:latin typeface="Nunito"/>
              </a:rPr>
              <a:t>Decoders </a:t>
            </a:r>
            <a:r>
              <a:rPr lang="en-US" dirty="0">
                <a:solidFill>
                  <a:srgbClr val="273239"/>
                </a:solidFill>
                <a:latin typeface="Nunito"/>
              </a:rPr>
              <a:t>decode the N bits into 2</a:t>
            </a:r>
            <a:r>
              <a:rPr lang="en-US" baseline="30000" dirty="0">
                <a:solidFill>
                  <a:srgbClr val="273239"/>
                </a:solidFill>
                <a:latin typeface="Nunito"/>
              </a:rPr>
              <a:t>N </a:t>
            </a:r>
            <a:r>
              <a:rPr lang="en-US" dirty="0">
                <a:solidFill>
                  <a:srgbClr val="273239"/>
                </a:solidFill>
                <a:latin typeface="Nunito"/>
              </a:rPr>
              <a:t>lines.</a:t>
            </a:r>
          </a:p>
          <a:p>
            <a:pPr fontAlgn="base"/>
            <a:r>
              <a:rPr lang="en-US" b="1" dirty="0">
                <a:solidFill>
                  <a:srgbClr val="273239"/>
                </a:solidFill>
                <a:latin typeface="Nunito"/>
              </a:rPr>
              <a:t> Encoders – </a:t>
            </a:r>
            <a:r>
              <a:rPr lang="en-US" dirty="0">
                <a:solidFill>
                  <a:srgbClr val="273239"/>
                </a:solidFill>
                <a:latin typeface="Nunito"/>
              </a:rPr>
              <a:t>An encoder is a combinational circuit that converts binary information in the form of a 2</a:t>
            </a:r>
            <a:r>
              <a:rPr lang="en-US" baseline="30000" dirty="0">
                <a:solidFill>
                  <a:srgbClr val="273239"/>
                </a:solidFill>
                <a:latin typeface="Nunito"/>
              </a:rPr>
              <a:t>N </a:t>
            </a:r>
            <a:r>
              <a:rPr lang="en-US" dirty="0">
                <a:solidFill>
                  <a:srgbClr val="273239"/>
                </a:solidFill>
                <a:latin typeface="Nunito"/>
              </a:rPr>
              <a:t>input lines into N output lines, which represent N bit code for the input. For simple encoders, it is assumed that only one input line is active at a time. As an example, let’s consider </a:t>
            </a:r>
            <a:r>
              <a:rPr lang="en-US" b="1" dirty="0">
                <a:solidFill>
                  <a:srgbClr val="273239"/>
                </a:solidFill>
                <a:latin typeface="Nunito"/>
              </a:rPr>
              <a:t>Octal to Binary </a:t>
            </a:r>
            <a:r>
              <a:rPr lang="en-US" dirty="0">
                <a:solidFill>
                  <a:srgbClr val="273239"/>
                </a:solidFill>
                <a:latin typeface="Nunito"/>
              </a:rPr>
              <a:t>encoder. As shown in the following figure, an octal-to-binary encoder takes 8 input lines and generates 3 output lines.</a:t>
            </a:r>
            <a:endParaRPr lang="en-US" b="0" i="0" dirty="0">
              <a:solidFill>
                <a:srgbClr val="273239"/>
              </a:solidFill>
              <a:effectLst/>
              <a:latin typeface="Nunito"/>
            </a:endParaRPr>
          </a:p>
        </p:txBody>
      </p:sp>
      <p:pic>
        <p:nvPicPr>
          <p:cNvPr id="3" name="Picture 2"/>
          <p:cNvPicPr>
            <a:picLocks noChangeAspect="1"/>
          </p:cNvPicPr>
          <p:nvPr/>
        </p:nvPicPr>
        <p:blipFill>
          <a:blip r:embed="rId2"/>
          <a:stretch>
            <a:fillRect/>
          </a:stretch>
        </p:blipFill>
        <p:spPr>
          <a:xfrm>
            <a:off x="2763090" y="3832412"/>
            <a:ext cx="4203972" cy="2457169"/>
          </a:xfrm>
          <a:prstGeom prst="rect">
            <a:avLst/>
          </a:prstGeom>
        </p:spPr>
      </p:pic>
    </p:spTree>
    <p:extLst>
      <p:ext uri="{BB962C8B-B14F-4D97-AF65-F5344CB8AC3E}">
        <p14:creationId xmlns:p14="http://schemas.microsoft.com/office/powerpoint/2010/main" val="26350799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15583" y="1560699"/>
            <a:ext cx="4600575" cy="4543425"/>
          </a:xfrm>
          <a:prstGeom prst="rect">
            <a:avLst/>
          </a:prstGeom>
        </p:spPr>
      </p:pic>
      <p:sp>
        <p:nvSpPr>
          <p:cNvPr id="3" name="Rectangle 1"/>
          <p:cNvSpPr>
            <a:spLocks noChangeArrowheads="1"/>
          </p:cNvSpPr>
          <p:nvPr/>
        </p:nvSpPr>
        <p:spPr bwMode="auto">
          <a:xfrm>
            <a:off x="6602505" y="2054205"/>
            <a:ext cx="5015754" cy="285972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273239"/>
                </a:solidFill>
                <a:effectLst/>
                <a:latin typeface="Nunito"/>
              </a:rPr>
              <a:t>From the truth table, the output line Z is active when the input octal digit is 1, 3, 5 or 7. Similarly, Y is 1 when input octal digit is 2, 3, 6 or 7 and X is 1 for input octal digits 4, 5, 6 or 7. Hence, the Boolean functions would be:</a:t>
            </a:r>
            <a:endParaRPr kumimoji="0" lang="en-US" sz="2000"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rPr>
              <a:t>X = D4 + D5 + D6 + D7</a:t>
            </a:r>
            <a:br>
              <a:rPr kumimoji="0" lang="en-US" sz="2000" b="0" i="0" u="none" strike="noStrike" cap="none" normalizeH="0" baseline="0" dirty="0">
                <a:ln>
                  <a:noFill/>
                </a:ln>
                <a:solidFill>
                  <a:schemeClr val="tx1"/>
                </a:solidFill>
                <a:effectLst/>
                <a:latin typeface="Consolas" panose="020B0609020204030204" pitchFamily="49" charset="0"/>
              </a:rPr>
            </a:br>
            <a:r>
              <a:rPr kumimoji="0" lang="en-US" sz="2000" b="0" i="0" u="none" strike="noStrike" cap="none" normalizeH="0" baseline="0" dirty="0">
                <a:ln>
                  <a:noFill/>
                </a:ln>
                <a:solidFill>
                  <a:schemeClr val="tx1"/>
                </a:solidFill>
                <a:effectLst/>
                <a:latin typeface="Consolas" panose="020B0609020204030204" pitchFamily="49" charset="0"/>
              </a:rPr>
              <a:t>Y = D2 +D3 + D6 + D7</a:t>
            </a:r>
            <a:br>
              <a:rPr kumimoji="0" lang="en-US" sz="2000" b="0" i="0" u="none" strike="noStrike" cap="none" normalizeH="0" baseline="0" dirty="0">
                <a:ln>
                  <a:noFill/>
                </a:ln>
                <a:solidFill>
                  <a:schemeClr val="tx1"/>
                </a:solidFill>
                <a:effectLst/>
                <a:latin typeface="Consolas" panose="020B0609020204030204" pitchFamily="49" charset="0"/>
              </a:rPr>
            </a:br>
            <a:r>
              <a:rPr kumimoji="0" lang="en-US" sz="2000" b="0" i="0" u="none" strike="noStrike" cap="none" normalizeH="0" baseline="0" dirty="0">
                <a:ln>
                  <a:noFill/>
                </a:ln>
                <a:solidFill>
                  <a:schemeClr val="tx1"/>
                </a:solidFill>
                <a:effectLst/>
                <a:latin typeface="Consolas" panose="020B0609020204030204" pitchFamily="49" charset="0"/>
              </a:rPr>
              <a:t>Z = D1 + D3 + D5 + D7 </a:t>
            </a:r>
            <a:endParaRPr kumimoji="0" 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07977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05448" y="1532966"/>
            <a:ext cx="9613749" cy="4256834"/>
          </a:xfrm>
          <a:prstGeom prst="rect">
            <a:avLst/>
          </a:prstGeom>
        </p:spPr>
      </p:pic>
    </p:spTree>
    <p:extLst>
      <p:ext uri="{BB962C8B-B14F-4D97-AF65-F5344CB8AC3E}">
        <p14:creationId xmlns:p14="http://schemas.microsoft.com/office/powerpoint/2010/main" val="24290669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a:spLocks noGrp="1"/>
          </p:cNvSpPr>
          <p:nvPr>
            <p:ph idx="1"/>
          </p:nvPr>
        </p:nvSpPr>
        <p:spPr>
          <a:xfrm>
            <a:off x="838200" y="566670"/>
            <a:ext cx="10430814" cy="5610293"/>
          </a:xfrm>
        </p:spPr>
        <p:txBody>
          <a:bodyPr>
            <a:normAutofit fontScale="25000" lnSpcReduction="20000"/>
          </a:bodyPr>
          <a:lstStyle/>
          <a:p>
            <a:pPr marL="0" indent="0">
              <a:buNone/>
            </a:pPr>
            <a:r>
              <a:rPr lang="en-US" sz="3400" b="1" dirty="0"/>
              <a:t>4 to 1 MUX</a:t>
            </a:r>
            <a:endParaRPr lang="en-IN" sz="3400" b="1" dirty="0"/>
          </a:p>
          <a:p>
            <a:pPr marL="0" indent="0">
              <a:buNone/>
            </a:pPr>
            <a:r>
              <a:rPr lang="en-US" sz="3400" b="1" dirty="0"/>
              <a:t>library </a:t>
            </a:r>
            <a:r>
              <a:rPr lang="en-US" sz="3400" b="1" dirty="0" err="1"/>
              <a:t>ieee</a:t>
            </a:r>
            <a:r>
              <a:rPr lang="en-US" sz="3400" b="1" dirty="0"/>
              <a:t>;</a:t>
            </a:r>
            <a:endParaRPr lang="en-IN" sz="3400" b="1" dirty="0"/>
          </a:p>
          <a:p>
            <a:pPr marL="0" indent="0">
              <a:buNone/>
            </a:pPr>
            <a:r>
              <a:rPr lang="en-US" sz="3400" b="1" dirty="0"/>
              <a:t>use ieee.std_logic_1164.all;</a:t>
            </a:r>
            <a:endParaRPr lang="en-IN" sz="3400" b="1" dirty="0"/>
          </a:p>
          <a:p>
            <a:pPr marL="0" indent="0">
              <a:buNone/>
            </a:pPr>
            <a:r>
              <a:rPr lang="en-US" sz="3400" b="1" dirty="0"/>
              <a:t>entity mux_4to1 is</a:t>
            </a:r>
            <a:endParaRPr lang="en-IN" sz="3400" b="1" dirty="0"/>
          </a:p>
          <a:p>
            <a:pPr marL="0" indent="0">
              <a:buNone/>
            </a:pPr>
            <a:r>
              <a:rPr lang="en-US" sz="3400" b="1" dirty="0"/>
              <a:t>port( A,B,C,D : in bit;</a:t>
            </a:r>
            <a:endParaRPr lang="en-IN" sz="3400" b="1" dirty="0"/>
          </a:p>
          <a:p>
            <a:pPr marL="0" indent="0">
              <a:buNone/>
            </a:pPr>
            <a:r>
              <a:rPr lang="en-US" sz="3400" b="1" dirty="0"/>
              <a:t>	S1,S0: in bit;</a:t>
            </a:r>
            <a:endParaRPr lang="en-IN" sz="3400" b="1" dirty="0"/>
          </a:p>
          <a:p>
            <a:pPr marL="0" indent="0">
              <a:buNone/>
            </a:pPr>
            <a:r>
              <a:rPr lang="en-US" sz="3400" b="1" dirty="0"/>
              <a:t>	Y: out bit);</a:t>
            </a:r>
            <a:endParaRPr lang="en-IN" sz="3400" b="1" dirty="0"/>
          </a:p>
          <a:p>
            <a:pPr marL="0" indent="0">
              <a:buNone/>
            </a:pPr>
            <a:r>
              <a:rPr lang="en-US" sz="3400" b="1" dirty="0"/>
              <a:t>end mux_4to1;</a:t>
            </a:r>
            <a:endParaRPr lang="en-IN" sz="3400" b="1" dirty="0"/>
          </a:p>
          <a:p>
            <a:pPr marL="0" indent="0">
              <a:buNone/>
            </a:pPr>
            <a:r>
              <a:rPr lang="en-US" sz="3400" b="1" dirty="0"/>
              <a:t>architecture </a:t>
            </a:r>
            <a:r>
              <a:rPr lang="en-US" sz="3400" b="1" dirty="0" err="1"/>
              <a:t>bhv</a:t>
            </a:r>
            <a:r>
              <a:rPr lang="en-US" sz="3400" b="1" dirty="0"/>
              <a:t> of mux_4to1 is</a:t>
            </a:r>
            <a:endParaRPr lang="en-IN" sz="3400" b="1" dirty="0"/>
          </a:p>
          <a:p>
            <a:pPr marL="0" indent="0">
              <a:buNone/>
            </a:pPr>
            <a:r>
              <a:rPr lang="en-US" sz="3400" b="1" dirty="0"/>
              <a:t>begin</a:t>
            </a:r>
            <a:endParaRPr lang="en-IN" sz="3400" b="1" dirty="0"/>
          </a:p>
          <a:p>
            <a:pPr marL="0" indent="0">
              <a:buNone/>
            </a:pPr>
            <a:r>
              <a:rPr lang="en-US" sz="3400" b="1" dirty="0"/>
              <a:t>process (A,B,C,D,S0,S1) is</a:t>
            </a:r>
            <a:endParaRPr lang="en-IN" sz="3400" b="1" dirty="0"/>
          </a:p>
          <a:p>
            <a:pPr marL="0" indent="0">
              <a:buNone/>
            </a:pPr>
            <a:r>
              <a:rPr lang="en-US" sz="3400" b="1" dirty="0"/>
              <a:t>begin</a:t>
            </a:r>
            <a:endParaRPr lang="en-IN" sz="3400" b="1" dirty="0"/>
          </a:p>
          <a:p>
            <a:pPr marL="0" indent="0">
              <a:buNone/>
            </a:pPr>
            <a:r>
              <a:rPr lang="en-US" sz="3400" b="1" dirty="0"/>
              <a:t>		if (S1 ='0' and S0 = '0') then</a:t>
            </a:r>
            <a:endParaRPr lang="en-IN" sz="3400" b="1" dirty="0"/>
          </a:p>
          <a:p>
            <a:pPr marL="0" indent="0">
              <a:buNone/>
            </a:pPr>
            <a:r>
              <a:rPr lang="en-US" sz="3400" b="1" dirty="0"/>
              <a:t>			Y&lt;= A;</a:t>
            </a:r>
            <a:endParaRPr lang="en-IN" sz="3400" b="1" dirty="0"/>
          </a:p>
          <a:p>
            <a:pPr marL="0" indent="0">
              <a:buNone/>
            </a:pPr>
            <a:r>
              <a:rPr lang="en-US" sz="3400" b="1" dirty="0"/>
              <a:t>		</a:t>
            </a:r>
            <a:r>
              <a:rPr lang="en-US" sz="3400" b="1" dirty="0" err="1"/>
              <a:t>elsif</a:t>
            </a:r>
            <a:r>
              <a:rPr lang="en-US" sz="3400" b="1" dirty="0"/>
              <a:t> (S1 ='0' and S0 = '1') then</a:t>
            </a:r>
            <a:endParaRPr lang="en-IN" sz="3400" b="1" dirty="0"/>
          </a:p>
          <a:p>
            <a:pPr marL="0" indent="0">
              <a:buNone/>
            </a:pPr>
            <a:r>
              <a:rPr lang="en-US" sz="3400" b="1" dirty="0"/>
              <a:t>			Y&lt;= B;</a:t>
            </a:r>
            <a:endParaRPr lang="en-IN" sz="3400" b="1" dirty="0"/>
          </a:p>
          <a:p>
            <a:pPr marL="0" indent="0">
              <a:buNone/>
            </a:pPr>
            <a:r>
              <a:rPr lang="en-US" sz="3400" b="1" dirty="0"/>
              <a:t>		</a:t>
            </a:r>
            <a:r>
              <a:rPr lang="en-US" sz="3400" b="1" dirty="0" err="1"/>
              <a:t>elsif</a:t>
            </a:r>
            <a:r>
              <a:rPr lang="en-US" sz="3400" b="1" dirty="0"/>
              <a:t> (S1 ='1' and S0 = '0') then</a:t>
            </a:r>
            <a:endParaRPr lang="en-IN" sz="3400" b="1" dirty="0"/>
          </a:p>
          <a:p>
            <a:pPr marL="0" indent="0">
              <a:buNone/>
            </a:pPr>
            <a:r>
              <a:rPr lang="en-US" sz="3400" b="1" dirty="0"/>
              <a:t>			Y&lt;= C;</a:t>
            </a:r>
            <a:endParaRPr lang="en-IN" sz="3400" b="1" dirty="0"/>
          </a:p>
          <a:p>
            <a:pPr marL="0" indent="0">
              <a:buNone/>
            </a:pPr>
            <a:r>
              <a:rPr lang="en-US" sz="3400" b="1" dirty="0"/>
              <a:t> else</a:t>
            </a:r>
            <a:endParaRPr lang="en-IN" sz="3400" b="1" dirty="0"/>
          </a:p>
          <a:p>
            <a:pPr marL="0" indent="0">
              <a:buNone/>
            </a:pPr>
            <a:r>
              <a:rPr lang="en-US" sz="3400" b="1" dirty="0"/>
              <a:t>			Y&lt;= D;</a:t>
            </a:r>
            <a:endParaRPr lang="en-IN" sz="3400" b="1" dirty="0"/>
          </a:p>
          <a:p>
            <a:pPr marL="0" indent="0">
              <a:buNone/>
            </a:pPr>
            <a:r>
              <a:rPr lang="en-US" sz="3400" b="1" dirty="0"/>
              <a:t>end if;</a:t>
            </a:r>
            <a:endParaRPr lang="en-IN" sz="3400" b="1" dirty="0"/>
          </a:p>
          <a:p>
            <a:pPr marL="0" indent="0">
              <a:buNone/>
            </a:pPr>
            <a:r>
              <a:rPr lang="en-US" sz="3400" b="1" dirty="0"/>
              <a:t>end process;</a:t>
            </a:r>
            <a:endParaRPr lang="en-IN" sz="3400" b="1" dirty="0"/>
          </a:p>
          <a:p>
            <a:pPr marL="0" indent="0">
              <a:buNone/>
            </a:pPr>
            <a:r>
              <a:rPr lang="en-US" sz="3400" b="1" dirty="0"/>
              <a:t>end </a:t>
            </a:r>
            <a:r>
              <a:rPr lang="en-US" sz="3400" b="1" dirty="0" err="1"/>
              <a:t>bhv</a:t>
            </a:r>
            <a:r>
              <a:rPr lang="en-US" sz="3400" b="1" dirty="0"/>
              <a:t>;</a:t>
            </a:r>
            <a:endParaRPr lang="en-IN" sz="3400" b="1" dirty="0"/>
          </a:p>
          <a:p>
            <a:pPr marL="0" indent="0">
              <a:buNone/>
            </a:pPr>
            <a:r>
              <a:rPr lang="en-US" sz="3400" b="1" dirty="0"/>
              <a:t> </a:t>
            </a:r>
            <a:endParaRPr lang="en-IN" sz="3400" b="1" dirty="0"/>
          </a:p>
          <a:p>
            <a:pPr marL="0" indent="0">
              <a:buNone/>
            </a:pPr>
            <a:r>
              <a:rPr lang="en-US" sz="3400" b="1" dirty="0"/>
              <a:t> </a:t>
            </a:r>
            <a:endParaRPr lang="en-IN" sz="3400" b="1" dirty="0"/>
          </a:p>
          <a:p>
            <a:endParaRPr lang="en-IN" dirty="0"/>
          </a:p>
        </p:txBody>
      </p:sp>
    </p:spTree>
    <p:extLst>
      <p:ext uri="{BB962C8B-B14F-4D97-AF65-F5344CB8AC3E}">
        <p14:creationId xmlns:p14="http://schemas.microsoft.com/office/powerpoint/2010/main" val="2412564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1318" y="780853"/>
            <a:ext cx="8543364" cy="923330"/>
          </a:xfrm>
          <a:prstGeom prst="rect">
            <a:avLst/>
          </a:prstGeom>
        </p:spPr>
        <p:txBody>
          <a:bodyPr wrap="square">
            <a:spAutoFit/>
          </a:bodyPr>
          <a:lstStyle/>
          <a:p>
            <a:pPr fontAlgn="base"/>
            <a:r>
              <a:rPr lang="en-US" dirty="0">
                <a:solidFill>
                  <a:srgbClr val="273239"/>
                </a:solidFill>
                <a:latin typeface="Nunito"/>
              </a:rPr>
              <a:t>A decoder does the opposite job of an encoder. It is a combinational circuit that converts n lines of input into 2</a:t>
            </a:r>
            <a:r>
              <a:rPr lang="en-US" baseline="30000" dirty="0">
                <a:solidFill>
                  <a:srgbClr val="273239"/>
                </a:solidFill>
                <a:latin typeface="Nunito"/>
              </a:rPr>
              <a:t>n </a:t>
            </a:r>
            <a:r>
              <a:rPr lang="en-US" dirty="0">
                <a:solidFill>
                  <a:srgbClr val="273239"/>
                </a:solidFill>
                <a:latin typeface="Nunito"/>
              </a:rPr>
              <a:t>lines of output.</a:t>
            </a:r>
          </a:p>
          <a:p>
            <a:pPr fontAlgn="base"/>
            <a:r>
              <a:rPr lang="en-US" dirty="0">
                <a:solidFill>
                  <a:srgbClr val="273239"/>
                </a:solidFill>
                <a:latin typeface="Nunito"/>
              </a:rPr>
              <a:t> Example of 3-to-8 line decoder.</a:t>
            </a:r>
            <a:endParaRPr lang="en-US" b="0" i="0" dirty="0">
              <a:solidFill>
                <a:srgbClr val="273239"/>
              </a:solidFill>
              <a:effectLst/>
              <a:latin typeface="Nunito"/>
            </a:endParaRPr>
          </a:p>
        </p:txBody>
      </p:sp>
      <p:sp>
        <p:nvSpPr>
          <p:cNvPr id="3" name="Rectangle 2"/>
          <p:cNvSpPr/>
          <p:nvPr/>
        </p:nvSpPr>
        <p:spPr>
          <a:xfrm>
            <a:off x="1102659" y="2413338"/>
            <a:ext cx="8041341" cy="2308324"/>
          </a:xfrm>
          <a:prstGeom prst="rect">
            <a:avLst/>
          </a:prstGeom>
        </p:spPr>
        <p:txBody>
          <a:bodyPr wrap="square">
            <a:spAutoFit/>
          </a:bodyPr>
          <a:lstStyle/>
          <a:p>
            <a:r>
              <a:rPr lang="es-ES" dirty="0"/>
              <a:t>D0 = X’ Y’ Z’</a:t>
            </a:r>
          </a:p>
          <a:p>
            <a:r>
              <a:rPr lang="es-ES" dirty="0"/>
              <a:t>D1 = X’ Y’ Z</a:t>
            </a:r>
          </a:p>
          <a:p>
            <a:r>
              <a:rPr lang="es-ES" dirty="0"/>
              <a:t>D2 = X’ Y Z’</a:t>
            </a:r>
          </a:p>
          <a:p>
            <a:r>
              <a:rPr lang="es-ES" dirty="0"/>
              <a:t>D3 = X’ Y Z</a:t>
            </a:r>
          </a:p>
          <a:p>
            <a:r>
              <a:rPr lang="es-ES" dirty="0"/>
              <a:t>D4 = X Y’ Z’</a:t>
            </a:r>
          </a:p>
          <a:p>
            <a:r>
              <a:rPr lang="es-ES" dirty="0"/>
              <a:t>D5 = X Y’ Z</a:t>
            </a:r>
          </a:p>
          <a:p>
            <a:r>
              <a:rPr lang="es-ES" dirty="0"/>
              <a:t>D6 = X Y Z’</a:t>
            </a:r>
          </a:p>
          <a:p>
            <a:r>
              <a:rPr lang="es-ES" dirty="0"/>
              <a:t>D7 = X Y Z </a:t>
            </a:r>
            <a:endParaRPr lang="en-IN" dirty="0"/>
          </a:p>
        </p:txBody>
      </p:sp>
      <p:pic>
        <p:nvPicPr>
          <p:cNvPr id="4" name="Picture 3"/>
          <p:cNvPicPr>
            <a:picLocks noChangeAspect="1"/>
          </p:cNvPicPr>
          <p:nvPr/>
        </p:nvPicPr>
        <p:blipFill>
          <a:blip r:embed="rId2"/>
          <a:stretch>
            <a:fillRect/>
          </a:stretch>
        </p:blipFill>
        <p:spPr>
          <a:xfrm>
            <a:off x="2890837" y="1909762"/>
            <a:ext cx="6410325" cy="3038475"/>
          </a:xfrm>
          <a:prstGeom prst="rect">
            <a:avLst/>
          </a:prstGeom>
        </p:spPr>
      </p:pic>
    </p:spTree>
    <p:extLst>
      <p:ext uri="{BB962C8B-B14F-4D97-AF65-F5344CB8AC3E}">
        <p14:creationId xmlns:p14="http://schemas.microsoft.com/office/powerpoint/2010/main" val="25667894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31359" y="1729628"/>
            <a:ext cx="4648200" cy="4743450"/>
          </a:xfrm>
          <a:prstGeom prst="rect">
            <a:avLst/>
          </a:prstGeom>
        </p:spPr>
      </p:pic>
    </p:spTree>
    <p:extLst>
      <p:ext uri="{BB962C8B-B14F-4D97-AF65-F5344CB8AC3E}">
        <p14:creationId xmlns:p14="http://schemas.microsoft.com/office/powerpoint/2010/main" val="20674875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77471" y="498101"/>
            <a:ext cx="6884894" cy="5378823"/>
          </a:xfrm>
          <a:prstGeom prst="rect">
            <a:avLst/>
          </a:prstGeom>
        </p:spPr>
      </p:pic>
    </p:spTree>
    <p:extLst>
      <p:ext uri="{BB962C8B-B14F-4D97-AF65-F5344CB8AC3E}">
        <p14:creationId xmlns:p14="http://schemas.microsoft.com/office/powerpoint/2010/main" val="263297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9600" y="738187"/>
            <a:ext cx="10972800" cy="5381625"/>
          </a:xfrm>
          <a:prstGeom prst="rect">
            <a:avLst/>
          </a:prstGeom>
        </p:spPr>
      </p:pic>
    </p:spTree>
    <p:extLst>
      <p:ext uri="{BB962C8B-B14F-4D97-AF65-F5344CB8AC3E}">
        <p14:creationId xmlns:p14="http://schemas.microsoft.com/office/powerpoint/2010/main" val="33235535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938276" y="278688"/>
            <a:ext cx="5720323" cy="2855713"/>
          </a:xfrm>
          <a:prstGeom prst="rect">
            <a:avLst/>
          </a:prstGeom>
        </p:spPr>
      </p:pic>
      <p:pic>
        <p:nvPicPr>
          <p:cNvPr id="4" name="Picture 3"/>
          <p:cNvPicPr>
            <a:picLocks noChangeAspect="1"/>
          </p:cNvPicPr>
          <p:nvPr/>
        </p:nvPicPr>
        <p:blipFill>
          <a:blip r:embed="rId3"/>
          <a:stretch>
            <a:fillRect/>
          </a:stretch>
        </p:blipFill>
        <p:spPr>
          <a:xfrm>
            <a:off x="398650" y="3158912"/>
            <a:ext cx="7575458" cy="3455050"/>
          </a:xfrm>
          <a:prstGeom prst="rect">
            <a:avLst/>
          </a:prstGeom>
        </p:spPr>
      </p:pic>
    </p:spTree>
    <p:extLst>
      <p:ext uri="{BB962C8B-B14F-4D97-AF65-F5344CB8AC3E}">
        <p14:creationId xmlns:p14="http://schemas.microsoft.com/office/powerpoint/2010/main" val="18821313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0635" y="378802"/>
            <a:ext cx="8072717" cy="2031325"/>
          </a:xfrm>
          <a:prstGeom prst="rect">
            <a:avLst/>
          </a:prstGeom>
        </p:spPr>
        <p:txBody>
          <a:bodyPr wrap="square">
            <a:spAutoFit/>
          </a:bodyPr>
          <a:lstStyle/>
          <a:p>
            <a:r>
              <a:rPr lang="en-US" b="1" dirty="0">
                <a:solidFill>
                  <a:srgbClr val="DA0F0F"/>
                </a:solidFill>
                <a:latin typeface="var(--global-heading-font-family)"/>
              </a:rPr>
              <a:t>Binary to BCD code converter</a:t>
            </a:r>
          </a:p>
          <a:p>
            <a:r>
              <a:rPr lang="en-US" dirty="0"/>
              <a:t>In BCD code, 0 to 9 numbers represent the equivalent binary numbers. For the numbers above 10, LSB of a decimal number is represented by its equivalent binary number and MSB of a decimal number is also represented by their equivalent </a:t>
            </a:r>
            <a:r>
              <a:rPr lang="en-US" dirty="0">
                <a:hlinkClick r:id="rId2"/>
              </a:rPr>
              <a:t>binary numbers</a:t>
            </a:r>
            <a:r>
              <a:rPr lang="en-US" dirty="0"/>
              <a:t>.</a:t>
            </a:r>
          </a:p>
          <a:p>
            <a:br>
              <a:rPr lang="en-US" dirty="0">
                <a:solidFill>
                  <a:srgbClr val="000000"/>
                </a:solidFill>
                <a:latin typeface="Georgia" panose="02040502050405020303" pitchFamily="18" charset="0"/>
              </a:rPr>
            </a:br>
            <a:endParaRPr lang="en-IN" dirty="0"/>
          </a:p>
        </p:txBody>
      </p:sp>
      <p:pic>
        <p:nvPicPr>
          <p:cNvPr id="6" name="Picture 5"/>
          <p:cNvPicPr>
            <a:picLocks noChangeAspect="1"/>
          </p:cNvPicPr>
          <p:nvPr/>
        </p:nvPicPr>
        <p:blipFill>
          <a:blip r:embed="rId3"/>
          <a:stretch>
            <a:fillRect/>
          </a:stretch>
        </p:blipFill>
        <p:spPr>
          <a:xfrm>
            <a:off x="2272553" y="2457449"/>
            <a:ext cx="5880847" cy="2777067"/>
          </a:xfrm>
          <a:prstGeom prst="rect">
            <a:avLst/>
          </a:prstGeom>
        </p:spPr>
      </p:pic>
    </p:spTree>
    <p:extLst>
      <p:ext uri="{BB962C8B-B14F-4D97-AF65-F5344CB8AC3E}">
        <p14:creationId xmlns:p14="http://schemas.microsoft.com/office/powerpoint/2010/main" val="1733844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881687" y="300597"/>
            <a:ext cx="5830701" cy="6595885"/>
          </a:xfrm>
          <a:prstGeom prst="rect">
            <a:avLst/>
          </a:prstGeom>
        </p:spPr>
      </p:pic>
      <p:sp>
        <p:nvSpPr>
          <p:cNvPr id="3" name="Rectangle 2"/>
          <p:cNvSpPr/>
          <p:nvPr/>
        </p:nvSpPr>
        <p:spPr>
          <a:xfrm>
            <a:off x="116542" y="300596"/>
            <a:ext cx="4778187" cy="2031325"/>
          </a:xfrm>
          <a:prstGeom prst="rect">
            <a:avLst/>
          </a:prstGeom>
        </p:spPr>
        <p:txBody>
          <a:bodyPr wrap="square">
            <a:spAutoFit/>
          </a:bodyPr>
          <a:lstStyle/>
          <a:p>
            <a:r>
              <a:rPr lang="en-US" dirty="0">
                <a:solidFill>
                  <a:srgbClr val="000000"/>
                </a:solidFill>
                <a:latin typeface="Georgia" panose="02040502050405020303" pitchFamily="18" charset="0"/>
              </a:rPr>
              <a:t>The truth table shows the conversion between the binary code input and the BCD code output. As you see from the table, the 4-bit binary number is converted into 5-bit BCD code. Decimal code is added in the table to understand the equivalence of Binary and BCD code</a:t>
            </a:r>
            <a:endParaRPr lang="en-IN" dirty="0"/>
          </a:p>
        </p:txBody>
      </p:sp>
    </p:spTree>
    <p:extLst>
      <p:ext uri="{BB962C8B-B14F-4D97-AF65-F5344CB8AC3E}">
        <p14:creationId xmlns:p14="http://schemas.microsoft.com/office/powerpoint/2010/main" val="12693549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8211" y="372053"/>
            <a:ext cx="10708341" cy="646331"/>
          </a:xfrm>
          <a:prstGeom prst="rect">
            <a:avLst/>
          </a:prstGeom>
        </p:spPr>
        <p:txBody>
          <a:bodyPr wrap="square">
            <a:spAutoFit/>
          </a:bodyPr>
          <a:lstStyle/>
          <a:p>
            <a:r>
              <a:rPr lang="en-IN" b="1" dirty="0">
                <a:solidFill>
                  <a:srgbClr val="000000"/>
                </a:solidFill>
                <a:latin typeface="Georgia" panose="02040502050405020303" pitchFamily="18" charset="0"/>
              </a:rPr>
              <a:t>D</a:t>
            </a:r>
            <a:r>
              <a:rPr lang="en-IN" b="1" baseline="-25000" dirty="0">
                <a:solidFill>
                  <a:srgbClr val="000000"/>
                </a:solidFill>
                <a:latin typeface="Georgia" panose="02040502050405020303" pitchFamily="18" charset="0"/>
              </a:rPr>
              <a:t>4</a:t>
            </a:r>
            <a:r>
              <a:rPr lang="en-IN" b="1" dirty="0">
                <a:solidFill>
                  <a:srgbClr val="000000"/>
                </a:solidFill>
                <a:latin typeface="Georgia" panose="02040502050405020303" pitchFamily="18" charset="0"/>
              </a:rPr>
              <a:t> = ∑m(10, 11, 12, 13, 14, 15), D</a:t>
            </a:r>
            <a:r>
              <a:rPr lang="en-IN" b="1" baseline="-25000" dirty="0">
                <a:solidFill>
                  <a:srgbClr val="000000"/>
                </a:solidFill>
                <a:latin typeface="Georgia" panose="02040502050405020303" pitchFamily="18" charset="0"/>
              </a:rPr>
              <a:t>3</a:t>
            </a:r>
            <a:r>
              <a:rPr lang="en-IN" b="1" dirty="0">
                <a:solidFill>
                  <a:srgbClr val="000000"/>
                </a:solidFill>
                <a:latin typeface="Georgia" panose="02040502050405020303" pitchFamily="18" charset="0"/>
              </a:rPr>
              <a:t> = ∑m(8, 9), D</a:t>
            </a:r>
            <a:r>
              <a:rPr lang="en-IN" b="1" baseline="-25000" dirty="0">
                <a:solidFill>
                  <a:srgbClr val="000000"/>
                </a:solidFill>
                <a:latin typeface="Georgia" panose="02040502050405020303" pitchFamily="18" charset="0"/>
              </a:rPr>
              <a:t>2</a:t>
            </a:r>
            <a:r>
              <a:rPr lang="en-IN" b="1" dirty="0">
                <a:solidFill>
                  <a:srgbClr val="000000"/>
                </a:solidFill>
                <a:latin typeface="Georgia" panose="02040502050405020303" pitchFamily="18" charset="0"/>
              </a:rPr>
              <a:t> = ∑m(4, 5, 6, 7, 14, 15), D</a:t>
            </a:r>
            <a:r>
              <a:rPr lang="en-IN" b="1" baseline="-25000" dirty="0">
                <a:solidFill>
                  <a:srgbClr val="000000"/>
                </a:solidFill>
                <a:latin typeface="Georgia" panose="02040502050405020303" pitchFamily="18" charset="0"/>
              </a:rPr>
              <a:t>1</a:t>
            </a:r>
            <a:r>
              <a:rPr lang="en-IN" b="1" dirty="0">
                <a:solidFill>
                  <a:srgbClr val="000000"/>
                </a:solidFill>
                <a:latin typeface="Georgia" panose="02040502050405020303" pitchFamily="18" charset="0"/>
              </a:rPr>
              <a:t> = ∑m(2, 3, 6, 7, 12, 13), D</a:t>
            </a:r>
            <a:r>
              <a:rPr lang="en-IN" b="1" baseline="-25000" dirty="0">
                <a:solidFill>
                  <a:srgbClr val="000000"/>
                </a:solidFill>
                <a:latin typeface="Georgia" panose="02040502050405020303" pitchFamily="18" charset="0"/>
              </a:rPr>
              <a:t>0</a:t>
            </a:r>
            <a:r>
              <a:rPr lang="en-IN" b="1" dirty="0">
                <a:solidFill>
                  <a:srgbClr val="000000"/>
                </a:solidFill>
                <a:latin typeface="Georgia" panose="02040502050405020303" pitchFamily="18" charset="0"/>
              </a:rPr>
              <a:t> = ∑m(1, 3, 5, 7, 9, 11, 13, 15)</a:t>
            </a:r>
            <a:endParaRPr lang="en-IN" b="1" dirty="0"/>
          </a:p>
        </p:txBody>
      </p:sp>
      <p:pic>
        <p:nvPicPr>
          <p:cNvPr id="3" name="Picture 2"/>
          <p:cNvPicPr>
            <a:picLocks noChangeAspect="1"/>
          </p:cNvPicPr>
          <p:nvPr/>
        </p:nvPicPr>
        <p:blipFill>
          <a:blip r:embed="rId2"/>
          <a:stretch>
            <a:fillRect/>
          </a:stretch>
        </p:blipFill>
        <p:spPr>
          <a:xfrm>
            <a:off x="569819" y="1018384"/>
            <a:ext cx="9582710" cy="3254769"/>
          </a:xfrm>
          <a:prstGeom prst="rect">
            <a:avLst/>
          </a:prstGeom>
        </p:spPr>
      </p:pic>
      <p:pic>
        <p:nvPicPr>
          <p:cNvPr id="4" name="Picture 3"/>
          <p:cNvPicPr>
            <a:picLocks noChangeAspect="1"/>
          </p:cNvPicPr>
          <p:nvPr/>
        </p:nvPicPr>
        <p:blipFill>
          <a:blip r:embed="rId3"/>
          <a:stretch>
            <a:fillRect/>
          </a:stretch>
        </p:blipFill>
        <p:spPr>
          <a:xfrm>
            <a:off x="1912843" y="4155141"/>
            <a:ext cx="6611006" cy="3014619"/>
          </a:xfrm>
          <a:prstGeom prst="rect">
            <a:avLst/>
          </a:prstGeom>
        </p:spPr>
      </p:pic>
    </p:spTree>
    <p:extLst>
      <p:ext uri="{BB962C8B-B14F-4D97-AF65-F5344CB8AC3E}">
        <p14:creationId xmlns:p14="http://schemas.microsoft.com/office/powerpoint/2010/main" val="40431566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48119" y="241093"/>
            <a:ext cx="5002305" cy="5772896"/>
          </a:xfrm>
          <a:prstGeom prst="rect">
            <a:avLst/>
          </a:prstGeom>
        </p:spPr>
      </p:pic>
    </p:spTree>
    <p:extLst>
      <p:ext uri="{BB962C8B-B14F-4D97-AF65-F5344CB8AC3E}">
        <p14:creationId xmlns:p14="http://schemas.microsoft.com/office/powerpoint/2010/main" val="34337120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0294" y="198602"/>
            <a:ext cx="10815918" cy="1200329"/>
          </a:xfrm>
          <a:prstGeom prst="rect">
            <a:avLst/>
          </a:prstGeom>
        </p:spPr>
        <p:txBody>
          <a:bodyPr wrap="square">
            <a:spAutoFit/>
          </a:bodyPr>
          <a:lstStyle/>
          <a:p>
            <a:r>
              <a:rPr lang="en-US" b="1" dirty="0">
                <a:solidFill>
                  <a:srgbClr val="273239"/>
                </a:solidFill>
                <a:latin typeface="Nunito"/>
              </a:rPr>
              <a:t>Code Converters </a:t>
            </a:r>
            <a:r>
              <a:rPr lang="en-US" dirty="0">
                <a:solidFill>
                  <a:srgbClr val="273239"/>
                </a:solidFill>
                <a:latin typeface="Nunito"/>
              </a:rPr>
              <a:t>are the </a:t>
            </a:r>
            <a:r>
              <a:rPr lang="en-US" u="sng" dirty="0">
                <a:latin typeface="Nunito"/>
                <a:hlinkClick r:id="rId2"/>
              </a:rPr>
              <a:t>digital circuits</a:t>
            </a:r>
            <a:r>
              <a:rPr lang="en-US" dirty="0">
                <a:solidFill>
                  <a:srgbClr val="273239"/>
                </a:solidFill>
                <a:latin typeface="Nunito"/>
              </a:rPr>
              <a:t> or algorithms that are designed to translate data representation from one format to the other format. In this article, we will go through binary to gray code converters.</a:t>
            </a:r>
          </a:p>
          <a:p>
            <a:r>
              <a:rPr lang="en-US" b="1" dirty="0">
                <a:solidFill>
                  <a:srgbClr val="273239"/>
                </a:solidFill>
                <a:latin typeface="Nunito"/>
              </a:rPr>
              <a:t>binary-to-Gray code converter </a:t>
            </a:r>
            <a:r>
              <a:rPr lang="en-US" dirty="0">
                <a:solidFill>
                  <a:srgbClr val="273239"/>
                </a:solidFill>
                <a:latin typeface="Nunito"/>
              </a:rPr>
              <a:t>takes binary input and translates it to its corresponding gray code representation</a:t>
            </a:r>
            <a:endParaRPr lang="en-IN" dirty="0"/>
          </a:p>
        </p:txBody>
      </p:sp>
      <p:sp>
        <p:nvSpPr>
          <p:cNvPr id="3" name="Rectangle 2"/>
          <p:cNvSpPr/>
          <p:nvPr/>
        </p:nvSpPr>
        <p:spPr>
          <a:xfrm>
            <a:off x="560294" y="1632100"/>
            <a:ext cx="10815918" cy="1754326"/>
          </a:xfrm>
          <a:prstGeom prst="rect">
            <a:avLst/>
          </a:prstGeom>
        </p:spPr>
        <p:txBody>
          <a:bodyPr wrap="square">
            <a:spAutoFit/>
          </a:bodyPr>
          <a:lstStyle/>
          <a:p>
            <a:pPr fontAlgn="base"/>
            <a:r>
              <a:rPr lang="en-US" b="1" dirty="0">
                <a:solidFill>
                  <a:srgbClr val="273239"/>
                </a:solidFill>
                <a:latin typeface="Nunito"/>
              </a:rPr>
              <a:t>What is a Gray Code?</a:t>
            </a:r>
          </a:p>
          <a:p>
            <a:pPr fontAlgn="base"/>
            <a:r>
              <a:rPr lang="en-US" u="sng" dirty="0">
                <a:solidFill>
                  <a:srgbClr val="273239"/>
                </a:solidFill>
                <a:latin typeface="Nunito"/>
                <a:hlinkClick r:id="rId3"/>
              </a:rPr>
              <a:t>Gray Code</a:t>
            </a:r>
            <a:r>
              <a:rPr lang="en-US" dirty="0">
                <a:solidFill>
                  <a:srgbClr val="273239"/>
                </a:solidFill>
                <a:latin typeface="Nunito"/>
              </a:rPr>
              <a:t> system is a binary number system in which every successive pair of numbers differs by only one bit It is also known as </a:t>
            </a:r>
          </a:p>
          <a:p>
            <a:pPr marL="285750" indent="-285750" fontAlgn="base">
              <a:buFont typeface="Arial" panose="020B0604020202020204" pitchFamily="34" charset="0"/>
              <a:buChar char="•"/>
            </a:pPr>
            <a:r>
              <a:rPr lang="en-US" dirty="0">
                <a:solidFill>
                  <a:srgbClr val="273239"/>
                </a:solidFill>
                <a:latin typeface="Nunito"/>
              </a:rPr>
              <a:t>Unity Hamming Distance Code</a:t>
            </a:r>
          </a:p>
          <a:p>
            <a:pPr fontAlgn="base">
              <a:buFont typeface="Arial" panose="020B0604020202020204" pitchFamily="34" charset="0"/>
              <a:buChar char="•"/>
            </a:pPr>
            <a:r>
              <a:rPr lang="en-US" dirty="0">
                <a:solidFill>
                  <a:srgbClr val="273239"/>
                </a:solidFill>
                <a:latin typeface="Nunito"/>
              </a:rPr>
              <a:t>Cyclic Code</a:t>
            </a:r>
          </a:p>
          <a:p>
            <a:pPr fontAlgn="base">
              <a:buFont typeface="Arial" panose="020B0604020202020204" pitchFamily="34" charset="0"/>
              <a:buChar char="•"/>
            </a:pPr>
            <a:r>
              <a:rPr lang="en-US" dirty="0">
                <a:solidFill>
                  <a:srgbClr val="273239"/>
                </a:solidFill>
                <a:latin typeface="Nunito"/>
              </a:rPr>
              <a:t>Reflecting Code</a:t>
            </a:r>
            <a:endParaRPr lang="en-US" b="0" i="0" dirty="0">
              <a:solidFill>
                <a:srgbClr val="273239"/>
              </a:solidFill>
              <a:effectLst/>
              <a:latin typeface="Nunito"/>
            </a:endParaRPr>
          </a:p>
        </p:txBody>
      </p:sp>
    </p:spTree>
    <p:extLst>
      <p:ext uri="{BB962C8B-B14F-4D97-AF65-F5344CB8AC3E}">
        <p14:creationId xmlns:p14="http://schemas.microsoft.com/office/powerpoint/2010/main" val="38561077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75969" y="1006007"/>
            <a:ext cx="8157043" cy="4614556"/>
          </a:xfrm>
          <a:prstGeom prst="rect">
            <a:avLst/>
          </a:prstGeom>
        </p:spPr>
      </p:pic>
    </p:spTree>
    <p:extLst>
      <p:ext uri="{BB962C8B-B14F-4D97-AF65-F5344CB8AC3E}">
        <p14:creationId xmlns:p14="http://schemas.microsoft.com/office/powerpoint/2010/main" val="5281756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72035" y="404335"/>
            <a:ext cx="10533529" cy="1477328"/>
          </a:xfrm>
          <a:prstGeom prst="rect">
            <a:avLst/>
          </a:prstGeom>
        </p:spPr>
        <p:txBody>
          <a:bodyPr wrap="square">
            <a:spAutoFit/>
          </a:bodyPr>
          <a:lstStyle/>
          <a:p>
            <a:pPr fontAlgn="base"/>
            <a:r>
              <a:rPr lang="en-US" b="1" dirty="0">
                <a:solidFill>
                  <a:srgbClr val="273239"/>
                </a:solidFill>
                <a:latin typeface="Nunito"/>
              </a:rPr>
              <a:t>Binary to Gray conversion :</a:t>
            </a:r>
            <a:r>
              <a:rPr lang="en-US" dirty="0">
                <a:solidFill>
                  <a:srgbClr val="273239"/>
                </a:solidFill>
                <a:latin typeface="Nunito"/>
              </a:rPr>
              <a:t> </a:t>
            </a:r>
          </a:p>
          <a:p>
            <a:pPr fontAlgn="base">
              <a:buFont typeface="+mj-lt"/>
              <a:buAutoNum type="arabicPeriod"/>
            </a:pPr>
            <a:r>
              <a:rPr lang="en-US" dirty="0">
                <a:solidFill>
                  <a:srgbClr val="273239"/>
                </a:solidFill>
                <a:latin typeface="Nunito"/>
              </a:rPr>
              <a:t>The Most Significant Bit (MSB) of the gray code is always equal to the MSB of the given binary code.</a:t>
            </a:r>
          </a:p>
          <a:p>
            <a:pPr fontAlgn="base">
              <a:buFont typeface="+mj-lt"/>
              <a:buAutoNum type="arabicPeriod"/>
            </a:pPr>
            <a:r>
              <a:rPr lang="en-US" dirty="0">
                <a:solidFill>
                  <a:srgbClr val="273239"/>
                </a:solidFill>
                <a:latin typeface="Nunito"/>
              </a:rPr>
              <a:t>Other bits of the output gray code can be obtained by </a:t>
            </a:r>
            <a:r>
              <a:rPr lang="en-US" dirty="0" err="1">
                <a:solidFill>
                  <a:srgbClr val="273239"/>
                </a:solidFill>
                <a:latin typeface="Nunito"/>
              </a:rPr>
              <a:t>XORing</a:t>
            </a:r>
            <a:r>
              <a:rPr lang="en-US" dirty="0">
                <a:solidFill>
                  <a:srgbClr val="273239"/>
                </a:solidFill>
                <a:latin typeface="Nunito"/>
              </a:rPr>
              <a:t> binary code bit at that index and previous index.</a:t>
            </a:r>
            <a:endParaRPr lang="en-US" b="0" i="0" dirty="0">
              <a:solidFill>
                <a:srgbClr val="273239"/>
              </a:solidFill>
              <a:effectLst/>
              <a:latin typeface="Nunito"/>
            </a:endParaRPr>
          </a:p>
        </p:txBody>
      </p:sp>
      <p:pic>
        <p:nvPicPr>
          <p:cNvPr id="4100" name="Picture 4"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0174" y="2547190"/>
            <a:ext cx="4752601" cy="3025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95968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7188" y="234915"/>
            <a:ext cx="10842812" cy="1477328"/>
          </a:xfrm>
          <a:prstGeom prst="rect">
            <a:avLst/>
          </a:prstGeom>
        </p:spPr>
        <p:txBody>
          <a:bodyPr wrap="square">
            <a:spAutoFit/>
          </a:bodyPr>
          <a:lstStyle/>
          <a:p>
            <a:pPr fontAlgn="base"/>
            <a:r>
              <a:rPr lang="en-US" b="1" dirty="0">
                <a:solidFill>
                  <a:srgbClr val="273239"/>
                </a:solidFill>
                <a:latin typeface="Nunito"/>
              </a:rPr>
              <a:t>Gray to binary conversion :</a:t>
            </a:r>
            <a:endParaRPr lang="en-US" dirty="0">
              <a:solidFill>
                <a:srgbClr val="273239"/>
              </a:solidFill>
              <a:latin typeface="Nunito"/>
            </a:endParaRPr>
          </a:p>
          <a:p>
            <a:pPr fontAlgn="base">
              <a:buFont typeface="+mj-lt"/>
              <a:buAutoNum type="arabicPeriod"/>
            </a:pPr>
            <a:r>
              <a:rPr lang="en-US" dirty="0">
                <a:solidFill>
                  <a:srgbClr val="273239"/>
                </a:solidFill>
                <a:latin typeface="Nunito"/>
              </a:rPr>
              <a:t>The Most Significant Bit (MSB) of the binary code is always equal to the MSB of the given gray code.</a:t>
            </a:r>
          </a:p>
          <a:p>
            <a:pPr fontAlgn="base">
              <a:buFont typeface="+mj-lt"/>
              <a:buAutoNum type="arabicPeriod"/>
            </a:pPr>
            <a:r>
              <a:rPr lang="en-US" dirty="0">
                <a:solidFill>
                  <a:srgbClr val="273239"/>
                </a:solidFill>
                <a:latin typeface="Nunito"/>
              </a:rPr>
              <a:t>Other bits of the output binary code can be obtained by checking the gray code bit at that index. If the current gray code bit is 0, then copy the previous binary code bit, else copy the invert of the previous binary code bit.</a:t>
            </a:r>
            <a:endParaRPr lang="en-US" b="0" i="0" dirty="0">
              <a:solidFill>
                <a:srgbClr val="273239"/>
              </a:solidFill>
              <a:effectLst/>
              <a:latin typeface="Nunito"/>
            </a:endParaRPr>
          </a:p>
        </p:txBody>
      </p:sp>
      <p:pic>
        <p:nvPicPr>
          <p:cNvPr id="5122"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7068" y="2142751"/>
            <a:ext cx="5330825" cy="366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96356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11941" y="501463"/>
            <a:ext cx="6924955" cy="6968326"/>
          </a:xfrm>
          <a:prstGeom prst="rect">
            <a:avLst/>
          </a:prstGeom>
        </p:spPr>
      </p:pic>
    </p:spTree>
    <p:extLst>
      <p:ext uri="{BB962C8B-B14F-4D97-AF65-F5344CB8AC3E}">
        <p14:creationId xmlns:p14="http://schemas.microsoft.com/office/powerpoint/2010/main" val="25012664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0" y="-1"/>
            <a:ext cx="4962659" cy="9165714"/>
          </a:xfrm>
          <a:prstGeom prst="rect">
            <a:avLst/>
          </a:prstGeom>
        </p:spPr>
        <p:txBody>
          <a:bodyPr wrap="square">
            <a:spAutoFit/>
          </a:bodyPr>
          <a:lstStyle/>
          <a:p>
            <a:pPr>
              <a:lnSpc>
                <a:spcPct val="107000"/>
              </a:lnSpc>
              <a:spcAft>
                <a:spcPts val="800"/>
              </a:spcAft>
            </a:pPr>
            <a:r>
              <a:rPr lang="en-US" b="1" dirty="0">
                <a:latin typeface="Calibri" panose="020F0502020204030204" pitchFamily="34" charset="0"/>
                <a:ea typeface="Calibri" panose="020F0502020204030204" pitchFamily="34" charset="0"/>
                <a:cs typeface="Times New Roman" panose="02020603050405020304" pitchFamily="18" charset="0"/>
              </a:rPr>
              <a:t>1 to 4 DEMUX</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library </a:t>
            </a:r>
            <a:r>
              <a:rPr lang="en-US" dirty="0" err="1">
                <a:latin typeface="Calibri" panose="020F0502020204030204" pitchFamily="34" charset="0"/>
                <a:ea typeface="Calibri" panose="020F0502020204030204" pitchFamily="34" charset="0"/>
                <a:cs typeface="Times New Roman" panose="02020603050405020304" pitchFamily="18" charset="0"/>
              </a:rPr>
              <a:t>ieee</a:t>
            </a:r>
            <a:r>
              <a:rPr lang="en-US" dirty="0">
                <a:latin typeface="Calibri" panose="020F0502020204030204" pitchFamily="34" charset="0"/>
                <a:ea typeface="Calibri" panose="020F0502020204030204" pitchFamily="34" charset="0"/>
                <a:cs typeface="Times New Roman" panose="02020603050405020304" pitchFamily="18" charset="0"/>
              </a:rPr>
              <a:t>;</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use ieee.std_logic_1164.all;</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entity demux_1to4 is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port(F : in bit;</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	S0,S1: in bit;</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A,B,C,D: out bit);</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end demux_1to4;</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architecture </a:t>
            </a:r>
            <a:r>
              <a:rPr lang="en-US" dirty="0" err="1">
                <a:latin typeface="Calibri" panose="020F0502020204030204" pitchFamily="34" charset="0"/>
                <a:ea typeface="Calibri" panose="020F0502020204030204" pitchFamily="34" charset="0"/>
                <a:cs typeface="Times New Roman" panose="02020603050405020304" pitchFamily="18" charset="0"/>
              </a:rPr>
              <a:t>bhv</a:t>
            </a:r>
            <a:r>
              <a:rPr lang="en-US" dirty="0">
                <a:latin typeface="Calibri" panose="020F0502020204030204" pitchFamily="34" charset="0"/>
                <a:ea typeface="Calibri" panose="020F0502020204030204" pitchFamily="34" charset="0"/>
                <a:cs typeface="Times New Roman" panose="02020603050405020304" pitchFamily="18" charset="0"/>
              </a:rPr>
              <a:t> of demux_1to4 is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begin</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indent="457200">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process (F,S0,S1) is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begin</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if (S1 ='0' and S0 = '0') then</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914400" indent="457200">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A &lt;= F;</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spcAft>
                <a:spcPts val="800"/>
              </a:spcAft>
            </a:pPr>
            <a:r>
              <a:rPr lang="en-US" dirty="0" err="1">
                <a:latin typeface="Calibri" panose="020F0502020204030204" pitchFamily="34" charset="0"/>
                <a:ea typeface="Calibri" panose="020F0502020204030204" pitchFamily="34" charset="0"/>
                <a:cs typeface="Times New Roman" panose="02020603050405020304" pitchFamily="18" charset="0"/>
              </a:rPr>
              <a:t>elsif</a:t>
            </a:r>
            <a:r>
              <a:rPr lang="en-US" dirty="0">
                <a:latin typeface="Calibri" panose="020F0502020204030204" pitchFamily="34" charset="0"/>
                <a:ea typeface="Calibri" panose="020F0502020204030204" pitchFamily="34" charset="0"/>
                <a:cs typeface="Times New Roman" panose="02020603050405020304" pitchFamily="18" charset="0"/>
              </a:rPr>
              <a:t> (S1 ='0' and S0 = '1') then</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914400" indent="457200">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B &lt;= F;</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spcAft>
                <a:spcPts val="800"/>
              </a:spcAft>
            </a:pPr>
            <a:r>
              <a:rPr lang="en-US" dirty="0" err="1">
                <a:latin typeface="Calibri" panose="020F0502020204030204" pitchFamily="34" charset="0"/>
                <a:ea typeface="Calibri" panose="020F0502020204030204" pitchFamily="34" charset="0"/>
                <a:cs typeface="Times New Roman" panose="02020603050405020304" pitchFamily="18" charset="0"/>
              </a:rPr>
              <a:t>elsif</a:t>
            </a:r>
            <a:r>
              <a:rPr lang="en-US" dirty="0">
                <a:latin typeface="Calibri" panose="020F0502020204030204" pitchFamily="34" charset="0"/>
                <a:ea typeface="Calibri" panose="020F0502020204030204" pitchFamily="34" charset="0"/>
                <a:cs typeface="Times New Roman" panose="02020603050405020304" pitchFamily="18" charset="0"/>
              </a:rPr>
              <a:t> (S1 ='1' and S1 = '0') then</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914400" indent="457200">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C &lt;= F;</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else</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914400" indent="457200">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D &lt;= F;</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end if;</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indent="457200">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end process;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end </a:t>
            </a:r>
            <a:r>
              <a:rPr lang="en-US" dirty="0" err="1">
                <a:latin typeface="Calibri" panose="020F0502020204030204" pitchFamily="34" charset="0"/>
                <a:ea typeface="Calibri" panose="020F0502020204030204" pitchFamily="34" charset="0"/>
                <a:cs typeface="Times New Roman" panose="02020603050405020304" pitchFamily="18" charset="0"/>
              </a:rPr>
              <a:t>bhv</a:t>
            </a:r>
            <a:r>
              <a:rPr lang="en-US" dirty="0">
                <a:latin typeface="Calibri" panose="020F0502020204030204" pitchFamily="34" charset="0"/>
                <a:ea typeface="Calibri" panose="020F0502020204030204" pitchFamily="34" charset="0"/>
                <a:cs typeface="Times New Roman" panose="02020603050405020304" pitchFamily="18" charset="0"/>
              </a:rPr>
              <a:t>;</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097244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0530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16127</TotalTime>
  <Words>3160</Words>
  <Application>Microsoft Office PowerPoint</Application>
  <PresentationFormat>Widescreen</PresentationFormat>
  <Paragraphs>377</Paragraphs>
  <Slides>71</Slides>
  <Notes>0</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71</vt:i4>
      </vt:variant>
    </vt:vector>
  </HeadingPairs>
  <TitlesOfParts>
    <vt:vector size="84" baseType="lpstr">
      <vt:lpstr>Arial</vt:lpstr>
      <vt:lpstr>Arial Black</vt:lpstr>
      <vt:lpstr>Calibri</vt:lpstr>
      <vt:lpstr>Calibri Light</vt:lpstr>
      <vt:lpstr>Consolas</vt:lpstr>
      <vt:lpstr>Georgia</vt:lpstr>
      <vt:lpstr>Lato</vt:lpstr>
      <vt:lpstr>Nunito</vt:lpstr>
      <vt:lpstr>var(--global-heading-font-family)</vt:lpstr>
      <vt:lpstr>Verdana</vt:lpstr>
      <vt:lpstr>Wingdings</vt:lpstr>
      <vt:lpstr>Office Theme</vt:lpstr>
      <vt:lpstr>Visio</vt:lpstr>
      <vt:lpstr>Boolean  Algebra </vt:lpstr>
      <vt:lpstr>APPLICATION OF BOOLEAN ALGEBRA</vt:lpstr>
      <vt:lpstr>AND operator</vt:lpstr>
      <vt:lpstr>OR operator</vt:lpstr>
      <vt:lpstr>NOT operator</vt:lpstr>
      <vt:lpstr>Truth Table</vt:lpstr>
      <vt:lpstr>Truth Table</vt:lpstr>
      <vt:lpstr>Tautology &amp; Fallacy</vt:lpstr>
      <vt:lpstr>Exercise</vt:lpstr>
      <vt:lpstr>Implementation</vt:lpstr>
      <vt:lpstr>Logic Gate</vt:lpstr>
      <vt:lpstr>AND gate</vt:lpstr>
      <vt:lpstr>OR gate</vt:lpstr>
      <vt:lpstr>NOT gate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Theorem of Boolean Algebra</vt:lpstr>
      <vt:lpstr>Basic Theorem of Boolean Algebra</vt:lpstr>
      <vt:lpstr>Basic Theorem of Boolean Algebra</vt:lpstr>
      <vt:lpstr>Basic Theorem of Boolean Algebra</vt:lpstr>
      <vt:lpstr>De Morgan's Theorem 1</vt:lpstr>
      <vt:lpstr>De Morgan's Theorem 1</vt:lpstr>
      <vt:lpstr>De Morgan's Theorem 1 </vt:lpstr>
      <vt:lpstr>De Morgan's Theorem  2</vt:lpstr>
      <vt:lpstr>De Morgan's Theorem  2</vt:lpstr>
      <vt:lpstr>De Morgan's Theorem  2</vt:lpstr>
      <vt:lpstr>PowerPoint Presentation</vt:lpstr>
      <vt:lpstr>PowerPoint Presentation</vt:lpstr>
      <vt:lpstr>PowerPoint Presentation</vt:lpstr>
      <vt:lpstr>K-Map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Difference between MUX and DeMUX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Boolean  Algebra </dc:title>
  <dc:creator>Manjula Rajkumar</dc:creator>
  <cp:lastModifiedBy>skbanavalikar2105@gmail.com</cp:lastModifiedBy>
  <cp:revision>18</cp:revision>
  <dcterms:created xsi:type="dcterms:W3CDTF">2023-11-22T14:02:12Z</dcterms:created>
  <dcterms:modified xsi:type="dcterms:W3CDTF">2024-11-25T13:52:50Z</dcterms:modified>
</cp:coreProperties>
</file>